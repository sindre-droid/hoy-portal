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78027"/>
  </p:normalViewPr>
  <p:slideViewPr>
    <p:cSldViewPr snapToGrid="0" snapToObjects="1">
      <p:cViewPr varScale="1">
        <p:scale>
          <a:sx n="98" d="100"/>
          <a:sy n="98" d="100"/>
        </p:scale>
        <p:origin x="16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258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1 min
"Velkommen til uke 25. Vi er midt i juni — halvveis i Q2."
Nøkkeltall:
• 1,98 MNOK omsetning ex.mva YTD (Goldfish 43 Ocean ble korrigert ut)
• 34 salg YTD, 40,3 MNOK salgssum
• 5 nye salg siste 2 uker (Sindre 3, Daniel 2, Henrik 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— 30 sek
Les seksjonene høyt. Sett forventning: kort status, fokus på siste 2 uker + tiltak.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WINS SISTE 2 UKER — 4 min
"5 nye salg siden 1. juni. Nimbus W9 T-Top er 50/50 Sindre+Daniel — så Sindre 3,5 / Daniel 1,5 / Henrik 0."
5 nye oppdrag inn (26049-26053).
Spør:
• Sindre: Cormate SU27 13.06 — har vi flere Cormate-deals i pipen?
• Daniel: Bavaria 330 HT — hvordan kom den i havn?
• Henrik: 0 salg på 2 uker — hva ligger nærmest å close?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KORREKSJON GOLDFISH 43 OCEAN — 3 min
"Goldfish 43 Ocean på 7 MNOK ble korrigert ut av oppgjørs-tabellen. Mai-tallet falt fra 922k til 587k — 336k forsvant."
Konsekvens for Sindre:
• Mai omsetning: 510 → 175k
• YTD omsetning: 1 005k → 871k
• Budsjett-progresjon: 56 % → 48 %
Diskusjon:
• Hva skjedde med den dealen?
• Læring for fremtiden — når regner vi en deal som "lukket"?
• Påvirker dette hva vi prognoser for resten av året?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ETTER HALVE JUNI — 3 min
"Q1 832k. Q2 så langt (apr+mai+halv juni): 1,15 MNOK med halve juni igjen."
"Juni-takt ligger på 327k på 14 dager = ca 700k full måned. Det er over mars (515k) men under mai (587k)."
Spør:
• Hvilke deals lukkes innen 30. juni?
• Står noe stille for lenge?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MEGLER YTD — 3 min
Etter splittene (Nimbus W9 T-Top 50/50 Sindre+Daniel):
• Sindre 900k (45 %), 13,5 salg
• Henrik 644k (32 %), 12 salg
• Daniel 438k (22 %), 8,5 salg
Toppdeals etter Goldfish-korreksjon:
• Sindre: Goldfish 30 Sport (2,2 MNOK, 5. mars)
• Henrik: Swan 53/55 (2,85 MNOK)
• Daniel: Nord West 370 Fly (1,82 MNOK)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OUTBOUND (FSBO OUTREACH) — 4 min
Juni 1-14:
• Henrik + Marte teamet: 57 calls (Marte 56, Henrik 1)
• Daniel: 30 (på vei mot 60 for full mnd)
• Sindre: 0
Spør:
• Daniel: outbound har gitt deg 5 salg siden mars — replikerbar oppskrift?
• Henrik+Marte: hvilke leads har de 57 callsene generert?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 B AKTIVE ANNONSER — 2 min
"Henrik 27 aktive, Sindre 23, Daniel 16. Pipen vokser jevnt for alle 3."
Vs uke 23:
• Sindre 22 → 23 (+1)
• Henrik 26 → 27 (+1)
• Daniel 15 → 16 (+1)
Spør:
• Hvor mange av Henriks 19 Live skal vi forvente i juni-juli?
• Daniels 4 i budprosess — hvilke kan lukkes denne uka?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MOT BUDSJETT — 5 min
"Pace" = takten du må holde for å treffe målet jevnt. 5,5 av 12 mnd = 45 %.
"Selskapet 1,98 MNOK av 9,15 MNOK = 22 %. Vi er ca 23 pp under pace."
"Sindre 50 % oppfylt — over pace (etter Nimbus W9-splitt og Goldfish-korreksjon). Henrik 17 %, Daniel 13 %."
Diskusjon:
• Er målene realistiske?
• Bør vi reforhandle Henrik/Daniels mål nå?
• Hvilke deals tar Henrik fra 17 % til 30 % i juli?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OPPDRAG INN VS BUDSJETT — 3 min
Kilde: oppdragsmodulen — alle 2026-oppdragsnummer (26001 til 26053).
"51 oppdrag inn av 197 mål = 26 %. Pace 45 %."
"Sindre 18 av 35 = 51 %. Henrik 21 av 88 = 24 %. Daniel 12 av 74 = 16 %."
Sindre er klart over pace på oppdrag inn. Hovedutfordringen er konvertering inn → solgt for Henrik og Daniel.
Diskusjon:
• Henrik har 21 inn, men 12 solgt — 9 ligger fortsatt. Hva ligger nærmest å lukke?
• Daniel 12 inn, 9 solgt — bedre konvertering, men trenger mer inn.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MÅL DENNE UKA — 5 min
Fyll inn ukemål per megler live i møtet.
• Sindre, Henrik+Marte, Daniel
• Kolonner: outbound, befaringer, nye oppdrag, salg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DIVERSE — 5 min
Saker fra teamet — boksene fylles inn live.
AVSLUTNING:
"Hovedbudskap: Goldfish-korreksjonen kostet 336k på papiret, men 5 nye salg på 2 uker. 51 oppdrag inn YTD. Fokus juli: konvertere Henriks aktive pipe."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Shape 1"/>
          <p:cNvSpPr/>
          <p:nvPr/>
        </p:nvSpPr>
        <p:spPr>
          <a:xfrm>
            <a:off x="640080" y="2697480"/>
            <a:ext cx="548640" cy="0"/>
          </a:xfrm>
          <a:prstGeom prst="line">
            <a:avLst/>
          </a:prstGeom>
          <a:noFill/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Text 2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Mandagsmøte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Uke 25  ·  midt i juni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juni 2026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589520" y="4572000"/>
            <a:ext cx="4206240" cy="146304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7680960" y="470916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1,98 MNOK
</a:t>
            </a:r>
            <a:r>
              <a:rPr lang="en-US" sz="1100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  ·  året så langt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salg  ·  40,3 MNOK salgssum  ·  51 nye oppdrag inn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Hva vi går gjennom i dag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55448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siste 2 uker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21945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salg, 5 nye oppdrag inn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254203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554480" y="25877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Korreksjon: Goldfish 43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54480" y="29077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Hvorfor mai-tallet falt fra 922k til 587k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25526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1554480" y="33009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etter halve juni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54480" y="36210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per megler, juni så langt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9684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1554480" y="40142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Aktivitet og pipeline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554480" y="433425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Outbound, befaringer, aktive annonser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46817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1554480" y="4727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budsjett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54480" y="50474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etter 5,5 mnd — pace 45 %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394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1554480" y="5440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 denne uka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54480" y="57607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megler — fylles inn live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Wins siste 2 uker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uke 23-24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429768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3A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7,78 M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42976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salgssum (NOK)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955280" y="1737360"/>
            <a:ext cx="33832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795528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5B8A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327 k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7955280" y="2697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OG NYE OPPDRAG SIDEN 1. JUNI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4160520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640080" y="38404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02.06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737360" y="3840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23 Tender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0" y="3840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961120" y="38404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760 000 kr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4507992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2" name="Text 19"/>
          <p:cNvSpPr/>
          <p:nvPr/>
        </p:nvSpPr>
        <p:spPr>
          <a:xfrm>
            <a:off x="640080" y="41879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03.06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737360" y="4187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W9 T-Top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8000" y="418795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 + Daniel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961120" y="41879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1 200 000 kr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40080" y="4855464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7" name="Text 24"/>
          <p:cNvSpPr/>
          <p:nvPr/>
        </p:nvSpPr>
        <p:spPr>
          <a:xfrm>
            <a:off x="640080" y="453542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08.06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737360" y="4535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38 Supersport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58000" y="453542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961120" y="45354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2 190 000 kr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0080" y="5202936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640080" y="48828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737360" y="4882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Bavaria Sport 330 HT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58000" y="48828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961120" y="488289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1 680 000 kr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0080" y="5550408"/>
            <a:ext cx="109728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7" name="Text 34"/>
          <p:cNvSpPr/>
          <p:nvPr/>
        </p:nvSpPr>
        <p:spPr>
          <a:xfrm>
            <a:off x="640080" y="52303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737360" y="5230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Cormate SU27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6858000" y="5230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961120" y="5230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1 950 000 kr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oppdrag: 26049 Cormate T28 (Sindre), 26050 Goldfish 38 (Sindre), 26051 NordStar 34 (Henrik), 26052 Fjord Terne 21 (Henrik), 26053 Marex 350 CC (Daniel)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3" name="Text 40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02 · KORREKSJON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Goldfish 43 Ocean — ut av tallene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Dealen på 7 MNOK ble korrigert ut av oppgjørs-tabellen siden uke 23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2743200" cy="320040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OMSETNING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922 k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1737360" y="3886200"/>
            <a:ext cx="5486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64008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4206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587 k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4008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-335 k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520440" y="2468880"/>
            <a:ext cx="2743200" cy="320040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352044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 YTD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52044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52044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1 005 k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4617720" y="3886200"/>
            <a:ext cx="5486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0" name="Text 17"/>
          <p:cNvSpPr/>
          <p:nvPr/>
        </p:nvSpPr>
        <p:spPr>
          <a:xfrm>
            <a:off x="352044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520440" y="4206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871 k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352044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-134 k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400800" y="2468880"/>
            <a:ext cx="2743200" cy="320040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4" name="Text 21"/>
          <p:cNvSpPr/>
          <p:nvPr/>
        </p:nvSpPr>
        <p:spPr>
          <a:xfrm>
            <a:off x="640080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 % AV MÅL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56 %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7498080" y="3886200"/>
            <a:ext cx="5486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8" name="Text 25"/>
          <p:cNvSpPr/>
          <p:nvPr/>
        </p:nvSpPr>
        <p:spPr>
          <a:xfrm>
            <a:off x="640080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4206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48 %</a:t>
            </a:r>
            <a:endParaRPr lang="en-US" sz="2800" dirty="0"/>
          </a:p>
        </p:txBody>
      </p:sp>
      <p:sp>
        <p:nvSpPr>
          <p:cNvPr id="30" name="Text 27"/>
          <p:cNvSpPr/>
          <p:nvPr/>
        </p:nvSpPr>
        <p:spPr>
          <a:xfrm>
            <a:off x="640080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 pp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281160" y="2468880"/>
            <a:ext cx="2743200" cy="3200400"/>
          </a:xfrm>
          <a:prstGeom prst="rect">
            <a:avLst/>
          </a:prstGeom>
          <a:solidFill>
            <a:srgbClr val="1B3A66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9281160" y="2606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TOTAL YTD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92811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FØR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281160" y="3246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1 991 k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10378440" y="3886200"/>
            <a:ext cx="548640" cy="0"/>
          </a:xfrm>
          <a:prstGeom prst="line">
            <a:avLst/>
          </a:prstGeom>
          <a:noFill/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6" name="Text 33"/>
          <p:cNvSpPr/>
          <p:nvPr/>
        </p:nvSpPr>
        <p:spPr>
          <a:xfrm>
            <a:off x="928116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NÅ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9281160" y="4206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1 982 k</a:t>
            </a:r>
            <a:endParaRPr lang="en-US" sz="2800" dirty="0"/>
          </a:p>
        </p:txBody>
      </p:sp>
      <p:sp>
        <p:nvSpPr>
          <p:cNvPr id="38" name="Text 35"/>
          <p:cNvSpPr/>
          <p:nvPr/>
        </p:nvSpPr>
        <p:spPr>
          <a:xfrm>
            <a:off x="9281160" y="4983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 k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0" name="Text 37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03 · STATUS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Omsetning per måned 2026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Etter Goldfish-korreksjon, og med halve juni inne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4364490"/>
            <a:ext cx="1371600" cy="84759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457200" y="404445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53640" y="4477369"/>
            <a:ext cx="1371600" cy="734711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1" name="Text 8"/>
          <p:cNvSpPr/>
          <p:nvPr/>
        </p:nvSpPr>
        <p:spPr>
          <a:xfrm>
            <a:off x="2270760" y="4157329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45364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267200" y="2645976"/>
            <a:ext cx="1371600" cy="2566104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4084320" y="23259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26720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4033431"/>
            <a:ext cx="1371600" cy="1178649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5897880" y="3713391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236k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08076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94320" y="2286000"/>
            <a:ext cx="1371600" cy="29260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0" name="Text 17"/>
          <p:cNvSpPr/>
          <p:nvPr/>
        </p:nvSpPr>
        <p:spPr>
          <a:xfrm>
            <a:off x="7711440" y="19659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587k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89432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707880" y="3582314"/>
            <a:ext cx="1371600" cy="1629766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3" name="Text 20"/>
          <p:cNvSpPr/>
          <p:nvPr/>
        </p:nvSpPr>
        <p:spPr>
          <a:xfrm>
            <a:off x="9525000" y="326227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707880" y="5257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25000" y="55321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 mnd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40080" y="5852160"/>
            <a:ext cx="10972800" cy="6400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7" name="Text 24"/>
          <p:cNvSpPr/>
          <p:nvPr/>
        </p:nvSpPr>
        <p:spPr>
          <a:xfrm>
            <a:off x="822960" y="587959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er fortsatt sterkeste måned (587k).  Juni-takt på 14 dager indikerer ~700k for hele måneden — kan slå mai om vi holder tempoet.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9" name="Text 26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03 · STATUS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 megler — året så langt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Shape 4"/>
          <p:cNvSpPr/>
          <p:nvPr/>
        </p:nvSpPr>
        <p:spPr>
          <a:xfrm>
            <a:off x="640080" y="17373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 k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45.4 % av total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97280" y="393192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ANTALL SALG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13,5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4008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TOPPDEAL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Goldfish 30 Sport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80560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Shape 15"/>
          <p:cNvSpPr/>
          <p:nvPr/>
        </p:nvSpPr>
        <p:spPr>
          <a:xfrm>
            <a:off x="4480560" y="17373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9" name="Text 16"/>
          <p:cNvSpPr/>
          <p:nvPr/>
        </p:nvSpPr>
        <p:spPr>
          <a:xfrm>
            <a:off x="448056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4805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48056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644 k</a:t>
            </a:r>
            <a:endParaRPr lang="en-US" sz="4400" dirty="0"/>
          </a:p>
        </p:txBody>
      </p:sp>
      <p:sp>
        <p:nvSpPr>
          <p:cNvPr id="22" name="Text 19"/>
          <p:cNvSpPr/>
          <p:nvPr/>
        </p:nvSpPr>
        <p:spPr>
          <a:xfrm>
            <a:off x="448056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32.5 % av total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937760" y="393192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4" name="Text 21"/>
          <p:cNvSpPr/>
          <p:nvPr/>
        </p:nvSpPr>
        <p:spPr>
          <a:xfrm>
            <a:off x="448056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ANTALL SALG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48056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448056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TOPPDEAL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48056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Swan 53/55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8321040" y="17373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9" name="Shape 26"/>
          <p:cNvSpPr/>
          <p:nvPr/>
        </p:nvSpPr>
        <p:spPr>
          <a:xfrm>
            <a:off x="8321040" y="17373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Text 27"/>
          <p:cNvSpPr/>
          <p:nvPr/>
        </p:nvSpPr>
        <p:spPr>
          <a:xfrm>
            <a:off x="8321040" y="1783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32104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OMSETNING EX.MVA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32104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438 k</a:t>
            </a:r>
            <a:endParaRPr lang="en-US" sz="4400" dirty="0"/>
          </a:p>
        </p:txBody>
      </p:sp>
      <p:sp>
        <p:nvSpPr>
          <p:cNvPr id="33" name="Text 30"/>
          <p:cNvSpPr/>
          <p:nvPr/>
        </p:nvSpPr>
        <p:spPr>
          <a:xfrm>
            <a:off x="8321040" y="3520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22.1 % av total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778240" y="393192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5" name="Text 32"/>
          <p:cNvSpPr/>
          <p:nvPr/>
        </p:nvSpPr>
        <p:spPr>
          <a:xfrm>
            <a:off x="832104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ANTALL SALG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32104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8,5</a:t>
            </a:r>
            <a:endParaRPr lang="en-US" sz="2800" dirty="0"/>
          </a:p>
        </p:txBody>
      </p:sp>
      <p:sp>
        <p:nvSpPr>
          <p:cNvPr id="37" name="Text 34"/>
          <p:cNvSpPr/>
          <p:nvPr/>
        </p:nvSpPr>
        <p:spPr>
          <a:xfrm>
            <a:off x="8321040" y="4846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TOPPDEAL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321040" y="5074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West 370 Fly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40080" y="6126480"/>
            <a:ext cx="10972800" cy="4114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0" name="Text 37"/>
          <p:cNvSpPr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Nimbus W9 T-Top er delt 50/50 mellom Sindre og Daniel (samarbeids-deal).  Henrik flat på 32 %.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2" name="Text 39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04 · AKTIVITET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Outbound (FSBO Outreach)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Kalde samtaler logget i HubSpot. Henrik + Marte vises som team — i juni 1-14 var Marte 56, Henrik 1.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23160" y="2194560"/>
            <a:ext cx="17830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242316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2194560"/>
            <a:ext cx="17830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420624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2194560"/>
            <a:ext cx="17830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598932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2194560"/>
            <a:ext cx="17830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777240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(1-14)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555480" y="2194560"/>
            <a:ext cx="1783080" cy="41148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9555480" y="219456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2606040"/>
            <a:ext cx="10698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822960" y="26060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42316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20624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98932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555480" y="260604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40080" y="3017520"/>
            <a:ext cx="10698480" cy="411480"/>
          </a:xfrm>
          <a:prstGeom prst="rect">
            <a:avLst/>
          </a:prstGeom>
          <a:solidFill>
            <a:srgbClr val="F0EBDD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822960" y="30175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242316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20624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8932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7240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555480" y="30175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291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40080" y="3429000"/>
            <a:ext cx="10698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822960" y="34290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242316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20624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98932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77240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9555480" y="34290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486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40080" y="4572000"/>
            <a:ext cx="539496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9" name="Text 36"/>
          <p:cNvSpPr/>
          <p:nvPr/>
        </p:nvSpPr>
        <p:spPr>
          <a:xfrm>
            <a:off x="82296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2296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 calls i juni — Marte 56, Henrik 1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 tok over outbound for teamet i mai. Holder takt inn i juni.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217920" y="4572000"/>
            <a:ext cx="53035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5B8A6F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3" name="Text 40"/>
          <p:cNvSpPr/>
          <p:nvPr/>
        </p:nvSpPr>
        <p:spPr>
          <a:xfrm>
            <a:off x="6400800" y="4663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5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6400800" y="4983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calls første halve juni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400800" y="5532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for 60+ i juni. 486 YTD. 2 salg siste 2 uker — outbound funker.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7" name="Text 44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04 · AKTIVITET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 — aktive annonser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 som er ute på markedet akkurat nå (HubSpot Listing/Sale-pipeline)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PIPELINE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6000" dirty="0"/>
          </a:p>
        </p:txBody>
      </p:sp>
      <p:sp>
        <p:nvSpPr>
          <p:cNvPr id="12" name="Shape 9"/>
          <p:cNvSpPr/>
          <p:nvPr/>
        </p:nvSpPr>
        <p:spPr>
          <a:xfrm>
            <a:off x="1097280" y="411480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0"/>
          <p:cNvSpPr/>
          <p:nvPr/>
        </p:nvSpPr>
        <p:spPr>
          <a:xfrm>
            <a:off x="64008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</a:t>
            </a: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prosess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008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Lukket i 2026: 13  ·  konv. 36%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480560" y="21945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Shape 13"/>
          <p:cNvSpPr/>
          <p:nvPr/>
        </p:nvSpPr>
        <p:spPr>
          <a:xfrm>
            <a:off x="4480560" y="21945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Text 14"/>
          <p:cNvSpPr/>
          <p:nvPr/>
        </p:nvSpPr>
        <p:spPr>
          <a:xfrm>
            <a:off x="448056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8056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PIPELINE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8056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6000" dirty="0"/>
          </a:p>
        </p:txBody>
      </p:sp>
      <p:sp>
        <p:nvSpPr>
          <p:cNvPr id="20" name="Shape 17"/>
          <p:cNvSpPr/>
          <p:nvPr/>
        </p:nvSpPr>
        <p:spPr>
          <a:xfrm>
            <a:off x="4937760" y="411480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44805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</a:t>
            </a: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prosess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48056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Lukket i 2026: 12  ·  konv. 31%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21040" y="219456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4" name="Shape 21"/>
          <p:cNvSpPr/>
          <p:nvPr/>
        </p:nvSpPr>
        <p:spPr>
          <a:xfrm>
            <a:off x="8321040" y="2194560"/>
            <a:ext cx="3657600" cy="50292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Text 22"/>
          <p:cNvSpPr/>
          <p:nvPr/>
        </p:nvSpPr>
        <p:spPr>
          <a:xfrm>
            <a:off x="8321040" y="2240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32104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PIPELINE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321040" y="310896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6000" dirty="0"/>
          </a:p>
        </p:txBody>
      </p:sp>
      <p:sp>
        <p:nvSpPr>
          <p:cNvPr id="28" name="Shape 25"/>
          <p:cNvSpPr/>
          <p:nvPr/>
        </p:nvSpPr>
        <p:spPr>
          <a:xfrm>
            <a:off x="8778240" y="4114800"/>
            <a:ext cx="2743200" cy="0"/>
          </a:xfrm>
          <a:prstGeom prst="line">
            <a:avLst/>
          </a:prstGeom>
          <a:noFill/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9" name="Text 26"/>
          <p:cNvSpPr/>
          <p:nvPr/>
        </p:nvSpPr>
        <p:spPr>
          <a:xfrm>
            <a:off x="832104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</a:t>
            </a: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</a:t>
            </a: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prosess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832104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Lukket i 2026: 9  ·  konv. 36%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2" name="Text 29"/>
          <p:cNvSpPr/>
          <p:nvPr/>
        </p:nvSpPr>
        <p:spPr>
          <a:xfrm>
            <a:off x="822960" y="578815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Pipen vokser jevnt for alle 3. Henrik har flest Live (19) — størst potensial for close i sommermånedene.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4" name="Text 31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05 · MOT BUDSJETT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mot budsjett 2026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 fra salgsbudsjett HoY 2026 — 5,5 av 12 måneder bak oss (pace 45 %)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solidFill>
            <a:srgbClr val="0E2A4A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totalt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5603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1982 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56032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0480" y="2286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9.15 M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840480" y="2606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0352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 / 164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30352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2487168"/>
            <a:ext cx="402336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Shape 13"/>
          <p:cNvSpPr/>
          <p:nvPr/>
        </p:nvSpPr>
        <p:spPr>
          <a:xfrm>
            <a:off x="6766560" y="2487168"/>
            <a:ext cx="871596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7" name="Shape 14"/>
          <p:cNvSpPr/>
          <p:nvPr/>
        </p:nvSpPr>
        <p:spPr>
          <a:xfrm>
            <a:off x="8577072" y="2395728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7936992" y="29077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 pace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835640" y="24414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22 %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" y="3182112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8"/>
          <p:cNvSpPr/>
          <p:nvPr/>
        </p:nvSpPr>
        <p:spPr>
          <a:xfrm>
            <a:off x="822960" y="32735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560320" y="32735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900 k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560320" y="3593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840480" y="32735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1.80 M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840480" y="35935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03520" y="32735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13,5 / 24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303520" y="3593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766560" y="3474720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9" name="Shape 26"/>
          <p:cNvSpPr/>
          <p:nvPr/>
        </p:nvSpPr>
        <p:spPr>
          <a:xfrm>
            <a:off x="6766560" y="3474720"/>
            <a:ext cx="2012127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0" name="Shape 27"/>
          <p:cNvSpPr/>
          <p:nvPr/>
        </p:nvSpPr>
        <p:spPr>
          <a:xfrm>
            <a:off x="8577072" y="3383280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1" name="Text 28"/>
          <p:cNvSpPr/>
          <p:nvPr/>
        </p:nvSpPr>
        <p:spPr>
          <a:xfrm>
            <a:off x="7936992" y="3895344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 pace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0835640" y="3429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50 %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40080" y="4169664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4" name="Text 31"/>
          <p:cNvSpPr/>
          <p:nvPr/>
        </p:nvSpPr>
        <p:spPr>
          <a:xfrm>
            <a:off x="822960" y="42611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2560320" y="42611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644 k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2560320" y="45811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3840480" y="4261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3.85 M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3840480" y="45811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303520" y="426110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70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303520" y="458114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6766560" y="4462272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2" name="Shape 39"/>
          <p:cNvSpPr/>
          <p:nvPr/>
        </p:nvSpPr>
        <p:spPr>
          <a:xfrm>
            <a:off x="6766560" y="4462272"/>
            <a:ext cx="672580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3" name="Shape 40"/>
          <p:cNvSpPr/>
          <p:nvPr/>
        </p:nvSpPr>
        <p:spPr>
          <a:xfrm>
            <a:off x="8577072" y="4370832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4" name="Text 41"/>
          <p:cNvSpPr/>
          <p:nvPr/>
        </p:nvSpPr>
        <p:spPr>
          <a:xfrm>
            <a:off x="7936992" y="488289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 pace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10835640" y="441655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17 %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640080" y="5157216"/>
            <a:ext cx="10972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BB8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7" name="Text 44"/>
          <p:cNvSpPr/>
          <p:nvPr/>
        </p:nvSpPr>
        <p:spPr>
          <a:xfrm>
            <a:off x="822960" y="524865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2560320" y="52486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438 k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2560320" y="556869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honorar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840480" y="52486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3.50 M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3840480" y="556869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303520" y="524865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8,5 / 70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5303520" y="556869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 ytd / mål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766560" y="5449824"/>
            <a:ext cx="4023360" cy="320040"/>
          </a:xfrm>
          <a:prstGeom prst="rect">
            <a:avLst/>
          </a:prstGeom>
          <a:solidFill>
            <a:srgbClr val="EBE5D2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5" name="Shape 52"/>
          <p:cNvSpPr/>
          <p:nvPr/>
        </p:nvSpPr>
        <p:spPr>
          <a:xfrm>
            <a:off x="6766560" y="5449824"/>
            <a:ext cx="503955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6" name="Shape 53"/>
          <p:cNvSpPr/>
          <p:nvPr/>
        </p:nvSpPr>
        <p:spPr>
          <a:xfrm>
            <a:off x="8577072" y="535838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7" name="Text 54"/>
          <p:cNvSpPr/>
          <p:nvPr/>
        </p:nvSpPr>
        <p:spPr>
          <a:xfrm>
            <a:off x="7936992" y="5870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45 % pace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10835640" y="54041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13 %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solidFill>
            <a:srgbClr val="1B3A66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60" name="Text 57"/>
          <p:cNvSpPr/>
          <p:nvPr/>
        </p:nvSpPr>
        <p:spPr>
          <a:xfrm>
            <a:off x="822960" y="6099048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 50 % — over pace.  Henrik 17 % og Daniel 13 % — gap mot 45 %-pacen er stort.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62" name="Text 59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05 · MOT BUDSJETT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Oppdrag inn vs budsjett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oppdragsmodulen — 26001 til 26053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194560"/>
            <a:ext cx="10972800" cy="868680"/>
          </a:xfrm>
          <a:prstGeom prst="rect">
            <a:avLst/>
          </a:prstGeom>
          <a:solidFill>
            <a:srgbClr val="1B3A66"/>
          </a:solidFill>
          <a:ln w="254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HoY totalt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08960" y="22860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108960" y="2697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06240" y="235915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197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206240" y="2697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0" y="2487168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Shape 11"/>
          <p:cNvSpPr/>
          <p:nvPr/>
        </p:nvSpPr>
        <p:spPr>
          <a:xfrm>
            <a:off x="5486400" y="2487168"/>
            <a:ext cx="1230959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5" name="Shape 12"/>
          <p:cNvSpPr/>
          <p:nvPr/>
        </p:nvSpPr>
        <p:spPr>
          <a:xfrm>
            <a:off x="7626096" y="2395728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10332720" y="24414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3136392"/>
            <a:ext cx="10972800" cy="868680"/>
          </a:xfrm>
          <a:prstGeom prst="rect">
            <a:avLst/>
          </a:prstGeom>
          <a:solidFill>
            <a:srgbClr val="1B3A66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5"/>
          <p:cNvSpPr/>
          <p:nvPr/>
        </p:nvSpPr>
        <p:spPr>
          <a:xfrm>
            <a:off x="822960" y="32278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Sindre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108960" y="3227832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3108960" y="363931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06240" y="33009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35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206240" y="3639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486400" y="3429000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4" name="Shape 21"/>
          <p:cNvSpPr/>
          <p:nvPr/>
        </p:nvSpPr>
        <p:spPr>
          <a:xfrm>
            <a:off x="5486400" y="3429000"/>
            <a:ext cx="2445367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25" name="Shape 22"/>
          <p:cNvSpPr/>
          <p:nvPr/>
        </p:nvSpPr>
        <p:spPr>
          <a:xfrm>
            <a:off x="7626096" y="3337560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6" name="Text 23"/>
          <p:cNvSpPr/>
          <p:nvPr/>
        </p:nvSpPr>
        <p:spPr>
          <a:xfrm>
            <a:off x="10332720" y="33832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51 %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0080" y="4078224"/>
            <a:ext cx="10972800" cy="868680"/>
          </a:xfrm>
          <a:prstGeom prst="rect">
            <a:avLst/>
          </a:prstGeom>
          <a:solidFill>
            <a:srgbClr val="1B3A66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8" name="Text 25"/>
          <p:cNvSpPr/>
          <p:nvPr/>
        </p:nvSpPr>
        <p:spPr>
          <a:xfrm>
            <a:off x="822960" y="41696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Henrik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108960" y="4169664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000" dirty="0"/>
          </a:p>
        </p:txBody>
      </p:sp>
      <p:sp>
        <p:nvSpPr>
          <p:cNvPr id="30" name="Text 27"/>
          <p:cNvSpPr/>
          <p:nvPr/>
        </p:nvSpPr>
        <p:spPr>
          <a:xfrm>
            <a:off x="3108960" y="458114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206240" y="424281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88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4206240" y="458114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486400" y="4370832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4" name="Shape 31"/>
          <p:cNvSpPr/>
          <p:nvPr/>
        </p:nvSpPr>
        <p:spPr>
          <a:xfrm>
            <a:off x="5486400" y="4370832"/>
            <a:ext cx="1134687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5" name="Shape 32"/>
          <p:cNvSpPr/>
          <p:nvPr/>
        </p:nvSpPr>
        <p:spPr>
          <a:xfrm>
            <a:off x="7626096" y="4279392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6" name="Text 33"/>
          <p:cNvSpPr/>
          <p:nvPr/>
        </p:nvSpPr>
        <p:spPr>
          <a:xfrm>
            <a:off x="10332720" y="4325112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24 %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40080" y="5020056"/>
            <a:ext cx="10972800" cy="868680"/>
          </a:xfrm>
          <a:prstGeom prst="rect">
            <a:avLst/>
          </a:prstGeom>
          <a:solidFill>
            <a:srgbClr val="1B3A66"/>
          </a:solidFill>
          <a:ln w="12700">
            <a:solidFill>
              <a:srgbClr val="2A467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8" name="Text 35"/>
          <p:cNvSpPr/>
          <p:nvPr/>
        </p:nvSpPr>
        <p:spPr>
          <a:xfrm>
            <a:off x="822960" y="511149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Daniel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108960" y="511149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40" name="Text 37"/>
          <p:cNvSpPr/>
          <p:nvPr/>
        </p:nvSpPr>
        <p:spPr>
          <a:xfrm>
            <a:off x="3108960" y="55229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206240" y="5184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74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4206240" y="552297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Årsmål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86400" y="5312664"/>
            <a:ext cx="4754880" cy="320040"/>
          </a:xfrm>
          <a:prstGeom prst="rect">
            <a:avLst/>
          </a:prstGeom>
          <a:solidFill>
            <a:srgbClr val="2A4670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4" name="Shape 41"/>
          <p:cNvSpPr/>
          <p:nvPr/>
        </p:nvSpPr>
        <p:spPr>
          <a:xfrm>
            <a:off x="5486400" y="5312664"/>
            <a:ext cx="771062" cy="32004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5" name="Shape 42"/>
          <p:cNvSpPr/>
          <p:nvPr/>
        </p:nvSpPr>
        <p:spPr>
          <a:xfrm>
            <a:off x="7626096" y="522122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6" name="Text 43"/>
          <p:cNvSpPr/>
          <p:nvPr/>
        </p:nvSpPr>
        <p:spPr>
          <a:xfrm>
            <a:off x="10332720" y="5266944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16 %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8" name="Text 45"/>
          <p:cNvSpPr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oppdrag inn (+5 siste 2 uker) av 197 mål. Sindre 51 % — over pace. Henrik 24 %, Daniel 16 %.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50" name="Text 47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SEKSJON 06 · UKE 25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1523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 denne uka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UKEMÅL PER MEGLER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64592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286000" y="2148840"/>
            <a:ext cx="219456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228600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80560" y="2148840"/>
            <a:ext cx="219456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448056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Befaringer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5120" y="2148840"/>
            <a:ext cx="22860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667512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Nye oppdrag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961120" y="2148840"/>
            <a:ext cx="1371600" cy="457200"/>
          </a:xfrm>
          <a:prstGeom prst="rect">
            <a:avLst/>
          </a:prstGeom>
          <a:solidFill>
            <a:srgbClr val="0E2A4A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89611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2606040"/>
            <a:ext cx="10332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 dirty="0"/>
          </a:p>
        </p:txBody>
      </p:sp>
      <p:sp>
        <p:nvSpPr>
          <p:cNvPr id="18" name="Text 15"/>
          <p:cNvSpPr/>
          <p:nvPr/>
        </p:nvSpPr>
        <p:spPr>
          <a:xfrm>
            <a:off x="6400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28600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480560" y="26060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75120" y="2606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96112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40080" y="3063240"/>
            <a:ext cx="10332720" cy="457200"/>
          </a:xfrm>
          <a:prstGeom prst="rect">
            <a:avLst/>
          </a:prstGeom>
          <a:solidFill>
            <a:srgbClr val="F0EBDD"/>
          </a:solidFill>
          <a:ln/>
        </p:spPr>
        <p:txBody>
          <a:bodyPr/>
          <a:lstStyle/>
          <a:p>
            <a:endParaRPr lang="en-NO" dirty="0"/>
          </a:p>
        </p:txBody>
      </p:sp>
      <p:sp>
        <p:nvSpPr>
          <p:cNvPr id="24" name="Text 21"/>
          <p:cNvSpPr/>
          <p:nvPr/>
        </p:nvSpPr>
        <p:spPr>
          <a:xfrm>
            <a:off x="640080" y="3063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Henrik + Marte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28600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4480560" y="3063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67512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961120" y="3063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0080" y="3520440"/>
            <a:ext cx="10332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O" dirty="0"/>
          </a:p>
        </p:txBody>
      </p:sp>
      <p:sp>
        <p:nvSpPr>
          <p:cNvPr id="30" name="Text 27"/>
          <p:cNvSpPr/>
          <p:nvPr/>
        </p:nvSpPr>
        <p:spPr>
          <a:xfrm>
            <a:off x="64008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228600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480560" y="35204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675120" y="35204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896112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5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40080" y="4114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Fylles inn i møtet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37" name="Text 34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4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 diskusjon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Saker fra teamet — fylles ut i møtet.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5"/>
          <p:cNvSpPr/>
          <p:nvPr/>
        </p:nvSpPr>
        <p:spPr>
          <a:xfrm>
            <a:off x="82296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40080" y="5212080"/>
            <a:ext cx="10972800" cy="777240"/>
          </a:xfrm>
          <a:prstGeom prst="rect">
            <a:avLst/>
          </a:prstGeom>
          <a:ln w="12700">
            <a:solidFill>
              <a:srgbClr val="2A4670"/>
            </a:solidFill>
            <a:prstDash val="dash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1"/>
          <p:cNvSpPr/>
          <p:nvPr/>
        </p:nvSpPr>
        <p:spPr>
          <a:xfrm>
            <a:off x="822960" y="5349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2A46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C9A961"/>
          </a:solidFill>
          <a:ln/>
        </p:spPr>
        <p:txBody>
          <a:bodyPr/>
          <a:lstStyle/>
          <a:p>
            <a:endParaRPr lang="en-NO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Yachts  |  Mandagsmøte uke 25  |  15. juni 2026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2046</Words>
  <Application>Microsoft Macintosh PowerPoint</Application>
  <PresentationFormat>Widescreen</PresentationFormat>
  <Paragraphs>323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Mandagsmøte uke 25 — HoY</dc:title>
  <dc:subject>PptxGenJS Presentation</dc:subject>
  <dc:creator>House of Yachts</dc:creator>
  <cp:lastModifiedBy>Sindre Jacobsen</cp:lastModifiedBy>
  <cp:revision>2</cp:revision>
  <dcterms:created xsi:type="dcterms:W3CDTF">2026-06-14T20:28:18Z</dcterms:created>
  <dcterms:modified xsi:type="dcterms:W3CDTF">2026-06-15T10:12:43Z</dcterms:modified>
</cp:coreProperties>
</file>