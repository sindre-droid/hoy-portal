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2"/>
    <p:restoredTop sz="71418"/>
  </p:normalViewPr>
  <p:slideViewPr>
    <p:cSldViewPr snapToGrid="0" snapToObjects="1">
      <p:cViewPr varScale="1">
        <p:scale>
          <a:sx n="85" d="100"/>
          <a:sy n="85" d="100"/>
        </p:scale>
        <p:origin x="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2820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— 1 min
"Velkommen til halvårsmøtet. Vi gjør opp status for H1 og setter kursen for H2."
Rekord-belegget (hvis noen spør): 2025 endte på 4,86M. Med fjorårets sesongmønster
peker 2026 mot 5,1–5,4M — altså rekordkurs allerede før vi løfter 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30 sek
Tre hovedbudskap i rekkefølge:
1) Feir det som er sant
2) Nye, realistiske mål for H2
3) Hver megler får ett fokus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 SOM FUNKER — 4 min
Tre ting er sant og verdt å feire:
1) Beste juni noensinne — 758k, 10 salg. Juni alene slo hele Q1.
2) Vi er 6 % foran 2025 — uten Jeanette, som stod for 643k i fjor.
3) Daniel har allerede passert hele sitt 2025 (532k) — 624k så langt.
Spør rundt bordet om juli-salgene: Storebro, Goldfish 29, Jeanneau, Nimbus.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 I TALL — 3 min
"H1 landet på 2,275 MNOK — 38 salg. Momentum snudde i mai/juni."
Prognose: med fjorårets sesongmønster lander 2026 på 5,1–5,4M (2025: 4,86M).
Målet vårt er 5,7M — vi må slå fjorårets høstmønster med ca. 10 %.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NYE MÅL FOR H2 — 5 min
Vær tydelig på perioden: H2 = 1. juli til 31. desember. Juli-salgene teller altså med.
Budskap: "Vi har satt nye mål for andre halvår basert på det vi nå vet om kostnadene
og hva som er realistisk. Målet er 5,7M for hele året — det gir oss et solid år og
rom for overskudd hvis vi samtidig er disiplinerte på pris og provisjon."
HVIS SPØRSMÅLET KOMMER — "hvorfor er 5,7M nødvendig?":
Ærlig svar uten å dramatisere: "Kostnadsbasen vår har vokst — vi er flere folk enn i fjor
(Marte og Philip på lønn hele året) og full meglerlønn for alle. Da trenger vi mer omsetning
enn i 2025 for samme resultat. 5,7M gir trygg drift; disiplin på provisjon og markedsføring
gjør det til et pluss-år."
IKKE nevn: Marte-vurderingen i oktober, likviditet/utbytte, "break-even"-regnestykket i detalj.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H2 SÅ LANGT — 3 min
Perioden: H2 løper fra 1. juli. Én av seks måneder er gått → jevn takt = 17 %.
Per megler i juli:
• Sindre: 2 salg, 113k = 9 %
• Henrik + Marte: 5 salg, 244k = 19 % — over takten, sterk juli
• Daniel: 1 salg, 36k = 5 %
Gi Henrik+Marte anerkjennelse for juli 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1 — SALGSTEMPO OG PUBLISERINGSTID — 3 min
Livsløpsdata på oppdrag signert 2025–26 (154 oppdrag, 101 solgte), verifiserte datoer
fra Oneflow (signering) og FINN (publisering).
Den gode nyheten først: "Dere har blitt raskere. Ferske oppdrag selges i median på
63 dager — 10 dager raskere enn den eldre miksen. Fra publisering til salg har vi
kuttet fra 65 til 51 dager."
Så flaskehalsen: "Men tiden fra signering til annonsen ligger ute har IKKE bedret seg —
14 dager i median, dobbelt av målet på 7. Salget går raskere så snart annonsen er ute;
det er å FÅ den ut som er flaskehalsen."
Diskusjon: hvor ligger ventetiden? Foto? Prospekt? Egenerklæring fra selger?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2 — SIGNERINGSFRISTER — 4 min
Tre funn som henger sammen (2025–26-tall der de finnes):
1) CLOSE-RATE per prisklasse for ferske signeringer (2025–26):
   • Under 1M: 100 % solgt innen året, median 60 dager
   • 1–2M: 98 %, median 61 dager
   • 2–5M: 72 % — og bare 27 % innen 90 dager. Fortsatt klart tregest.
   (Over 5M: for få salg til å si noe sikkert.)
2) SESONG: Oppdrag signert mars–mai selges i 72–86 % av tilfellene innen et halvt år.
   Signert i juni: 48 %. September: 36 %.
   → August/september-inntaket er det siste som rekker å bli 2026-salg.
3) FRISTER: siste signeringsdato for salg i år (median salgstid per klasse):
   2–5M: 14. okt · 1–2M: 19. okt · &lt;1M: 27. okt
Budskap: inntaksarbeidet i august/september avgjør hvordan året 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3 — PRISREDUKSJON — 4 min
Fra FINN-prishistorikken (589 hendelser siden februar 2025):
"Vi er ikke redde for å sette ned prisen — andelen annonser som får priskutt er omtrent
lik i alle prisklasser. Men tempoet varierer mye: på båter under 1M kommer første
prisreduksjon etter 4 uker. På båter mellom 2 og 5M venter vi i snitt nesten 3 måneder."
Og det er nettopp 2–5M-klassen som selger tregest (bare 35 % solgt innen et halvt år).
Forslag til vedtak: fast prisvurdering 4–6 uker etter publisering for alle båter over 2M.
Ikke automatisk kutt — men en bevisst vurdering sammen med selger.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FOKUS SINDRE — 3 min
To fokusområder:
1) VURDERE PRISREDUKSJON TIDLIGERE PÅ STORE BÅTER.
Porteføljen din er dominert av få, store objekter — nettopp klassen som selger tregest.
Fast prisvurdering ved 4–6 uker på alt over 2M.
2) GODKJENNING AV RABATTER.
13 av 38 H1-salg gikk under standard provisjon (6 % / 45k). Ny rutine: provisjon under
standard skal godkjennes av deg før oppdragsavtalen signeres.
"Forventet verdi" på slide = porteføljens verdi vektet med historisk salgssannsynlighet
per prisklasse og alder — altså hva porteføljen realistisk gir i H2, ikke hva den er verdt
om alt selges.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FOKUS HENRIK + MARTE — 3 min
Start med anerkjennelse: sterkest i juli — 5 salg, 244k, foran takten.
Fokus: BEFARINGER. Arbeidsdeling: Marte booker befaringene, Henrik gjennomfører og lukker.
Hver befaring skal avsluttes med at neste steg er avtalt — nytt møte, verdivurdering
eller kontraktsutkast. Ingen befaring uten en avtalt oppfølging.
Om trakt-tallet: andelen av deals som når befaring er estimert til 28 % for teamet
(Daniel 52 %, Sindre 74 %). VIKTIG FORBEHOLD: befaringer logges i dag mangelfullt
i HubSpot — tallene er trakt-estimater, ikke fasit. Derfor: fra august logger vi alle
befaringer i HubSpot, så vi måler dette skikkelig fremover. Ikke bruk tallet som
anklage — bruk det som hypotese vi nå skal ettergå med ordentlig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FOKUS DANIEL — 3 min
Start med anerkjennelse: har allerede slått hele sitt 2025.
Fokus: HOLD VOLUMET OPPE — RING MER MÅLRETTET.
494 samtaler i H1 ga en deal-rate på 4 %. Poenget er ikke færre samtaler,
men bedre utvalg: kvalifiser hardere hvem som ringes.
Gap-regnestykket: for å nå 800k i H2 trenger Daniel flere oppdrag inn enn porteføljen
hans gir i dag — omtrent 12 nye oppdrag før medio oktober (jf. signeringsfristene).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MÅL DENNE UKA — 4 min
Fyll inn ukemål per megler live.
Befaringer er ny hoved-KPI for Henrik + Marte — og logges i HubSpot fra nå.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DIVERSE — 5 min
Saker fra teamet — boksene fylles inn live.
AVSLUTNING:
"Vi ligger an til tidenes omsetningsår. Målene for H2 er satt slik at alle vet hva som
skal til. August og september avgjør — både salg og inntak. Vi følger opp månedlig."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Shape 1"/>
          <p:cNvSpPr/>
          <p:nvPr/>
        </p:nvSpPr>
        <p:spPr>
          <a:xfrm>
            <a:off x="640080" y="2697480"/>
            <a:ext cx="54864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Halvårsmøte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2788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 gjort opp  ·  mål for H2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august 2026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589520" y="4572000"/>
            <a:ext cx="4206240" cy="1463040"/>
          </a:xfrm>
          <a:prstGeom prst="rect">
            <a:avLst/>
          </a:prstGeom>
          <a:solidFill>
            <a:srgbClr val="1B3A66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0" name="Text 7"/>
          <p:cNvSpPr/>
          <p:nvPr/>
        </p:nvSpPr>
        <p:spPr>
          <a:xfrm>
            <a:off x="7680960" y="470916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2,67 MNOK
</a:t>
            </a:r>
            <a:r>
              <a:rPr lang="en-US" sz="1100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omsetning ex.mva  ·  jan–juli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salg  ·  55,7 MNOK salgssum  ·  ligger an til beste omsetningsår noensinne (2025: 4,86M)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Halvårsmøtet på 45 minutter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55448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som funker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54480" y="21945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 juni noensinne, foran 2025, Daniel over hele fjoråret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54203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1554480" y="25877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i tall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54480" y="290779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Månedsprofil og prognose for året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255264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1554480" y="33009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 mål for H2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554480" y="362102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Juli–desember: 3,4M for teamet, fordelt per megler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3968496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1554480" y="40142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så langt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554480" y="433425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Juli-oppgjørene og status mot de nye målene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468172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1554480" y="47274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dataene våre viser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54480" y="50474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funn fra 435 oppdrag: publisering, frister, prisreduksjon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" y="5394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1554480" y="5440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per megler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554480" y="57607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tall og én arbeidsmåte for hver — Sindre, Henrik+Marte, Daniel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5" name="Text 22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Halvårsmøte  |  3. august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 som funker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6576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7" name="Text 4"/>
          <p:cNvSpPr/>
          <p:nvPr/>
        </p:nvSpPr>
        <p:spPr>
          <a:xfrm>
            <a:off x="640080" y="20116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758 k</a:t>
            </a:r>
            <a:endParaRPr lang="en-US" sz="5600" dirty="0"/>
          </a:p>
        </p:txBody>
      </p:sp>
      <p:sp>
        <p:nvSpPr>
          <p:cNvPr id="8" name="Shape 5"/>
          <p:cNvSpPr/>
          <p:nvPr/>
        </p:nvSpPr>
        <p:spPr>
          <a:xfrm>
            <a:off x="1828800" y="3291840"/>
            <a:ext cx="128016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9" name="Text 6"/>
          <p:cNvSpPr/>
          <p:nvPr/>
        </p:nvSpPr>
        <p:spPr>
          <a:xfrm>
            <a:off x="64008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 JUNI NOENSINNE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3886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salg — mer enn hele Q1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80560" y="1828800"/>
            <a:ext cx="36576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5B8A6F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2" name="Text 9"/>
          <p:cNvSpPr/>
          <p:nvPr/>
        </p:nvSpPr>
        <p:spPr>
          <a:xfrm>
            <a:off x="4480560" y="20116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5B8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+6 %</a:t>
            </a:r>
            <a:endParaRPr lang="en-US" sz="5600" dirty="0"/>
          </a:p>
        </p:txBody>
      </p:sp>
      <p:sp>
        <p:nvSpPr>
          <p:cNvPr id="13" name="Shape 10"/>
          <p:cNvSpPr/>
          <p:nvPr/>
        </p:nvSpPr>
        <p:spPr>
          <a:xfrm>
            <a:off x="5669280" y="3291840"/>
            <a:ext cx="1280160" cy="0"/>
          </a:xfrm>
          <a:prstGeom prst="line">
            <a:avLst/>
          </a:prstGeom>
          <a:noFill/>
          <a:ln w="19050">
            <a:solidFill>
              <a:srgbClr val="5B8A6F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4" name="Text 11"/>
          <p:cNvSpPr/>
          <p:nvPr/>
        </p:nvSpPr>
        <p:spPr>
          <a:xfrm>
            <a:off x="448056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FORAN 2025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480560" y="3886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 tross for ett årsverk mindre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321040" y="1828800"/>
            <a:ext cx="36576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5B8A6F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7" name="Text 14"/>
          <p:cNvSpPr/>
          <p:nvPr/>
        </p:nvSpPr>
        <p:spPr>
          <a:xfrm>
            <a:off x="8321040" y="20116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5B8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624 k</a:t>
            </a:r>
            <a:endParaRPr lang="en-US" sz="5600" dirty="0"/>
          </a:p>
        </p:txBody>
      </p:sp>
      <p:sp>
        <p:nvSpPr>
          <p:cNvPr id="18" name="Shape 15"/>
          <p:cNvSpPr/>
          <p:nvPr/>
        </p:nvSpPr>
        <p:spPr>
          <a:xfrm>
            <a:off x="9509760" y="3291840"/>
            <a:ext cx="1280160" cy="0"/>
          </a:xfrm>
          <a:prstGeom prst="line">
            <a:avLst/>
          </a:prstGeom>
          <a:noFill/>
          <a:ln w="19050">
            <a:solidFill>
              <a:srgbClr val="5B8A6F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9" name="Text 16"/>
          <p:cNvSpPr/>
          <p:nvPr/>
        </p:nvSpPr>
        <p:spPr>
          <a:xfrm>
            <a:off x="832104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OVER 2025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321040" y="3886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 2025: 532k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" y="4846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 I JULI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5468112"/>
            <a:ext cx="109728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3" name="Text 20"/>
          <p:cNvSpPr/>
          <p:nvPr/>
        </p:nvSpPr>
        <p:spPr>
          <a:xfrm>
            <a:off x="640080" y="5212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08.07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737360" y="5212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Storebro 430 Biscay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58000" y="5212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Henrik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96112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1 810 000 kr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080" y="5760720"/>
            <a:ext cx="109728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8" name="Text 25"/>
          <p:cNvSpPr/>
          <p:nvPr/>
        </p:nvSpPr>
        <p:spPr>
          <a:xfrm>
            <a:off x="640080" y="55046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08.07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737360" y="55046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Goldfish 29 Sport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858000" y="5504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Sindre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961120" y="55046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1 375 000 kr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40080" y="6053328"/>
            <a:ext cx="109728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3" name="Text 30"/>
          <p:cNvSpPr/>
          <p:nvPr/>
        </p:nvSpPr>
        <p:spPr>
          <a:xfrm>
            <a:off x="640080" y="57972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18.07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737360" y="57972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Jeanneau 40,3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858000" y="57972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Henrik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961120" y="57972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875 000 kr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40080" y="6345936"/>
            <a:ext cx="109728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8" name="Text 35"/>
          <p:cNvSpPr/>
          <p:nvPr/>
        </p:nvSpPr>
        <p:spPr>
          <a:xfrm>
            <a:off x="640080" y="60899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23.07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1737360" y="60899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 300R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858000" y="60899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Henrik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961120" y="60899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780 000 kr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3" name="Text 40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Halvårsmøte  |  3. august 2026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02 · H1 I TALL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Omsetning per måned 2026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endte på 2,275 MNOK — juni ble beste enkeltmåned med 758k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4414295"/>
            <a:ext cx="1234440" cy="614905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8" name="Text 5"/>
          <p:cNvSpPr/>
          <p:nvPr/>
        </p:nvSpPr>
        <p:spPr>
          <a:xfrm>
            <a:off x="457200" y="4094255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50749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94560" y="4496186"/>
            <a:ext cx="1234440" cy="533014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1" name="Text 8"/>
          <p:cNvSpPr/>
          <p:nvPr/>
        </p:nvSpPr>
        <p:spPr>
          <a:xfrm>
            <a:off x="2011680" y="417614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103120" y="50749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749040" y="3167557"/>
            <a:ext cx="1234440" cy="1861643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4" name="Text 11"/>
          <p:cNvSpPr/>
          <p:nvPr/>
        </p:nvSpPr>
        <p:spPr>
          <a:xfrm>
            <a:off x="3566160" y="2847517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515k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0" y="50749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303520" y="4174120"/>
            <a:ext cx="1234440" cy="855080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7" name="Text 14"/>
          <p:cNvSpPr/>
          <p:nvPr/>
        </p:nvSpPr>
        <p:spPr>
          <a:xfrm>
            <a:off x="5120640" y="38540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212080" y="50749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858000" y="3406429"/>
            <a:ext cx="1234440" cy="1622771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0" name="Text 17"/>
          <p:cNvSpPr/>
          <p:nvPr/>
        </p:nvSpPr>
        <p:spPr>
          <a:xfrm>
            <a:off x="6675120" y="3086389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449k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66560" y="50749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412480" y="2286000"/>
            <a:ext cx="1234440" cy="274320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3" name="Text 20"/>
          <p:cNvSpPr/>
          <p:nvPr/>
        </p:nvSpPr>
        <p:spPr>
          <a:xfrm>
            <a:off x="8229600" y="19659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758k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21040" y="50749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966960" y="3607829"/>
            <a:ext cx="1234440" cy="1421371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6" name="Text 23"/>
          <p:cNvSpPr/>
          <p:nvPr/>
        </p:nvSpPr>
        <p:spPr>
          <a:xfrm>
            <a:off x="9784080" y="3287789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393k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875520" y="50749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784080" y="53492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40080" y="5623560"/>
            <a:ext cx="10972800" cy="868680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0" name="Text 27"/>
          <p:cNvSpPr/>
          <p:nvPr/>
        </p:nvSpPr>
        <p:spPr>
          <a:xfrm>
            <a:off x="822960" y="5650992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Prognose for 2026:  </a:t>
            </a: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5,1–5,4 MNOK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hvis høsten følger fjorårets sesongmønster (2025 endte på 4,86M).
</a:t>
            </a: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Målet vårt: </a:t>
            </a:r>
            <a:r>
              <a:rPr lang="en-US" sz="1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5,7 MNOK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 må slå fjorårets høst med ca. 10 %.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2" name="Text 29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Halvårsmøte  |  3. august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03 · NYE MÅL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Mål for andre halvår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Gjelder 1. juli – 31. desember. Juli-salgene teller med. Helårsmål: 5,7 MNOK.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10972800" cy="822960"/>
          </a:xfrm>
          <a:prstGeom prst="rect">
            <a:avLst/>
          </a:prstGeom>
          <a:solidFill>
            <a:srgbClr val="1B3A66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5"/>
          <p:cNvSpPr/>
          <p:nvPr/>
        </p:nvSpPr>
        <p:spPr>
          <a:xfrm>
            <a:off x="822960" y="23591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Sindre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1300k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2004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helår: </a:t>
            </a:r>
            <a:r>
              <a:rPr lang="en-US" sz="1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~2,28M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0" y="254203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+10 % vs 2025 · sterk inbound-tilgang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3182112"/>
            <a:ext cx="10972800" cy="822960"/>
          </a:xfrm>
          <a:prstGeom prst="rect">
            <a:avLst/>
          </a:prstGeom>
          <a:solidFill>
            <a:srgbClr val="1B3A66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3" name="Text 10"/>
          <p:cNvSpPr/>
          <p:nvPr/>
        </p:nvSpPr>
        <p:spPr>
          <a:xfrm>
            <a:off x="822960" y="325526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Henrik + Marte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22960" y="35935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1300k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200400" y="36393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helår: </a:t>
            </a:r>
            <a:r>
              <a:rPr lang="en-US" sz="1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~2,08M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0" y="343814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Felles mål for teamet — Marte booker, Henrik lukker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4078224"/>
            <a:ext cx="10972800" cy="822960"/>
          </a:xfrm>
          <a:prstGeom prst="rect">
            <a:avLst/>
          </a:prstGeom>
          <a:solidFill>
            <a:srgbClr val="1B3A66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8" name="Text 15"/>
          <p:cNvSpPr/>
          <p:nvPr/>
        </p:nvSpPr>
        <p:spPr>
          <a:xfrm>
            <a:off x="822960" y="415137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Daniel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22960" y="448970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800k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3200400" y="453542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helår: </a:t>
            </a:r>
            <a:r>
              <a:rPr lang="en-US" sz="1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~1,32M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69280" y="4334256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2,5× fjoråret — ambisiøst, men i takt med veksten hans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5065776"/>
            <a:ext cx="10972800" cy="6400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3" name="Text 20"/>
          <p:cNvSpPr/>
          <p:nvPr/>
        </p:nvSpPr>
        <p:spPr>
          <a:xfrm>
            <a:off x="822960" y="511149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22960" y="53218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3,4 MNOK</a:t>
            </a:r>
            <a:r>
              <a:rPr lang="en-US" sz="1400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juli–desember   →   helår ~5,7M</a:t>
            </a:r>
            <a:endParaRPr lang="en-US" sz="2600" dirty="0"/>
          </a:p>
        </p:txBody>
      </p:sp>
      <p:sp>
        <p:nvSpPr>
          <p:cNvPr id="25" name="Shape 2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Halvårsmøte  |  3. august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04 · H2 SÅ LANGT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Én måned inn i andre halvår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løper fra 1. juli til 31. desember. Én av seks måneder gått — jevn takt tilsier 17 % av målet.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10972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5"/>
          <p:cNvSpPr/>
          <p:nvPr/>
        </p:nvSpPr>
        <p:spPr>
          <a:xfrm>
            <a:off x="82296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Sindre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017520" y="2240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113 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017520" y="2560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siden 1. juli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297680" y="2240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1300 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297680" y="25603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H2-mål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60720" y="2240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760720" y="2560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583680" y="2441448"/>
            <a:ext cx="4023360" cy="320040"/>
          </a:xfrm>
          <a:prstGeom prst="rect">
            <a:avLst/>
          </a:prstGeom>
          <a:solidFill>
            <a:srgbClr val="EBE5D2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6" name="Shape 13"/>
          <p:cNvSpPr/>
          <p:nvPr/>
        </p:nvSpPr>
        <p:spPr>
          <a:xfrm>
            <a:off x="6583680" y="2441448"/>
            <a:ext cx="348361" cy="3200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7" name="Shape 14"/>
          <p:cNvSpPr/>
          <p:nvPr/>
        </p:nvSpPr>
        <p:spPr>
          <a:xfrm>
            <a:off x="7267651" y="2350008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8" name="Text 15"/>
          <p:cNvSpPr/>
          <p:nvPr/>
        </p:nvSpPr>
        <p:spPr>
          <a:xfrm>
            <a:off x="6536131" y="28620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17 % jevn takt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652760" y="23957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9 %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0080" y="3136392"/>
            <a:ext cx="10972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1" name="Text 18"/>
          <p:cNvSpPr/>
          <p:nvPr/>
        </p:nvSpPr>
        <p:spPr>
          <a:xfrm>
            <a:off x="822960" y="32278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Henrik + Marte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017520" y="32278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244 k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017520" y="354787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siden 1. juli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297680" y="32278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1300 k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297680" y="35478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H2-mål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760720" y="322783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760720" y="35478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583680" y="3429000"/>
            <a:ext cx="4023360" cy="320040"/>
          </a:xfrm>
          <a:prstGeom prst="rect">
            <a:avLst/>
          </a:prstGeom>
          <a:solidFill>
            <a:srgbClr val="EBE5D2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9" name="Shape 26"/>
          <p:cNvSpPr/>
          <p:nvPr/>
        </p:nvSpPr>
        <p:spPr>
          <a:xfrm>
            <a:off x="6583680" y="3429000"/>
            <a:ext cx="756392" cy="3200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0" name="Shape 27"/>
          <p:cNvSpPr/>
          <p:nvPr/>
        </p:nvSpPr>
        <p:spPr>
          <a:xfrm>
            <a:off x="7267651" y="3337560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1" name="Text 28"/>
          <p:cNvSpPr/>
          <p:nvPr/>
        </p:nvSpPr>
        <p:spPr>
          <a:xfrm>
            <a:off x="6536131" y="38496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17 % jevn takt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0652760" y="3383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19 %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40080" y="4123944"/>
            <a:ext cx="10972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4" name="Text 31"/>
          <p:cNvSpPr/>
          <p:nvPr/>
        </p:nvSpPr>
        <p:spPr>
          <a:xfrm>
            <a:off x="822960" y="42153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Daniel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3017520" y="421538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 k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3017520" y="453542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siden 1. juli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297680" y="421538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800 k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4297680" y="45354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H2-mål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760720" y="421538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5760720" y="453542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583680" y="4416552"/>
            <a:ext cx="4023360" cy="320040"/>
          </a:xfrm>
          <a:prstGeom prst="rect">
            <a:avLst/>
          </a:prstGeom>
          <a:solidFill>
            <a:srgbClr val="EBE5D2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2" name="Shape 39"/>
          <p:cNvSpPr/>
          <p:nvPr/>
        </p:nvSpPr>
        <p:spPr>
          <a:xfrm>
            <a:off x="6583680" y="4416552"/>
            <a:ext cx="181051" cy="3200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3" name="Shape 40"/>
          <p:cNvSpPr/>
          <p:nvPr/>
        </p:nvSpPr>
        <p:spPr>
          <a:xfrm>
            <a:off x="7267651" y="4325112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4" name="Text 41"/>
          <p:cNvSpPr/>
          <p:nvPr/>
        </p:nvSpPr>
        <p:spPr>
          <a:xfrm>
            <a:off x="6536131" y="483717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17 % jevn takt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10652760" y="43708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5 %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40080" y="5111496"/>
            <a:ext cx="10972800" cy="914400"/>
          </a:xfrm>
          <a:prstGeom prst="rect">
            <a:avLst/>
          </a:prstGeom>
          <a:solidFill>
            <a:srgbClr val="0E2A4A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7" name="Text 44"/>
          <p:cNvSpPr/>
          <p:nvPr/>
        </p:nvSpPr>
        <p:spPr>
          <a:xfrm>
            <a:off x="822960" y="520293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3017520" y="520293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393 k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3017520" y="552297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siden 1. juli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4297680" y="520293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3400 k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4297680" y="55229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H2-mål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5760720" y="520293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53" name="Text 50"/>
          <p:cNvSpPr/>
          <p:nvPr/>
        </p:nvSpPr>
        <p:spPr>
          <a:xfrm>
            <a:off x="5760720" y="552297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6583680" y="5404104"/>
            <a:ext cx="4023360" cy="320040"/>
          </a:xfrm>
          <a:prstGeom prst="rect">
            <a:avLst/>
          </a:prstGeom>
          <a:solidFill>
            <a:srgbClr val="2A4670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55" name="Shape 52"/>
          <p:cNvSpPr/>
          <p:nvPr/>
        </p:nvSpPr>
        <p:spPr>
          <a:xfrm>
            <a:off x="6583680" y="5404104"/>
            <a:ext cx="465006" cy="3200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56" name="Shape 53"/>
          <p:cNvSpPr/>
          <p:nvPr/>
        </p:nvSpPr>
        <p:spPr>
          <a:xfrm>
            <a:off x="7267651" y="5312664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7" name="Text 54"/>
          <p:cNvSpPr/>
          <p:nvPr/>
        </p:nvSpPr>
        <p:spPr>
          <a:xfrm>
            <a:off x="6536131" y="58247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17 % jevn takt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10652760" y="535838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12 %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60" name="Text 57"/>
          <p:cNvSpPr/>
          <p:nvPr/>
        </p:nvSpPr>
        <p:spPr>
          <a:xfrm>
            <a:off x="822960" y="61447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Henrik + Marte leverte sterkest i juli. August og september er historisk de tyngste salgsmånedene — nå gjelder det.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62" name="Text 59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Halvårsmøte  |  3. august 2026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05 · DATAFUNN 1 AV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 selger raskere — men publiserer like tregt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Oppdrag signert 2025–26: 154 oppdrag, 101 solgte. Verifiserte datoer fra Oneflow og FINN.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SALGSTEMPO — FØR OG NÅ (MEDIAN)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468880"/>
            <a:ext cx="35661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5B8A6F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9" name="Text 6"/>
          <p:cNvSpPr/>
          <p:nvPr/>
        </p:nvSpPr>
        <p:spPr>
          <a:xfrm>
            <a:off x="640080" y="2606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Signert → solgt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971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A5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 </a:t>
            </a:r>
            <a:r>
              <a:rPr lang="en-US" sz="20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4400" b="1" dirty="0">
                <a:solidFill>
                  <a:srgbClr val="5B8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0080" y="3977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5B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dager — raskere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89120" y="2468880"/>
            <a:ext cx="35661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5B8A6F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3" name="Text 10"/>
          <p:cNvSpPr/>
          <p:nvPr/>
        </p:nvSpPr>
        <p:spPr>
          <a:xfrm>
            <a:off x="4389120" y="2606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Publisert → solgt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389120" y="2971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A5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 </a:t>
            </a:r>
            <a:r>
              <a:rPr lang="en-US" sz="20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4400" b="1" dirty="0">
                <a:solidFill>
                  <a:srgbClr val="5B8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4389120" y="3977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5B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dager — raskere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38160" y="2468880"/>
            <a:ext cx="35661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7" name="Text 14"/>
          <p:cNvSpPr/>
          <p:nvPr/>
        </p:nvSpPr>
        <p:spPr>
          <a:xfrm>
            <a:off x="8138160" y="2606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Signert → publisert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38160" y="2971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A5A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</a:t>
            </a:r>
            <a:r>
              <a:rPr lang="en-US" sz="20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4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138160" y="3977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dager — mål: 7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4572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Eldre datasett (2024+) → oppdrag signert 2025–26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0080" y="5029200"/>
            <a:ext cx="109728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5B8A6F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2" name="Text 19"/>
          <p:cNvSpPr/>
          <p:nvPr/>
        </p:nvSpPr>
        <p:spPr>
          <a:xfrm>
            <a:off x="822960" y="510235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Godt nytt: </a:t>
            </a: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salget går 10 dager raskere så snart annonsen er ute — og 93 % av ferske oppdrag selges innen året.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4" name="Text 21"/>
          <p:cNvSpPr/>
          <p:nvPr/>
        </p:nvSpPr>
        <p:spPr>
          <a:xfrm>
            <a:off x="822960" y="587959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Flaskehalsen: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 få annonsen ut. 14 dager fra signering til publisering — dobbelt av målet på 7. Her ligger den enkleste gevinsten.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Halvårsmøte  |  3. august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05 · DATAFUNN 2 AV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Når må et oppdrag inn for å bli solgt i år?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OPPDRAG SIGNERT 2025–26: ANDEL SOLGT INNEN ÅRET, PER PRISKLASSE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60320" y="2148840"/>
            <a:ext cx="5669280" cy="256032"/>
          </a:xfrm>
          <a:prstGeom prst="rect">
            <a:avLst/>
          </a:prstGeom>
          <a:solidFill>
            <a:srgbClr val="EBE5D2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9" name="Shape 6"/>
          <p:cNvSpPr/>
          <p:nvPr/>
        </p:nvSpPr>
        <p:spPr>
          <a:xfrm>
            <a:off x="2560320" y="2148840"/>
            <a:ext cx="5669280" cy="256032"/>
          </a:xfrm>
          <a:prstGeom prst="rect">
            <a:avLst/>
          </a:prstGeom>
          <a:solidFill>
            <a:srgbClr val="5B8A6F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0" name="Text 7"/>
          <p:cNvSpPr/>
          <p:nvPr/>
        </p:nvSpPr>
        <p:spPr>
          <a:xfrm>
            <a:off x="8366760" y="20574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41832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60 dager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2532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1–2M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560320" y="2624328"/>
            <a:ext cx="5669280" cy="256032"/>
          </a:xfrm>
          <a:prstGeom prst="rect">
            <a:avLst/>
          </a:prstGeom>
          <a:solidFill>
            <a:srgbClr val="EBE5D2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4" name="Shape 11"/>
          <p:cNvSpPr/>
          <p:nvPr/>
        </p:nvSpPr>
        <p:spPr>
          <a:xfrm>
            <a:off x="2560320" y="2624328"/>
            <a:ext cx="5555894" cy="256032"/>
          </a:xfrm>
          <a:prstGeom prst="rect">
            <a:avLst/>
          </a:prstGeom>
          <a:solidFill>
            <a:srgbClr val="5B8A6F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5" name="Text 12"/>
          <p:cNvSpPr/>
          <p:nvPr/>
        </p:nvSpPr>
        <p:spPr>
          <a:xfrm>
            <a:off x="8366760" y="253288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98 %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418320" y="25328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61 dager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300837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2–5M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560320" y="3099816"/>
            <a:ext cx="5669280" cy="256032"/>
          </a:xfrm>
          <a:prstGeom prst="rect">
            <a:avLst/>
          </a:prstGeom>
          <a:solidFill>
            <a:srgbClr val="EBE5D2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9" name="Shape 16"/>
          <p:cNvSpPr/>
          <p:nvPr/>
        </p:nvSpPr>
        <p:spPr>
          <a:xfrm>
            <a:off x="2560320" y="3099816"/>
            <a:ext cx="4081882" cy="256032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0" name="Text 17"/>
          <p:cNvSpPr/>
          <p:nvPr/>
        </p:nvSpPr>
        <p:spPr>
          <a:xfrm>
            <a:off x="8366760" y="300837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72 %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418320" y="300837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27 % innen 90 dager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0080" y="3520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under 2M selges i praksis alltid — og raskt. 2–5M er fortsatt klassen som krever mest tålmodighet og aktiv prisstyring.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" y="4023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 SIGNERINGSDATO FOR SALG I 2026 (median salgstid per prisklasse)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" y="4434840"/>
            <a:ext cx="3566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5" name="Text 22"/>
          <p:cNvSpPr/>
          <p:nvPr/>
        </p:nvSpPr>
        <p:spPr>
          <a:xfrm>
            <a:off x="640080" y="45537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MNOK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0080" y="48463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 okt</a:t>
            </a:r>
            <a:endParaRPr lang="en-US" sz="3200" dirty="0"/>
          </a:p>
        </p:txBody>
      </p:sp>
      <p:sp>
        <p:nvSpPr>
          <p:cNvPr id="27" name="Text 24"/>
          <p:cNvSpPr/>
          <p:nvPr/>
        </p:nvSpPr>
        <p:spPr>
          <a:xfrm>
            <a:off x="640080" y="5486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lengst salgstid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389120" y="4434840"/>
            <a:ext cx="3566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9" name="Text 26"/>
          <p:cNvSpPr/>
          <p:nvPr/>
        </p:nvSpPr>
        <p:spPr>
          <a:xfrm>
            <a:off x="4389120" y="45537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MNOK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389120" y="48463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 okt</a:t>
            </a:r>
            <a:endParaRPr lang="en-US" sz="3200" dirty="0"/>
          </a:p>
        </p:txBody>
      </p:sp>
      <p:sp>
        <p:nvSpPr>
          <p:cNvPr id="31" name="Shape 28"/>
          <p:cNvSpPr/>
          <p:nvPr/>
        </p:nvSpPr>
        <p:spPr>
          <a:xfrm>
            <a:off x="8138160" y="4434840"/>
            <a:ext cx="3566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2" name="Text 29"/>
          <p:cNvSpPr/>
          <p:nvPr/>
        </p:nvSpPr>
        <p:spPr>
          <a:xfrm>
            <a:off x="8138160" y="45537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 MNOK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138160" y="48463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 okt</a:t>
            </a:r>
            <a:endParaRPr lang="en-US" sz="3200" dirty="0"/>
          </a:p>
        </p:txBody>
      </p:sp>
      <p:sp>
        <p:nvSpPr>
          <p:cNvPr id="34" name="Text 31"/>
          <p:cNvSpPr/>
          <p:nvPr/>
        </p:nvSpPr>
        <p:spPr>
          <a:xfrm>
            <a:off x="8138160" y="5486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kortest salgstid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6" name="Text 33"/>
          <p:cNvSpPr/>
          <p:nvPr/>
        </p:nvSpPr>
        <p:spPr>
          <a:xfrm>
            <a:off x="822960" y="601675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Sesongdata: vår-signeringer selges i 72–86 % av tilfellene innen et halvt år, september-signeringer bare 36 %. August/september-inntaket er det siste som teller for 2026.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8" name="Text 35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Halvårsmøte  |  3. august 2026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05 · DATAFUNN 3 AV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Prisreduksjon kommer for sent på store båter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FINN-prishistorikk, 589 hendelser siden februar 2025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DAGER TIL FØRSTE PRISREDUKSJON (MEDIAN)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2514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68880" y="2596896"/>
            <a:ext cx="2313542" cy="274320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0" name="Text 7"/>
          <p:cNvSpPr/>
          <p:nvPr/>
        </p:nvSpPr>
        <p:spPr>
          <a:xfrm>
            <a:off x="4873862" y="2514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dager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99008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468880" y="3072384"/>
            <a:ext cx="4296578" cy="274320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3" name="Text 10"/>
          <p:cNvSpPr/>
          <p:nvPr/>
        </p:nvSpPr>
        <p:spPr>
          <a:xfrm>
            <a:off x="6856898" y="299008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 dager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346557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2–5M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468880" y="3547872"/>
            <a:ext cx="6858000" cy="2743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6" name="Text 13"/>
          <p:cNvSpPr/>
          <p:nvPr/>
        </p:nvSpPr>
        <p:spPr>
          <a:xfrm>
            <a:off x="9418320" y="346557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 dager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" y="394106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5M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468880" y="4023360"/>
            <a:ext cx="2065663" cy="274320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9" name="Text 16"/>
          <p:cNvSpPr/>
          <p:nvPr/>
        </p:nvSpPr>
        <p:spPr>
          <a:xfrm>
            <a:off x="4625983" y="394106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dager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" y="4572000"/>
            <a:ext cx="109728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1" name="Text 18"/>
          <p:cNvSpPr/>
          <p:nvPr/>
        </p:nvSpPr>
        <p:spPr>
          <a:xfrm>
            <a:off x="822960" y="46634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2–5M-klassen: </a:t>
            </a: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tregest å selge (35 % innen 180 dager) — og samtidig klassen der prisreduksjon kommer senest. Vi venter lengst der det haster mest.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3" name="Text 20"/>
          <p:cNvSpPr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FORSLAG: 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Tidligere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etablere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vår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felles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utålmodighet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endringer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Èn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uke, to?— en planlagt samtale med selger, ikke et automatisk kutt.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5" name="Text 22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Halvårsmøte  |  3. august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06 · FOKUS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Sindre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H2-MÅL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1 300 k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6576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SIDEN 1. JULI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k · 2 salg · 9 %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2400" y="1828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PORTEFØLJE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aktive oppdrag · forventet verdi ~1,0M*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4" name="Text 11"/>
          <p:cNvSpPr/>
          <p:nvPr/>
        </p:nvSpPr>
        <p:spPr>
          <a:xfrm>
            <a:off x="822960" y="2926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01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32004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Vurdere prisreduksjon tidligere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22960" y="40233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prisvurdering 4–6 uker etter publisering for båter over 2M.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" y="46634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Porteføljen din er dominert av få, store objekter — i klassen som selger tregest. I dag venter vi i snitt nesten 3 måneder før første prisjustering der.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2834640"/>
            <a:ext cx="530352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9" name="Text 16"/>
          <p:cNvSpPr/>
          <p:nvPr/>
        </p:nvSpPr>
        <p:spPr>
          <a:xfrm>
            <a:off x="6400800" y="2926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02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0" y="32004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Godkjenning av rabatter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400800" y="40233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Provisjon under 6 % / 45k skal godkjennes av Sindre før oppdragsavtalen signeres.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0" y="46634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av 38 salg i H1 gikk under standard provisjon. Standardsatsen er der for at hvert salg skal bære sin del av jobben som legges ned.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Forventet verdi = porteføljen vektet med historisk salgssannsynlighet per prisklasse og alder — det porteføljen realistisk gir i H2.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5" name="Text 22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Halvårsmøte  |  3. august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06 · FOKUS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Henrik + Marte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H2-MÅL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1 300 k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6576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SIDEN 1. JULI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B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 k · 5 salg · 19 %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2400" y="1828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PORTEFØLJE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aktive oppdrag · forventet verdi ~0,9M*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2834640"/>
            <a:ext cx="109728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4" name="Text 11"/>
          <p:cNvSpPr/>
          <p:nvPr/>
        </p:nvSpPr>
        <p:spPr>
          <a:xfrm>
            <a:off x="822960" y="2926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· BEFARINGER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32004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Marte booker. Henrik gjennomfører og lukker.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Hver befaring avsluttes med at neste steg er avtalt: nytt møte, verdivurdering eller kontraktsutkast. Ingen befaring uten avtalt oppfølging.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" y="44348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ANDEL AV OPPDRAGSDIALOGER SOM NÅR BEFARING (ESTIMAT)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2960" y="47548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Henrik + Marte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00400" y="4828032"/>
            <a:ext cx="5486400" cy="219456"/>
          </a:xfrm>
          <a:prstGeom prst="rect">
            <a:avLst/>
          </a:prstGeom>
          <a:solidFill>
            <a:srgbClr val="EBE5D2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0" name="Shape 17"/>
          <p:cNvSpPr/>
          <p:nvPr/>
        </p:nvSpPr>
        <p:spPr>
          <a:xfrm>
            <a:off x="3200400" y="4828032"/>
            <a:ext cx="1536192" cy="219456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1" name="Text 18"/>
          <p:cNvSpPr/>
          <p:nvPr/>
        </p:nvSpPr>
        <p:spPr>
          <a:xfrm>
            <a:off x="8869680" y="47548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28 %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22960" y="51206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200400" y="5193792"/>
            <a:ext cx="5486400" cy="219456"/>
          </a:xfrm>
          <a:prstGeom prst="rect">
            <a:avLst/>
          </a:prstGeom>
          <a:solidFill>
            <a:srgbClr val="EBE5D2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4" name="Shape 21"/>
          <p:cNvSpPr/>
          <p:nvPr/>
        </p:nvSpPr>
        <p:spPr>
          <a:xfrm>
            <a:off x="3200400" y="5193792"/>
            <a:ext cx="2852928" cy="219456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5" name="Text 22"/>
          <p:cNvSpPr/>
          <p:nvPr/>
        </p:nvSpPr>
        <p:spPr>
          <a:xfrm>
            <a:off x="8869680" y="51206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52 %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22960" y="5486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Sindre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200400" y="5559552"/>
            <a:ext cx="5486400" cy="219456"/>
          </a:xfrm>
          <a:prstGeom prst="rect">
            <a:avLst/>
          </a:prstGeom>
          <a:solidFill>
            <a:srgbClr val="EBE5D2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8" name="Shape 25"/>
          <p:cNvSpPr/>
          <p:nvPr/>
        </p:nvSpPr>
        <p:spPr>
          <a:xfrm>
            <a:off x="3200400" y="5559552"/>
            <a:ext cx="4059936" cy="219456"/>
          </a:xfrm>
          <a:prstGeom prst="rect">
            <a:avLst/>
          </a:prstGeom>
          <a:solidFill>
            <a:srgbClr val="5B8A6F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9" name="Text 26"/>
          <p:cNvSpPr/>
          <p:nvPr/>
        </p:nvSpPr>
        <p:spPr>
          <a:xfrm>
            <a:off x="8869680" y="54864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74 %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22960" y="58704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 — befaringer logges i dag mangelfullt. Fra august logger vi alle befaringer i HubSpot, så tallene blir sikre fremover.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Forventet verdi = porteføljen vektet med historisk salgssannsynlighet per prisklasse og alder.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3" name="Text 30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Halvårsmøte  |  3. august 2026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06 · FOKUS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Daniel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H2-MÅL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 k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6576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SIDEN 1. JULI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k · 1 salg · 5 %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2400" y="1828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PORTEFØLJE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aktive oppdrag · forventet verdi ~0,3M*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2834640"/>
            <a:ext cx="109728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4" name="Text 11"/>
          <p:cNvSpPr/>
          <p:nvPr/>
        </p:nvSpPr>
        <p:spPr>
          <a:xfrm>
            <a:off x="822960" y="2926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· NYE OPPDRAG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32004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 volumet oppe — ring mer målrettet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Porteføljen din dekker ikke H2-målet alene — du trenger rundt 12 nye oppdrag før midten av oktober. Nøkkelen er ikke flere samtaler, men bedre utvalg av hvem du ringer.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2960" y="4526280"/>
            <a:ext cx="3383280" cy="1463040"/>
          </a:xfrm>
          <a:prstGeom prst="rect">
            <a:avLst/>
          </a:prstGeom>
          <a:solidFill>
            <a:srgbClr val="F5F2EB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8" name="Text 15"/>
          <p:cNvSpPr/>
          <p:nvPr/>
        </p:nvSpPr>
        <p:spPr>
          <a:xfrm>
            <a:off x="822960" y="45720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494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822960" y="52852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SAMTALER I H1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22960" y="55961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klart størst volum på teamet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389120" y="4526280"/>
            <a:ext cx="3383280" cy="1463040"/>
          </a:xfrm>
          <a:prstGeom prst="rect">
            <a:avLst/>
          </a:prstGeom>
          <a:solidFill>
            <a:srgbClr val="F5F2EB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2" name="Text 19"/>
          <p:cNvSpPr/>
          <p:nvPr/>
        </p:nvSpPr>
        <p:spPr>
          <a:xfrm>
            <a:off x="4389120" y="45720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4 %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4389120" y="52852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OPPDRAGSDIALOG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389120" y="55961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ligger potensialet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955280" y="4526280"/>
            <a:ext cx="3383280" cy="1463040"/>
          </a:xfrm>
          <a:prstGeom prst="rect">
            <a:avLst/>
          </a:prstGeom>
          <a:solidFill>
            <a:srgbClr val="F5F2EB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6" name="Text 23"/>
          <p:cNvSpPr/>
          <p:nvPr/>
        </p:nvSpPr>
        <p:spPr>
          <a:xfrm>
            <a:off x="7955280" y="45720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~12</a:t>
            </a:r>
            <a:endParaRPr lang="en-US" sz="3200" dirty="0"/>
          </a:p>
        </p:txBody>
      </p:sp>
      <p:sp>
        <p:nvSpPr>
          <p:cNvPr id="27" name="Text 24"/>
          <p:cNvSpPr/>
          <p:nvPr/>
        </p:nvSpPr>
        <p:spPr>
          <a:xfrm>
            <a:off x="7955280" y="52852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 OPPDRAG TRENGS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955280" y="55961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før midten av oktober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Forventet verdi = porteføljen vektet med historisk salgssannsynlighet per prisklasse og alder.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1" name="Text 28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Halvårsmøte  |  3. august 2026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07 · UKE 32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Mål denne uka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UKEMÅL PER MEGLER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1645920" cy="4572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8" name="Text 5"/>
          <p:cNvSpPr/>
          <p:nvPr/>
        </p:nvSpPr>
        <p:spPr>
          <a:xfrm>
            <a:off x="640080" y="2148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Megler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286000" y="2148840"/>
            <a:ext cx="2194560" cy="4572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0" name="Text 7"/>
          <p:cNvSpPr/>
          <p:nvPr/>
        </p:nvSpPr>
        <p:spPr>
          <a:xfrm>
            <a:off x="228600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80560" y="2148840"/>
            <a:ext cx="2194560" cy="4572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2" name="Text 9"/>
          <p:cNvSpPr/>
          <p:nvPr/>
        </p:nvSpPr>
        <p:spPr>
          <a:xfrm>
            <a:off x="448056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Befaringer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75120" y="2148840"/>
            <a:ext cx="2286000" cy="4572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4" name="Text 11"/>
          <p:cNvSpPr/>
          <p:nvPr/>
        </p:nvSpPr>
        <p:spPr>
          <a:xfrm>
            <a:off x="667512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 oppdrag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961120" y="2148840"/>
            <a:ext cx="1371600" cy="4572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6" name="Text 13"/>
          <p:cNvSpPr/>
          <p:nvPr/>
        </p:nvSpPr>
        <p:spPr>
          <a:xfrm>
            <a:off x="896112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2606040"/>
            <a:ext cx="103327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8" name="Text 15"/>
          <p:cNvSpPr/>
          <p:nvPr/>
        </p:nvSpPr>
        <p:spPr>
          <a:xfrm>
            <a:off x="64008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Sindre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286000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480560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675120" y="2606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961120" y="2606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0080" y="3063240"/>
            <a:ext cx="10332720" cy="457200"/>
          </a:xfrm>
          <a:prstGeom prst="rect">
            <a:avLst/>
          </a:prstGeom>
          <a:solidFill>
            <a:srgbClr val="F0EBDD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4" name="Text 21"/>
          <p:cNvSpPr/>
          <p:nvPr/>
        </p:nvSpPr>
        <p:spPr>
          <a:xfrm>
            <a:off x="640080" y="3063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Henrik + Marte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286000" y="3063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algn="ctr"/>
            <a:r>
              <a:rPr lang="en-US" sz="1300" dirty="0">
                <a:solidFill>
                  <a:srgbClr val="15233A"/>
                </a:solidFill>
                <a:latin typeface="Calibri" pitchFamily="34" charset="0"/>
                <a:cs typeface="Calibri" pitchFamily="34" charset="-120"/>
              </a:rPr>
              <a:t>35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480560" y="3063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675120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96112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40080" y="3520440"/>
            <a:ext cx="103327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0" name="Text 27"/>
          <p:cNvSpPr/>
          <p:nvPr/>
        </p:nvSpPr>
        <p:spPr>
          <a:xfrm>
            <a:off x="64008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228600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48056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675120" y="3520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961120" y="3520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40080" y="4114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Fylles inn i møtet. Befaringer logges i HubSpot fra og med denne uken.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7" name="Text 34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Halvårsmøte  |  3. august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Til diskusjon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Saker fra teamet — fylles ut i møtet.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10972800" cy="777240"/>
          </a:xfrm>
          <a:prstGeom prst="rect">
            <a:avLst/>
          </a:prstGeom>
          <a:ln w="12700">
            <a:solidFill>
              <a:srgbClr val="2A4670"/>
            </a:solidFill>
            <a:prstDash val="dash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2A46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72800" cy="777240"/>
          </a:xfrm>
          <a:prstGeom prst="rect">
            <a:avLst/>
          </a:prstGeom>
          <a:ln w="12700">
            <a:solidFill>
              <a:srgbClr val="2A4670"/>
            </a:solidFill>
            <a:prstDash val="dash"/>
          </a:ln>
        </p:spPr>
        <p:txBody>
          <a:bodyPr/>
          <a:lstStyle/>
          <a:p>
            <a:endParaRPr lang="en-NO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2A46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40080" y="4297680"/>
            <a:ext cx="10972800" cy="777240"/>
          </a:xfrm>
          <a:prstGeom prst="rect">
            <a:avLst/>
          </a:prstGeom>
          <a:ln w="12700">
            <a:solidFill>
              <a:srgbClr val="2A4670"/>
            </a:solidFill>
            <a:prstDash val="dash"/>
          </a:ln>
        </p:spPr>
        <p:txBody>
          <a:bodyPr/>
          <a:lstStyle/>
          <a:p>
            <a:endParaRPr lang="en-NO"/>
          </a:p>
        </p:txBody>
      </p:sp>
      <p:sp>
        <p:nvSpPr>
          <p:cNvPr id="12" name="Text 9"/>
          <p:cNvSpPr/>
          <p:nvPr/>
        </p:nvSpPr>
        <p:spPr>
          <a:xfrm>
            <a:off x="822960" y="4434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2A46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40080" y="5212080"/>
            <a:ext cx="10972800" cy="777240"/>
          </a:xfrm>
          <a:prstGeom prst="rect">
            <a:avLst/>
          </a:prstGeom>
          <a:ln w="12700">
            <a:solidFill>
              <a:srgbClr val="2A4670"/>
            </a:solidFill>
            <a:prstDash val="dash"/>
          </a:ln>
        </p:spPr>
        <p:txBody>
          <a:bodyPr/>
          <a:lstStyle/>
          <a:p>
            <a:endParaRPr lang="en-NO"/>
          </a:p>
        </p:txBody>
      </p:sp>
      <p:sp>
        <p:nvSpPr>
          <p:cNvPr id="14" name="Text 11"/>
          <p:cNvSpPr/>
          <p:nvPr/>
        </p:nvSpPr>
        <p:spPr>
          <a:xfrm>
            <a:off x="822960" y="5349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2A46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Halvårsmøte  |  3. august 2026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2934</Words>
  <Application>Microsoft Macintosh PowerPoint</Application>
  <PresentationFormat>Widescreen</PresentationFormat>
  <Paragraphs>326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Halvårsmøte HoY — 3. august 2026</dc:title>
  <dc:subject>PptxGenJS Presentation</dc:subject>
  <dc:creator>House of Yachts</dc:creator>
  <cp:lastModifiedBy>Sindre Jacobsen</cp:lastModifiedBy>
  <cp:revision>2</cp:revision>
  <dcterms:created xsi:type="dcterms:W3CDTF">2026-08-03T06:37:41Z</dcterms:created>
  <dcterms:modified xsi:type="dcterms:W3CDTF">2026-08-03T07:38:39Z</dcterms:modified>
</cp:coreProperties>
</file>