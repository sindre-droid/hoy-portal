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 1 min
"I dag gjør vi to ting: først en kort status og de nye målene for høsten.
Deretter bruker vi resten av tiden på en workshop for Henrik og Marte —
hvordan vi rigger arbeidet så det blir håndterbart med flere oppdrag."
Tonen: fremover, praktisk, ingen dramatikk rundt Daniels exit.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 1 min
To deler:
Del 1 (ca. 25 min): status, nye H2-mål, omfordeling av oppdrag, ukens operative punkter.
Del 2 (ca. 2 timer): workshop for Henrik og Marte — nytt arbeidssystem.
Si eksplisitt: "Workshoppen handler ikke om at noen gjør en dårlig jobb.
Overveldelse er et systemproblem, ikke et menneskeproblem. Vi bygger systemet sammen."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 5 min
Fra oppgjørslisten per 16. august (49 salg YTD, alle tall verifisert):
• Henrik + Marte: 356k i H2 — 8 salg siden 1. juli. OVER planen. Gi full anerkjennelse.
• Sindre: 113k i H2 — bak egen plan etter ferien, tar det igjen nå.
• Daniel: går ut med 68k i H2.
"Henrik og Marte har båret sommeren. Det skal dere 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NYE MÅL — 5 min
"Med Daniel ute justerer vi H2-målene. Ikke ved å dele hans mål på dere to —
det ville vært håp, ikke plan. Vi setter et mål som er offensivt men ærlig."
• Sindre: 1 400k for hele H2 (var 1 300k) — løftes fordi jeg overtar flere store objekter
• Henrik + Marte: 1 500k (var 1 300k) — løftes med volumbåtene fra Daniel
• Selskap: 2,9M i H2 → helår ~5,2M = +6,5 % vs 2025. Fortsatt rekordår.
Hvis noen spør hvorfor ikke 3,4M fortsatt: "Å late som Daniels gjenstående mål
kan absorberes av to personer er ikke en plan. 2,9M er offensivt nok — det krever
at vi slår porteføljeforventningen og at september-inntaket treffer."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OMFORDELING — 5 min
11 aktive oppdrag fordeles etter styrke:
• Sindre (3): de store + Cormate-relasjonen
• Henrik (8): volumbåtene under 2M — hans beste segment
VIKTIG BESKJED: "Hver selger skal kontaktes personlig av ny ansvarlig megler innen
én uke — med en oppdatert prisvurdering som samtaleåpner. Avtalene er med selskapet,
så ingen resignering trengs. Men relasjonen må overtas aktivt, ikke bare på papiret."
Praktisk: fordel kontaktlisten i dag, sett frist fredag.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UKENS OPERATIVE PUNKTER — 5 min
1) PRISVURDERINGS-RUNDE: alle båter over 2M som har stått 90+ dager uten prisjustering.
   Sindres bok har de eldste: Riva Dolceriva (817 dager!), Pardo 43 (808), Nimbus T11 (791),
   Windy Camira (767) — pluss Hydrolift-en fra Daniel (342).
   Hver av disse: enten justere pris sammen med selger, eller avslutte oppdraget.
2) STOREBRO GRAND SERIES 62 (26063): fortsatt ikke publisert — 53 dager etter signering.
   Målet er 7 dager. Denne må ut denne uken.
3) SEPTEMBER-INNTAK: alt som signeres nå og i september kan fortsatt selges i år.
   Etter midten av oktober planlegges nytt inntak for vårsalg 2027.
(26060 Grand G850 mangler salgssum i oppgjørsarket — fikser selv, ikke møtesak.)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INTRO — 5 min
Si dette høyt, ordrett gjerne:
"Målet med de neste to timene er tre ting:
1. Henrik skal vite nøyaktig hva han eier — og hva han IKKE eier.
2. Marte skal vite nøyaktig hvordan hun avlaster og backer opp.
3. Vi skal ha en realistisk ukeplan og en enkel struktur, så det føles håndterbart.
Ingen skyld. Overveldelse er nesten alltid et systemproblem, ikke et menneskeproblem.
Vi skal ikke bli tøffere — vi skal få ting ut av hodet, kutte, og sette klare spilleregler."
Praktisk: tavle eller post-its klart. Mobilene bort. Sindre fasiliterer, skriver ikke selv.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DEL 1 — KARTLEGG ALT ARBEIDET (30–40 min)
Fasiliteringstips:
• Henrik først, Marte etterpå. Ikke diskuter underveis — bare få alt ut.
• Én post-it per oppgave. Sindre stiller oppfølgingsspørsmål ("hva mer?", "hva med
  det du gjør søndag kveld?") til det er tomt.
• Energi-merkingen er viktig: − (tapper) oppgavene er kandidater for flytting/kutt.
• "Må det gjøres av Henrik?" — vær streng her. "Vet ikke" er et helt OK svar nå.
Til slutt: grupper post-its i de seks prosessene. Da ser dere HVOR trykket ligger.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DEL 2 — FORDEL ANSVAR OG KUTT (40 min)
Gå gjennom post-it for post-it. Tre kolonner på tavlen:
STOPPE — SYSTEMATISERE — FORTSETTE.
Regler:
• Én eier per oppgave (H eller M). "Vi deler" er ikke et svar.
• Støtte kan defineres, men eieren har ansvaret.
• "Slik ser det bra ut" — én setning per oppgave. Kvalitetsstandard uten å skrive manual.
Avslutt med det viktigste: velg 3–5 KJERNEANSVAR som Henrik måles på.
Naturlige kandidater fra dataene: befaringer, forhandling/lukking, nøkkelkunder.
Alt annet: flyttes til Marte, systematiseres eller kuttes.
"Overveldelse er for mange åpne looper. Nå lukker vi dem."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DEL 3 — UKESRYTME OG SPILLEREGLER (30–40 min)
Fire ting skal ut av dette steget:
1) HENRIKS UKEPLAN: faste blokker for befaring, visning, admin og oppfølging —
   og minst 2 × 2 timer uforstyrret fokustid. Legg den faktisk inn i kalenderen nå.
2) KOMMUNIKASJONSRYTME:
   • 15 min stå-opp-møte hver morgen (status, hindringer, fordeling av dagen)
   • 45–60 min planleggingsmøte hver mandag
3) ÉN FELLES INNBOKS: velg ETT sted (tavle/Notion/annet) hvor alt nytt legges inn.
   Regelen: ingen "har du to minutter?" — alt inn via innboksen eller møtene,
   med mindre det er akutt.
4) WIP-GRENSE for Henrik: maks X aktive saker samtidig — resten står i kø.
   La Henrik sette tallet selv, men få det ned på papir.
Avtal til slutt: vi tester dette i 30 dager uten å endre på det, så evaluerer 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ETTER WORKSHOPPEN — 5 min
Tre ting dokumenteres (Marte kan eie dokumentasjonen):
1. Rolle- og ansvarsark for Henrik og Marte — én side
2. Henriks ukeplan — i kalenderen
3. Listen over ting dere slutter med — like viktig som resten!
Og så AVTALEN, si den høyt:
"Vi tester dette i 30 dager uten å pirke på det. Midt i september evaluerer vi:
hva funker, hva justerer vi. Ikke nye systemer før det."
Kobling til målene: dette systemet er det som gjør 1,5M-målet håndterbart
med 8 nye oppdrag inn.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AVSLUTNING — 5 min
Diverse-saker fra teamet i boksene.
Oppsummer dagen:
"Nye mål: Sindre 1,4M, Henrik og Marte 1,5M. Daniels oppdrag har fått ny eier og
selgerne kontaktes denne uken. Og Henrik og Marte har et nytt arbeidssystem som
testes i 30 dager. September blir avgjørende — og vi er godt i gang."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A"/>
        </a:solidFill>
      </p:bgPr>
    </p:bg>
    <p:spTree>
      <p:nvGrpSpPr>
        <p:cNvPr id="1" name=""/>
        <p:cNvGrpSpPr/>
        <p:nvPr/>
      </p:nvGrpSpPr>
      <p:grpSpPr>
        <a:xfrm>
          <a:off x="0" y="0"/>
          <a:ext cx="0" cy="0"/>
          <a:chOff x="0" y="0"/>
          <a:chExt cx="0" cy="0"/>
        </a:xfrm>
      </p:grpSpPr>
      <p:sp>
        <p:nvSpPr>
          <p:cNvPr id="3" name="Shape 0"/>
          <p:cNvSpPr/>
          <p:nvPr/>
        </p:nvSpPr>
        <p:spPr>
          <a:xfrm>
            <a:off x="0" y="0"/>
            <a:ext cx="12191695" cy="137160"/>
          </a:xfrm>
          <a:prstGeom prst="rect">
            <a:avLst/>
          </a:prstGeom>
          <a:solidFill>
            <a:srgbClr val="C9A961"/>
          </a:solidFill>
          <a:ln/>
        </p:spPr>
      </p:sp>
      <p:sp>
        <p:nvSpPr>
          <p:cNvPr id="4" name="Shape 1"/>
          <p:cNvSpPr/>
          <p:nvPr/>
        </p:nvSpPr>
        <p:spPr>
          <a:xfrm>
            <a:off x="640080" y="2697480"/>
            <a:ext cx="548640" cy="0"/>
          </a:xfrm>
          <a:prstGeom prst="line">
            <a:avLst/>
          </a:prstGeom>
          <a:noFill/>
          <a:ln w="25400">
            <a:solidFill>
              <a:srgbClr val="C9A961"/>
            </a:solidFill>
            <a:prstDash val="solid"/>
          </a:ln>
        </p:spPr>
      </p:sp>
      <p:sp>
        <p:nvSpPr>
          <p:cNvPr id="5" name="Text 2"/>
          <p:cNvSpPr/>
          <p:nvPr/>
        </p:nvSpPr>
        <p:spPr>
          <a:xfrm>
            <a:off x="640080" y="457200"/>
            <a:ext cx="7315200" cy="365760"/>
          </a:xfrm>
          <a:prstGeom prst="rect">
            <a:avLst/>
          </a:prstGeom>
          <a:noFill/>
          <a:ln/>
        </p:spPr>
        <p:txBody>
          <a:bodyPr wrap="square" rtlCol="0" anchor="ctr"/>
          <a:lstStyle/>
          <a:p>
            <a:pPr indent="0" marL="0">
              <a:buNone/>
            </a:pPr>
            <a:r>
              <a:rPr lang="en-US" sz="1400" b="1" spc="800" kern="0" dirty="0">
                <a:solidFill>
                  <a:srgbClr val="C9A961"/>
                </a:solidFill>
                <a:latin typeface="Calibri" pitchFamily="34" charset="0"/>
                <a:ea typeface="Calibri" pitchFamily="34" charset="-122"/>
                <a:cs typeface="Calibri" pitchFamily="34" charset="-120"/>
              </a:rPr>
              <a:t>HOUSE OF YACHTS</a:t>
            </a:r>
            <a:endParaRPr lang="en-US" sz="1400" dirty="0"/>
          </a:p>
        </p:txBody>
      </p:sp>
      <p:sp>
        <p:nvSpPr>
          <p:cNvPr id="6" name="Text 3"/>
          <p:cNvSpPr/>
          <p:nvPr/>
        </p:nvSpPr>
        <p:spPr>
          <a:xfrm>
            <a:off x="640080" y="1371600"/>
            <a:ext cx="10972800" cy="914400"/>
          </a:xfrm>
          <a:prstGeom prst="rect">
            <a:avLst/>
          </a:prstGeom>
          <a:noFill/>
          <a:ln/>
        </p:spPr>
        <p:txBody>
          <a:bodyPr wrap="square" rtlCol="0" anchor="ctr"/>
          <a:lstStyle/>
          <a:p>
            <a:pPr indent="0" marL="0">
              <a:buNone/>
            </a:pPr>
            <a:r>
              <a:rPr lang="en-US" sz="5400" i="1" dirty="0">
                <a:solidFill>
                  <a:srgbClr val="FFFFFF"/>
                </a:solidFill>
                <a:latin typeface="Georgia" pitchFamily="34" charset="0"/>
                <a:ea typeface="Georgia" pitchFamily="34" charset="-122"/>
                <a:cs typeface="Georgia" pitchFamily="34" charset="-120"/>
              </a:rPr>
              <a:t>Mandagsmøte</a:t>
            </a:r>
            <a:endParaRPr lang="en-US" sz="5400" dirty="0"/>
          </a:p>
        </p:txBody>
      </p:sp>
      <p:sp>
        <p:nvSpPr>
          <p:cNvPr id="7" name="Text 4"/>
          <p:cNvSpPr/>
          <p:nvPr/>
        </p:nvSpPr>
        <p:spPr>
          <a:xfrm>
            <a:off x="640080" y="2788920"/>
            <a:ext cx="10972800" cy="548640"/>
          </a:xfrm>
          <a:prstGeom prst="rect">
            <a:avLst/>
          </a:prstGeom>
          <a:noFill/>
          <a:ln/>
        </p:spPr>
        <p:txBody>
          <a:bodyPr wrap="square" rtlCol="0" anchor="ctr"/>
          <a:lstStyle/>
          <a:p>
            <a:pPr indent="0" marL="0">
              <a:buNone/>
            </a:pPr>
            <a:r>
              <a:rPr lang="en-US" sz="2600" dirty="0">
                <a:solidFill>
                  <a:srgbClr val="C9A961"/>
                </a:solidFill>
                <a:latin typeface="Georgia" pitchFamily="34" charset="0"/>
                <a:ea typeface="Georgia" pitchFamily="34" charset="-122"/>
                <a:cs typeface="Georgia" pitchFamily="34" charset="-120"/>
              </a:rPr>
              <a:t>Uke 34  ·  ny plan for høsten + workshop</a:t>
            </a:r>
            <a:endParaRPr lang="en-US" sz="2600" dirty="0"/>
          </a:p>
        </p:txBody>
      </p:sp>
      <p:sp>
        <p:nvSpPr>
          <p:cNvPr id="8" name="Text 5"/>
          <p:cNvSpPr/>
          <p:nvPr/>
        </p:nvSpPr>
        <p:spPr>
          <a:xfrm>
            <a:off x="640080" y="3657600"/>
            <a:ext cx="10972800" cy="365760"/>
          </a:xfrm>
          <a:prstGeom prst="rect">
            <a:avLst/>
          </a:prstGeom>
          <a:noFill/>
          <a:ln/>
        </p:spPr>
        <p:txBody>
          <a:bodyPr wrap="square" rtlCol="0" anchor="ctr"/>
          <a:lstStyle/>
          <a:p>
            <a:pPr indent="0" marL="0">
              <a:buNone/>
            </a:pPr>
            <a:r>
              <a:rPr lang="en-US" sz="1800" dirty="0">
                <a:solidFill>
                  <a:srgbClr val="CADCFC"/>
                </a:solidFill>
                <a:latin typeface="Calibri" pitchFamily="34" charset="0"/>
                <a:ea typeface="Calibri" pitchFamily="34" charset="-122"/>
                <a:cs typeface="Calibri" pitchFamily="34" charset="-120"/>
              </a:rPr>
              <a:t>17. august 2026</a:t>
            </a:r>
            <a:endParaRPr lang="en-US" sz="1800" dirty="0"/>
          </a:p>
        </p:txBody>
      </p:sp>
      <p:sp>
        <p:nvSpPr>
          <p:cNvPr id="9" name="Shape 6"/>
          <p:cNvSpPr/>
          <p:nvPr/>
        </p:nvSpPr>
        <p:spPr>
          <a:xfrm>
            <a:off x="7589520" y="4572000"/>
            <a:ext cx="4206240" cy="1463040"/>
          </a:xfrm>
          <a:prstGeom prst="rect">
            <a:avLst/>
          </a:prstGeom>
          <a:solidFill>
            <a:srgbClr val="1B3A66"/>
          </a:solidFill>
          <a:ln w="12700">
            <a:solidFill>
              <a:srgbClr val="C9A961"/>
            </a:solidFill>
            <a:prstDash val="solid"/>
          </a:ln>
        </p:spPr>
      </p:sp>
      <p:sp>
        <p:nvSpPr>
          <p:cNvPr id="10" name="Text 7"/>
          <p:cNvSpPr/>
          <p:nvPr/>
        </p:nvSpPr>
        <p:spPr>
          <a:xfrm>
            <a:off x="7680960" y="4709160"/>
            <a:ext cx="4023360" cy="1188720"/>
          </a:xfrm>
          <a:prstGeom prst="rect">
            <a:avLst/>
          </a:prstGeom>
          <a:noFill/>
          <a:ln/>
        </p:spPr>
        <p:txBody>
          <a:bodyPr wrap="square" rtlCol="0" anchor="ctr"/>
          <a:lstStyle/>
          <a:p>
            <a:pPr algn="l" indent="0" marL="0">
              <a:buNone/>
            </a:pPr>
            <a:r>
              <a:rPr lang="en-US" sz="3600" b="1" dirty="0">
                <a:solidFill>
                  <a:srgbClr val="FFFFFF"/>
                </a:solidFill>
                <a:latin typeface="Georgia" pitchFamily="34" charset="0"/>
                <a:ea typeface="Georgia" pitchFamily="34" charset="-122"/>
                <a:cs typeface="Georgia" pitchFamily="34" charset="-120"/>
              </a:rPr>
              <a:t>2,81 MNOK
</a:t>
            </a:r>
            <a:pPr algn="l" indent="0" marL="0">
              <a:buNone/>
            </a:pPr>
            <a:r>
              <a:rPr lang="en-US" sz="1100" spc="200" kern="0" dirty="0">
                <a:solidFill>
                  <a:srgbClr val="C9A961"/>
                </a:solidFill>
                <a:latin typeface="Calibri" pitchFamily="34" charset="0"/>
                <a:ea typeface="Calibri" pitchFamily="34" charset="-122"/>
                <a:cs typeface="Calibri" pitchFamily="34" charset="-120"/>
              </a:rPr>
              <a:t>omsetning ex.mva  ·  hittil i år</a:t>
            </a:r>
            <a:endParaRPr lang="en-US" sz="3600" dirty="0"/>
          </a:p>
        </p:txBody>
      </p:sp>
      <p:sp>
        <p:nvSpPr>
          <p:cNvPr id="11" name="Text 8"/>
          <p:cNvSpPr/>
          <p:nvPr/>
        </p:nvSpPr>
        <p:spPr>
          <a:xfrm>
            <a:off x="640080" y="5943600"/>
            <a:ext cx="10972800" cy="365760"/>
          </a:xfrm>
          <a:prstGeom prst="rect">
            <a:avLst/>
          </a:prstGeom>
          <a:noFill/>
          <a:ln/>
        </p:spPr>
        <p:txBody>
          <a:bodyPr wrap="square"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49 salg  ·  57,1 MNOK salgssum  ·  fortsatt kurs mot rekordår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B"/>
        </a:solidFill>
      </p:bgPr>
    </p:bg>
    <p:spTree>
      <p:nvGrpSpPr>
        <p:cNvPr id="1" name=""/>
        <p:cNvGrpSpPr/>
        <p:nvPr/>
      </p:nvGrpSpPr>
      <p:grpSpPr>
        <a:xfrm>
          <a:off x="0" y="0"/>
          <a:ext cx="0" cy="0"/>
          <a:chOff x="0" y="0"/>
          <a:chExt cx="0" cy="0"/>
        </a:xfrm>
      </p:grpSpPr>
      <p:sp>
        <p:nvSpPr>
          <p:cNvPr id="3" name="Shape 0"/>
          <p:cNvSpPr/>
          <p:nvPr/>
        </p:nvSpPr>
        <p:spPr>
          <a:xfrm>
            <a:off x="0" y="0"/>
            <a:ext cx="228600" cy="6858000"/>
          </a:xfrm>
          <a:prstGeom prst="rect">
            <a:avLst/>
          </a:prstGeom>
          <a:solidFill>
            <a:srgbClr val="0E2A4A"/>
          </a:solidFill>
          <a:ln/>
        </p:spPr>
      </p:sp>
      <p:sp>
        <p:nvSpPr>
          <p:cNvPr id="4" name="Text 1"/>
          <p:cNvSpPr/>
          <p:nvPr/>
        </p:nvSpPr>
        <p:spPr>
          <a:xfrm>
            <a:off x="640080" y="457200"/>
            <a:ext cx="7315200" cy="457200"/>
          </a:xfrm>
          <a:prstGeom prst="rect">
            <a:avLst/>
          </a:prstGeom>
          <a:noFill/>
          <a:ln/>
        </p:spPr>
        <p:txBody>
          <a:bodyPr wrap="square" rtlCol="0" anchor="ctr"/>
          <a:lstStyle/>
          <a:p>
            <a:pPr indent="0" marL="0">
              <a:buNone/>
            </a:pPr>
            <a:r>
              <a:rPr lang="en-US" sz="1400" b="1" spc="800" kern="0" dirty="0">
                <a:solidFill>
                  <a:srgbClr val="C9A961"/>
                </a:solidFill>
                <a:latin typeface="Calibri" pitchFamily="34" charset="0"/>
                <a:ea typeface="Calibri" pitchFamily="34" charset="-122"/>
                <a:cs typeface="Calibri" pitchFamily="34" charset="-120"/>
              </a:rPr>
              <a:t>AGENDA</a:t>
            </a:r>
            <a:endParaRPr lang="en-US" sz="1400" dirty="0"/>
          </a:p>
        </p:txBody>
      </p:sp>
      <p:sp>
        <p:nvSpPr>
          <p:cNvPr id="5" name="Text 2"/>
          <p:cNvSpPr/>
          <p:nvPr/>
        </p:nvSpPr>
        <p:spPr>
          <a:xfrm>
            <a:off x="640080" y="914400"/>
            <a:ext cx="10972800" cy="640080"/>
          </a:xfrm>
          <a:prstGeom prst="rect">
            <a:avLst/>
          </a:prstGeom>
          <a:noFill/>
          <a:ln/>
        </p:spPr>
        <p:txBody>
          <a:bodyPr wrap="square" rtlCol="0" anchor="ctr"/>
          <a:lstStyle/>
          <a:p>
            <a:pPr indent="0" marL="0">
              <a:buNone/>
            </a:pPr>
            <a:r>
              <a:rPr lang="en-US" sz="3600" i="1" dirty="0">
                <a:solidFill>
                  <a:srgbClr val="15233A"/>
                </a:solidFill>
                <a:latin typeface="Georgia" pitchFamily="34" charset="0"/>
                <a:ea typeface="Georgia" pitchFamily="34" charset="-122"/>
                <a:cs typeface="Georgia" pitchFamily="34" charset="-120"/>
              </a:rPr>
              <a:t>To deler i dag</a:t>
            </a:r>
            <a:endParaRPr lang="en-US" sz="3600" dirty="0"/>
          </a:p>
        </p:txBody>
      </p:sp>
      <p:sp>
        <p:nvSpPr>
          <p:cNvPr id="6" name="Shape 3"/>
          <p:cNvSpPr/>
          <p:nvPr/>
        </p:nvSpPr>
        <p:spPr>
          <a:xfrm>
            <a:off x="640080" y="1828800"/>
            <a:ext cx="5394960" cy="4206240"/>
          </a:xfrm>
          <a:prstGeom prst="rect">
            <a:avLst/>
          </a:prstGeom>
          <a:solidFill>
            <a:srgbClr val="FFFFFF"/>
          </a:solidFill>
          <a:ln w="12700">
            <a:solidFill>
              <a:srgbClr val="D4CBB8"/>
            </a:solidFill>
            <a:prstDash val="solid"/>
          </a:ln>
        </p:spPr>
      </p:sp>
      <p:sp>
        <p:nvSpPr>
          <p:cNvPr id="7" name="Shape 4"/>
          <p:cNvSpPr/>
          <p:nvPr/>
        </p:nvSpPr>
        <p:spPr>
          <a:xfrm>
            <a:off x="640080" y="1828800"/>
            <a:ext cx="5394960" cy="548640"/>
          </a:xfrm>
          <a:prstGeom prst="rect">
            <a:avLst/>
          </a:prstGeom>
          <a:solidFill>
            <a:srgbClr val="0E2A4A"/>
          </a:solidFill>
          <a:ln/>
        </p:spPr>
      </p:sp>
      <p:sp>
        <p:nvSpPr>
          <p:cNvPr id="8" name="Text 5"/>
          <p:cNvSpPr/>
          <p:nvPr/>
        </p:nvSpPr>
        <p:spPr>
          <a:xfrm>
            <a:off x="822960" y="1901952"/>
            <a:ext cx="5029200" cy="411480"/>
          </a:xfrm>
          <a:prstGeom prst="rect">
            <a:avLst/>
          </a:prstGeom>
          <a:noFill/>
          <a:ln/>
        </p:spPr>
        <p:txBody>
          <a:bodyPr wrap="square"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DEL 1 · STATUS OG PLAN  (ca. 25 min)</a:t>
            </a:r>
            <a:endParaRPr lang="en-US" sz="1300" dirty="0"/>
          </a:p>
        </p:txBody>
      </p:sp>
      <p:sp>
        <p:nvSpPr>
          <p:cNvPr id="9" name="Text 6"/>
          <p:cNvSpPr/>
          <p:nvPr/>
        </p:nvSpPr>
        <p:spPr>
          <a:xfrm>
            <a:off x="822960" y="2606040"/>
            <a:ext cx="5029200" cy="3200400"/>
          </a:xfrm>
          <a:prstGeom prst="rect">
            <a:avLst/>
          </a:prstGeom>
          <a:noFill/>
          <a:ln/>
        </p:spPr>
        <p:txBody>
          <a:bodyPr wrap="square" rtlCol="0" anchor="t"/>
          <a:lstStyle/>
          <a:p>
            <a:pPr indent="0" marL="0">
              <a:buNone/>
            </a:pPr>
            <a:r>
              <a:rPr lang="en-US" sz="1500" dirty="0">
                <a:solidFill>
                  <a:srgbClr val="15233A"/>
                </a:solidFill>
                <a:latin typeface="Calibri" pitchFamily="34" charset="0"/>
                <a:ea typeface="Calibri" pitchFamily="34" charset="-122"/>
                <a:cs typeface="Calibri" pitchFamily="34" charset="-120"/>
              </a:rPr>
              <a:t>01   Status per 16. august</a:t>
            </a:r>
            <a:endParaRPr lang="en-US" sz="1500" dirty="0"/>
          </a:p>
          <a:p>
            <a:pPr indent="0" marL="0">
              <a:buNone/>
            </a:pPr>
            <a:endParaRPr lang="en-US" sz="1500" dirty="0"/>
          </a:p>
          <a:p>
            <a:pPr indent="0" marL="0">
              <a:buNone/>
            </a:pPr>
            <a:r>
              <a:rPr lang="en-US" sz="1500" dirty="0">
                <a:solidFill>
                  <a:srgbClr val="15233A"/>
                </a:solidFill>
                <a:latin typeface="Calibri" pitchFamily="34" charset="0"/>
                <a:ea typeface="Calibri" pitchFamily="34" charset="-122"/>
                <a:cs typeface="Calibri" pitchFamily="34" charset="-120"/>
              </a:rPr>
              <a:t>02   Nye mål for høsten</a:t>
            </a:r>
            <a:endParaRPr lang="en-US" sz="1500" dirty="0"/>
          </a:p>
          <a:p>
            <a:pPr indent="0" marL="0">
              <a:buNone/>
            </a:pPr>
            <a:endParaRPr lang="en-US" sz="1500" dirty="0"/>
          </a:p>
          <a:p>
            <a:pPr indent="0" marL="0">
              <a:buNone/>
            </a:pPr>
            <a:r>
              <a:rPr lang="en-US" sz="1500" dirty="0">
                <a:solidFill>
                  <a:srgbClr val="15233A"/>
                </a:solidFill>
                <a:latin typeface="Calibri" pitchFamily="34" charset="0"/>
                <a:ea typeface="Calibri" pitchFamily="34" charset="-122"/>
                <a:cs typeface="Calibri" pitchFamily="34" charset="-120"/>
              </a:rPr>
              <a:t>03   Fordeling av Daniels oppdrag</a:t>
            </a:r>
            <a:endParaRPr lang="en-US" sz="1500" dirty="0"/>
          </a:p>
          <a:p>
            <a:pPr indent="0" marL="0">
              <a:buNone/>
            </a:pPr>
            <a:endParaRPr lang="en-US" sz="1500" dirty="0"/>
          </a:p>
          <a:p>
            <a:pPr indent="0" marL="0">
              <a:buNone/>
            </a:pPr>
            <a:r>
              <a:rPr lang="en-US" sz="1500" dirty="0">
                <a:solidFill>
                  <a:srgbClr val="15233A"/>
                </a:solidFill>
                <a:latin typeface="Calibri" pitchFamily="34" charset="0"/>
                <a:ea typeface="Calibri" pitchFamily="34" charset="-122"/>
                <a:cs typeface="Calibri" pitchFamily="34" charset="-120"/>
              </a:rPr>
              <a:t>04   Ukens operative punkter</a:t>
            </a:r>
            <a:endParaRPr lang="en-US" sz="1500" dirty="0"/>
          </a:p>
        </p:txBody>
      </p:sp>
      <p:sp>
        <p:nvSpPr>
          <p:cNvPr id="10" name="Shape 7"/>
          <p:cNvSpPr/>
          <p:nvPr/>
        </p:nvSpPr>
        <p:spPr>
          <a:xfrm>
            <a:off x="6217920" y="1828800"/>
            <a:ext cx="5303520" cy="4206240"/>
          </a:xfrm>
          <a:prstGeom prst="rect">
            <a:avLst/>
          </a:prstGeom>
          <a:solidFill>
            <a:srgbClr val="FFFFFF"/>
          </a:solidFill>
          <a:ln w="25400">
            <a:solidFill>
              <a:srgbClr val="C9A961"/>
            </a:solidFill>
            <a:prstDash val="solid"/>
          </a:ln>
        </p:spPr>
      </p:sp>
      <p:sp>
        <p:nvSpPr>
          <p:cNvPr id="11" name="Shape 8"/>
          <p:cNvSpPr/>
          <p:nvPr/>
        </p:nvSpPr>
        <p:spPr>
          <a:xfrm>
            <a:off x="6217920" y="1828800"/>
            <a:ext cx="5303520" cy="548640"/>
          </a:xfrm>
          <a:prstGeom prst="rect">
            <a:avLst/>
          </a:prstGeom>
          <a:solidFill>
            <a:srgbClr val="C9A961"/>
          </a:solidFill>
          <a:ln/>
        </p:spPr>
      </p:sp>
      <p:sp>
        <p:nvSpPr>
          <p:cNvPr id="12" name="Text 9"/>
          <p:cNvSpPr/>
          <p:nvPr/>
        </p:nvSpPr>
        <p:spPr>
          <a:xfrm>
            <a:off x="6400800" y="1901952"/>
            <a:ext cx="5029200" cy="411480"/>
          </a:xfrm>
          <a:prstGeom prst="rect">
            <a:avLst/>
          </a:prstGeom>
          <a:noFill/>
          <a:ln/>
        </p:spPr>
        <p:txBody>
          <a:bodyPr wrap="square" rtlCol="0" anchor="ctr"/>
          <a:lstStyle/>
          <a:p>
            <a:pPr indent="0" marL="0">
              <a:buNone/>
            </a:pPr>
            <a:r>
              <a:rPr lang="en-US" sz="1300" b="1" spc="200" kern="0" dirty="0">
                <a:solidFill>
                  <a:srgbClr val="0E2A4A"/>
                </a:solidFill>
                <a:latin typeface="Calibri" pitchFamily="34" charset="0"/>
                <a:ea typeface="Calibri" pitchFamily="34" charset="-122"/>
                <a:cs typeface="Calibri" pitchFamily="34" charset="-120"/>
              </a:rPr>
              <a:t>DEL 2 · WORKSHOP  (ca. 2 timer)</a:t>
            </a:r>
            <a:endParaRPr lang="en-US" sz="1300" dirty="0"/>
          </a:p>
        </p:txBody>
      </p:sp>
      <p:sp>
        <p:nvSpPr>
          <p:cNvPr id="13" name="Text 10"/>
          <p:cNvSpPr/>
          <p:nvPr/>
        </p:nvSpPr>
        <p:spPr>
          <a:xfrm>
            <a:off x="6400800" y="2606040"/>
            <a:ext cx="5029200" cy="3200400"/>
          </a:xfrm>
          <a:prstGeom prst="rect">
            <a:avLst/>
          </a:prstGeom>
          <a:noFill/>
          <a:ln/>
        </p:spPr>
        <p:txBody>
          <a:bodyPr wrap="square" rtlCol="0" anchor="t"/>
          <a:lstStyle/>
          <a:p>
            <a:pPr indent="0" marL="0">
              <a:buNone/>
            </a:pPr>
            <a:r>
              <a:rPr lang="en-US" sz="1500" dirty="0">
                <a:solidFill>
                  <a:srgbClr val="15233A"/>
                </a:solidFill>
                <a:latin typeface="Calibri" pitchFamily="34" charset="0"/>
                <a:ea typeface="Calibri" pitchFamily="34" charset="-122"/>
                <a:cs typeface="Calibri" pitchFamily="34" charset="-120"/>
              </a:rPr>
              <a:t>Henrik + Marte: nytt arbeidssystem</a:t>
            </a:r>
            <a:endParaRPr lang="en-US" sz="1500" dirty="0"/>
          </a:p>
          <a:p>
            <a:pPr indent="0" marL="0">
              <a:buNone/>
            </a:pPr>
            <a:endParaRPr lang="en-US" sz="1500" dirty="0"/>
          </a:p>
          <a:p>
            <a:pPr indent="0" marL="0">
              <a:buNone/>
            </a:pPr>
            <a:r>
              <a:rPr lang="en-US" sz="1500" dirty="0">
                <a:solidFill>
                  <a:srgbClr val="15233A"/>
                </a:solidFill>
                <a:latin typeface="Calibri" pitchFamily="34" charset="0"/>
                <a:ea typeface="Calibri" pitchFamily="34" charset="-122"/>
                <a:cs typeface="Calibri" pitchFamily="34" charset="-120"/>
              </a:rPr>
              <a:t>1   Kartlegge alt arbeidet  (30–40 min)</a:t>
            </a:r>
            <a:endParaRPr lang="en-US" sz="1500" dirty="0"/>
          </a:p>
          <a:p>
            <a:pPr indent="0" marL="0">
              <a:buNone/>
            </a:pPr>
            <a:endParaRPr lang="en-US" sz="1500" dirty="0"/>
          </a:p>
          <a:p>
            <a:pPr indent="0" marL="0">
              <a:buNone/>
            </a:pPr>
            <a:r>
              <a:rPr lang="en-US" sz="1500" dirty="0">
                <a:solidFill>
                  <a:srgbClr val="15233A"/>
                </a:solidFill>
                <a:latin typeface="Calibri" pitchFamily="34" charset="0"/>
                <a:ea typeface="Calibri" pitchFamily="34" charset="-122"/>
                <a:cs typeface="Calibri" pitchFamily="34" charset="-120"/>
              </a:rPr>
              <a:t>2   Fordele ansvar og kutte  (40 min)</a:t>
            </a:r>
            <a:endParaRPr lang="en-US" sz="1500" dirty="0"/>
          </a:p>
          <a:p>
            <a:pPr indent="0" marL="0">
              <a:buNone/>
            </a:pPr>
            <a:endParaRPr lang="en-US" sz="1500" dirty="0"/>
          </a:p>
          <a:p>
            <a:pPr indent="0" marL="0">
              <a:buNone/>
            </a:pPr>
            <a:r>
              <a:rPr lang="en-US" sz="1500" dirty="0">
                <a:solidFill>
                  <a:srgbClr val="15233A"/>
                </a:solidFill>
                <a:latin typeface="Calibri" pitchFamily="34" charset="0"/>
                <a:ea typeface="Calibri" pitchFamily="34" charset="-122"/>
                <a:cs typeface="Calibri" pitchFamily="34" charset="-120"/>
              </a:rPr>
              <a:t>3   Ny ukesrytme og spilleregler  (30–40 min)</a:t>
            </a:r>
            <a:endParaRPr lang="en-US" sz="1500" dirty="0"/>
          </a:p>
        </p:txBody>
      </p:sp>
      <p:sp>
        <p:nvSpPr>
          <p:cNvPr id="14" name="Shape 11"/>
          <p:cNvSpPr/>
          <p:nvPr/>
        </p:nvSpPr>
        <p:spPr>
          <a:xfrm>
            <a:off x="0" y="6675120"/>
            <a:ext cx="12191695" cy="182880"/>
          </a:xfrm>
          <a:prstGeom prst="rect">
            <a:avLst/>
          </a:prstGeom>
          <a:solidFill>
            <a:srgbClr val="C9A961"/>
          </a:solidFill>
          <a:ln/>
        </p:spPr>
      </p:sp>
      <p:sp>
        <p:nvSpPr>
          <p:cNvPr id="15" name="Text 12"/>
          <p:cNvSpPr/>
          <p:nvPr/>
        </p:nvSpPr>
        <p:spPr>
          <a:xfrm>
            <a:off x="457200" y="6446520"/>
            <a:ext cx="7315200" cy="228600"/>
          </a:xfrm>
          <a:prstGeom prst="rect">
            <a:avLst/>
          </a:prstGeom>
          <a:noFill/>
          <a:ln/>
        </p:spPr>
        <p:txBody>
          <a:bodyPr wrap="square" rtlCol="0" anchor="ctr"/>
          <a:lstStyle/>
          <a:p>
            <a:pPr indent="0" marL="0">
              <a:buNone/>
            </a:pPr>
            <a:r>
              <a:rPr lang="en-US" sz="900" dirty="0">
                <a:solidFill>
                  <a:srgbClr val="4A5A75"/>
                </a:solidFill>
                <a:latin typeface="Calibri" pitchFamily="34" charset="0"/>
                <a:ea typeface="Calibri" pitchFamily="34" charset="-122"/>
                <a:cs typeface="Calibri" pitchFamily="34" charset="-120"/>
              </a:rPr>
              <a:t>House of Yachts  |  Mandagsmøte uke 34  |  17. august 2026</a:t>
            </a:r>
            <a:endParaRPr lang="en-US" sz="900" dirty="0"/>
          </a:p>
        </p:txBody>
      </p:sp>
      <p:sp>
        <p:nvSpPr>
          <p:cNvPr id="16" name="Text 13"/>
          <p:cNvSpPr/>
          <p:nvPr/>
        </p:nvSpPr>
        <p:spPr>
          <a:xfrm>
            <a:off x="10789920" y="6446520"/>
            <a:ext cx="914400" cy="228600"/>
          </a:xfrm>
          <a:prstGeom prst="rect">
            <a:avLst/>
          </a:prstGeom>
          <a:noFill/>
          <a:ln/>
        </p:spPr>
        <p:txBody>
          <a:bodyPr wrap="square" rtlCol="0" anchor="ctr"/>
          <a:lstStyle/>
          <a:p>
            <a:pPr algn="r" indent="0" marL="0">
              <a:buNone/>
            </a:pPr>
            <a:r>
              <a:rPr lang="en-US" sz="900" dirty="0">
                <a:solidFill>
                  <a:srgbClr val="4A5A75"/>
                </a:solidFill>
                <a:latin typeface="Calibri" pitchFamily="34" charset="0"/>
                <a:ea typeface="Calibri" pitchFamily="34" charset="-122"/>
                <a:cs typeface="Calibri" pitchFamily="34" charset="-120"/>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B"/>
        </a:solidFill>
      </p:bgPr>
    </p:bg>
    <p:spTree>
      <p:nvGrpSpPr>
        <p:cNvPr id="1" name=""/>
        <p:cNvGrpSpPr/>
        <p:nvPr/>
      </p:nvGrpSpPr>
      <p:grpSpPr>
        <a:xfrm>
          <a:off x="0" y="0"/>
          <a:ext cx="0" cy="0"/>
          <a:chOff x="0" y="0"/>
          <a:chExt cx="0" cy="0"/>
        </a:xfrm>
      </p:grpSpPr>
      <p:sp>
        <p:nvSpPr>
          <p:cNvPr id="3" name="Shape 0"/>
          <p:cNvSpPr/>
          <p:nvPr/>
        </p:nvSpPr>
        <p:spPr>
          <a:xfrm>
            <a:off x="0" y="0"/>
            <a:ext cx="228600" cy="6858000"/>
          </a:xfrm>
          <a:prstGeom prst="rect">
            <a:avLst/>
          </a:prstGeom>
          <a:solidFill>
            <a:srgbClr val="0E2A4A"/>
          </a:solidFill>
          <a:ln/>
        </p:spPr>
      </p:sp>
      <p:sp>
        <p:nvSpPr>
          <p:cNvPr id="4" name="Text 1"/>
          <p:cNvSpPr/>
          <p:nvPr/>
        </p:nvSpPr>
        <p:spPr>
          <a:xfrm>
            <a:off x="640080" y="457200"/>
            <a:ext cx="9144000" cy="365760"/>
          </a:xfrm>
          <a:prstGeom prst="rect">
            <a:avLst/>
          </a:prstGeom>
          <a:noFill/>
          <a:ln/>
        </p:spPr>
        <p:txBody>
          <a:bodyPr wrap="square" rtlCol="0" anchor="ctr"/>
          <a:lstStyle/>
          <a:p>
            <a:pPr indent="0" marL="0">
              <a:buNone/>
            </a:pPr>
            <a:r>
              <a:rPr lang="en-US" sz="1100" b="1" spc="500" kern="0" dirty="0">
                <a:solidFill>
                  <a:srgbClr val="C9A961"/>
                </a:solidFill>
                <a:latin typeface="Calibri" pitchFamily="34" charset="0"/>
                <a:ea typeface="Calibri" pitchFamily="34" charset="-122"/>
                <a:cs typeface="Calibri" pitchFamily="34" charset="-120"/>
              </a:rPr>
              <a:t>DEL 1 · 01 STATUS</a:t>
            </a:r>
            <a:endParaRPr lang="en-US" sz="1100" dirty="0"/>
          </a:p>
        </p:txBody>
      </p:sp>
      <p:sp>
        <p:nvSpPr>
          <p:cNvPr id="5" name="Text 2"/>
          <p:cNvSpPr/>
          <p:nvPr/>
        </p:nvSpPr>
        <p:spPr>
          <a:xfrm>
            <a:off x="640080" y="822960"/>
            <a:ext cx="10972800" cy="731520"/>
          </a:xfrm>
          <a:prstGeom prst="rect">
            <a:avLst/>
          </a:prstGeom>
          <a:noFill/>
          <a:ln/>
        </p:spPr>
        <p:txBody>
          <a:bodyPr wrap="square" rtlCol="0" anchor="ctr"/>
          <a:lstStyle/>
          <a:p>
            <a:pPr indent="0" marL="0">
              <a:buNone/>
            </a:pPr>
            <a:r>
              <a:rPr lang="en-US" sz="3600" i="1" dirty="0">
                <a:solidFill>
                  <a:srgbClr val="15233A"/>
                </a:solidFill>
                <a:latin typeface="Georgia" pitchFamily="34" charset="0"/>
                <a:ea typeface="Georgia" pitchFamily="34" charset="-122"/>
                <a:cs typeface="Georgia" pitchFamily="34" charset="-120"/>
              </a:rPr>
              <a:t>Status per 16. august</a:t>
            </a:r>
            <a:endParaRPr lang="en-US" sz="3600" dirty="0"/>
          </a:p>
        </p:txBody>
      </p:sp>
      <p:sp>
        <p:nvSpPr>
          <p:cNvPr id="6" name="Shape 3"/>
          <p:cNvSpPr/>
          <p:nvPr/>
        </p:nvSpPr>
        <p:spPr>
          <a:xfrm>
            <a:off x="3566160" y="1828800"/>
            <a:ext cx="2743200" cy="457200"/>
          </a:xfrm>
          <a:prstGeom prst="rect">
            <a:avLst/>
          </a:prstGeom>
          <a:solidFill>
            <a:srgbClr val="0E2A4A"/>
          </a:solidFill>
          <a:ln/>
        </p:spPr>
      </p:sp>
      <p:sp>
        <p:nvSpPr>
          <p:cNvPr id="7" name="Text 4"/>
          <p:cNvSpPr/>
          <p:nvPr/>
        </p:nvSpPr>
        <p:spPr>
          <a:xfrm>
            <a:off x="3566160" y="1828800"/>
            <a:ext cx="2743200" cy="457200"/>
          </a:xfrm>
          <a:prstGeom prst="rect">
            <a:avLst/>
          </a:prstGeom>
          <a:noFill/>
          <a:ln/>
        </p:spPr>
        <p:txBody>
          <a:bodyPr wrap="square"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H1 (jan–jun)</a:t>
            </a:r>
            <a:endParaRPr lang="en-US" sz="1200" dirty="0"/>
          </a:p>
        </p:txBody>
      </p:sp>
      <p:sp>
        <p:nvSpPr>
          <p:cNvPr id="8" name="Shape 5"/>
          <p:cNvSpPr/>
          <p:nvPr/>
        </p:nvSpPr>
        <p:spPr>
          <a:xfrm>
            <a:off x="6309360" y="1828800"/>
            <a:ext cx="2743200" cy="457200"/>
          </a:xfrm>
          <a:prstGeom prst="rect">
            <a:avLst/>
          </a:prstGeom>
          <a:solidFill>
            <a:srgbClr val="0E2A4A"/>
          </a:solidFill>
          <a:ln/>
        </p:spPr>
      </p:sp>
      <p:sp>
        <p:nvSpPr>
          <p:cNvPr id="9" name="Text 6"/>
          <p:cNvSpPr/>
          <p:nvPr/>
        </p:nvSpPr>
        <p:spPr>
          <a:xfrm>
            <a:off x="6309360" y="1828800"/>
            <a:ext cx="2743200" cy="457200"/>
          </a:xfrm>
          <a:prstGeom prst="rect">
            <a:avLst/>
          </a:prstGeom>
          <a:noFill/>
          <a:ln/>
        </p:spPr>
        <p:txBody>
          <a:bodyPr wrap="square"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H2 hittil</a:t>
            </a:r>
            <a:endParaRPr lang="en-US" sz="1200" dirty="0"/>
          </a:p>
        </p:txBody>
      </p:sp>
      <p:sp>
        <p:nvSpPr>
          <p:cNvPr id="10" name="Shape 7"/>
          <p:cNvSpPr/>
          <p:nvPr/>
        </p:nvSpPr>
        <p:spPr>
          <a:xfrm>
            <a:off x="9052560" y="1828800"/>
            <a:ext cx="2743200" cy="457200"/>
          </a:xfrm>
          <a:prstGeom prst="rect">
            <a:avLst/>
          </a:prstGeom>
          <a:solidFill>
            <a:srgbClr val="0E2A4A"/>
          </a:solidFill>
          <a:ln/>
        </p:spPr>
      </p:sp>
      <p:sp>
        <p:nvSpPr>
          <p:cNvPr id="11" name="Text 8"/>
          <p:cNvSpPr/>
          <p:nvPr/>
        </p:nvSpPr>
        <p:spPr>
          <a:xfrm>
            <a:off x="9052560" y="1828800"/>
            <a:ext cx="2743200" cy="457200"/>
          </a:xfrm>
          <a:prstGeom prst="rect">
            <a:avLst/>
          </a:prstGeom>
          <a:noFill/>
          <a:ln/>
        </p:spPr>
        <p:txBody>
          <a:bodyPr wrap="square"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Hittil i år</a:t>
            </a:r>
            <a:endParaRPr lang="en-US" sz="1200" dirty="0"/>
          </a:p>
        </p:txBody>
      </p:sp>
      <p:sp>
        <p:nvSpPr>
          <p:cNvPr id="12" name="Shape 9"/>
          <p:cNvSpPr/>
          <p:nvPr/>
        </p:nvSpPr>
        <p:spPr>
          <a:xfrm>
            <a:off x="640080" y="2331720"/>
            <a:ext cx="11155680" cy="502920"/>
          </a:xfrm>
          <a:prstGeom prst="rect">
            <a:avLst/>
          </a:prstGeom>
          <a:solidFill>
            <a:srgbClr val="FFFFFF"/>
          </a:solidFill>
          <a:ln/>
        </p:spPr>
      </p:sp>
      <p:sp>
        <p:nvSpPr>
          <p:cNvPr id="13" name="Text 10"/>
          <p:cNvSpPr/>
          <p:nvPr/>
        </p:nvSpPr>
        <p:spPr>
          <a:xfrm>
            <a:off x="822960" y="2331720"/>
            <a:ext cx="2926080" cy="502920"/>
          </a:xfrm>
          <a:prstGeom prst="rect">
            <a:avLst/>
          </a:prstGeom>
          <a:noFill/>
          <a:ln/>
        </p:spPr>
        <p:txBody>
          <a:bodyPr wrap="square" rtlCol="0" anchor="ctr"/>
          <a:lstStyle/>
          <a:p>
            <a:pPr algn="l" indent="0" marL="0">
              <a:buNone/>
            </a:pPr>
            <a:r>
              <a:rPr lang="en-US" sz="1400" b="1" dirty="0">
                <a:solidFill>
                  <a:srgbClr val="15233A"/>
                </a:solidFill>
                <a:latin typeface="Calibri" pitchFamily="34" charset="0"/>
                <a:ea typeface="Calibri" pitchFamily="34" charset="-122"/>
                <a:cs typeface="Calibri" pitchFamily="34" charset="-120"/>
              </a:rPr>
              <a:t>Sindre</a:t>
            </a:r>
            <a:endParaRPr lang="en-US" sz="1400" dirty="0"/>
          </a:p>
        </p:txBody>
      </p:sp>
      <p:sp>
        <p:nvSpPr>
          <p:cNvPr id="14" name="Text 11"/>
          <p:cNvSpPr/>
          <p:nvPr/>
        </p:nvSpPr>
        <p:spPr>
          <a:xfrm>
            <a:off x="3566160" y="2331720"/>
            <a:ext cx="2743200" cy="502920"/>
          </a:xfrm>
          <a:prstGeom prst="rect">
            <a:avLst/>
          </a:prstGeom>
          <a:noFill/>
          <a:ln/>
        </p:spPr>
        <p:txBody>
          <a:bodyPr wrap="square" rtlCol="0" anchor="ctr"/>
          <a:lstStyle/>
          <a:p>
            <a:pPr algn="ctr" indent="0" marL="0">
              <a:buNone/>
            </a:pPr>
            <a:r>
              <a:rPr lang="en-US" sz="1400" dirty="0">
                <a:solidFill>
                  <a:srgbClr val="15233A"/>
                </a:solidFill>
                <a:latin typeface="Georgia" pitchFamily="34" charset="0"/>
                <a:ea typeface="Georgia" pitchFamily="34" charset="-122"/>
                <a:cs typeface="Georgia" pitchFamily="34" charset="-120"/>
              </a:rPr>
              <a:t>981 k</a:t>
            </a:r>
            <a:endParaRPr lang="en-US" sz="1400" dirty="0"/>
          </a:p>
        </p:txBody>
      </p:sp>
      <p:sp>
        <p:nvSpPr>
          <p:cNvPr id="15" name="Text 12"/>
          <p:cNvSpPr/>
          <p:nvPr/>
        </p:nvSpPr>
        <p:spPr>
          <a:xfrm>
            <a:off x="6309360" y="2331720"/>
            <a:ext cx="2743200" cy="502920"/>
          </a:xfrm>
          <a:prstGeom prst="rect">
            <a:avLst/>
          </a:prstGeom>
          <a:noFill/>
          <a:ln/>
        </p:spPr>
        <p:txBody>
          <a:bodyPr wrap="square" rtlCol="0" anchor="ctr"/>
          <a:lstStyle/>
          <a:p>
            <a:pPr algn="ctr" indent="0" marL="0">
              <a:buNone/>
            </a:pPr>
            <a:r>
              <a:rPr lang="en-US" sz="1400" dirty="0">
                <a:solidFill>
                  <a:srgbClr val="15233A"/>
                </a:solidFill>
                <a:latin typeface="Georgia" pitchFamily="34" charset="0"/>
                <a:ea typeface="Georgia" pitchFamily="34" charset="-122"/>
                <a:cs typeface="Georgia" pitchFamily="34" charset="-120"/>
              </a:rPr>
              <a:t>113 k</a:t>
            </a:r>
            <a:endParaRPr lang="en-US" sz="1400" dirty="0"/>
          </a:p>
        </p:txBody>
      </p:sp>
      <p:sp>
        <p:nvSpPr>
          <p:cNvPr id="16" name="Text 13"/>
          <p:cNvSpPr/>
          <p:nvPr/>
        </p:nvSpPr>
        <p:spPr>
          <a:xfrm>
            <a:off x="9052560" y="2331720"/>
            <a:ext cx="2743200" cy="502920"/>
          </a:xfrm>
          <a:prstGeom prst="rect">
            <a:avLst/>
          </a:prstGeom>
          <a:noFill/>
          <a:ln/>
        </p:spPr>
        <p:txBody>
          <a:bodyPr wrap="square" rtlCol="0" anchor="ctr"/>
          <a:lstStyle/>
          <a:p>
            <a:pPr algn="ctr" indent="0" marL="0">
              <a:buNone/>
            </a:pPr>
            <a:r>
              <a:rPr lang="en-US" sz="1400" dirty="0">
                <a:solidFill>
                  <a:srgbClr val="15233A"/>
                </a:solidFill>
                <a:latin typeface="Georgia" pitchFamily="34" charset="0"/>
                <a:ea typeface="Georgia" pitchFamily="34" charset="-122"/>
                <a:cs typeface="Georgia" pitchFamily="34" charset="-120"/>
              </a:rPr>
              <a:t>1 093 k</a:t>
            </a:r>
            <a:endParaRPr lang="en-US" sz="1400" dirty="0"/>
          </a:p>
        </p:txBody>
      </p:sp>
      <p:sp>
        <p:nvSpPr>
          <p:cNvPr id="17" name="Shape 14"/>
          <p:cNvSpPr/>
          <p:nvPr/>
        </p:nvSpPr>
        <p:spPr>
          <a:xfrm>
            <a:off x="640080" y="2834640"/>
            <a:ext cx="11155680" cy="502920"/>
          </a:xfrm>
          <a:prstGeom prst="rect">
            <a:avLst/>
          </a:prstGeom>
          <a:solidFill>
            <a:srgbClr val="F0EBDD"/>
          </a:solidFill>
          <a:ln/>
        </p:spPr>
      </p:sp>
      <p:sp>
        <p:nvSpPr>
          <p:cNvPr id="18" name="Text 15"/>
          <p:cNvSpPr/>
          <p:nvPr/>
        </p:nvSpPr>
        <p:spPr>
          <a:xfrm>
            <a:off x="822960" y="2834640"/>
            <a:ext cx="2926080" cy="502920"/>
          </a:xfrm>
          <a:prstGeom prst="rect">
            <a:avLst/>
          </a:prstGeom>
          <a:noFill/>
          <a:ln/>
        </p:spPr>
        <p:txBody>
          <a:bodyPr wrap="square" rtlCol="0" anchor="ctr"/>
          <a:lstStyle/>
          <a:p>
            <a:pPr algn="l" indent="0" marL="0">
              <a:buNone/>
            </a:pPr>
            <a:r>
              <a:rPr lang="en-US" sz="1400" b="1" dirty="0">
                <a:solidFill>
                  <a:srgbClr val="15233A"/>
                </a:solidFill>
                <a:latin typeface="Calibri" pitchFamily="34" charset="0"/>
                <a:ea typeface="Calibri" pitchFamily="34" charset="-122"/>
                <a:cs typeface="Calibri" pitchFamily="34" charset="-120"/>
              </a:rPr>
              <a:t>Henrik + Marte</a:t>
            </a:r>
            <a:endParaRPr lang="en-US" sz="1400" dirty="0"/>
          </a:p>
        </p:txBody>
      </p:sp>
      <p:sp>
        <p:nvSpPr>
          <p:cNvPr id="19" name="Text 16"/>
          <p:cNvSpPr/>
          <p:nvPr/>
        </p:nvSpPr>
        <p:spPr>
          <a:xfrm>
            <a:off x="3566160" y="2834640"/>
            <a:ext cx="2743200" cy="502920"/>
          </a:xfrm>
          <a:prstGeom prst="rect">
            <a:avLst/>
          </a:prstGeom>
          <a:noFill/>
          <a:ln/>
        </p:spPr>
        <p:txBody>
          <a:bodyPr wrap="square" rtlCol="0" anchor="ctr"/>
          <a:lstStyle/>
          <a:p>
            <a:pPr algn="ctr" indent="0" marL="0">
              <a:buNone/>
            </a:pPr>
            <a:r>
              <a:rPr lang="en-US" sz="1400" dirty="0">
                <a:solidFill>
                  <a:srgbClr val="15233A"/>
                </a:solidFill>
                <a:latin typeface="Georgia" pitchFamily="34" charset="0"/>
                <a:ea typeface="Georgia" pitchFamily="34" charset="-122"/>
                <a:cs typeface="Georgia" pitchFamily="34" charset="-120"/>
              </a:rPr>
              <a:t>778 k</a:t>
            </a:r>
            <a:endParaRPr lang="en-US" sz="1400" dirty="0"/>
          </a:p>
        </p:txBody>
      </p:sp>
      <p:sp>
        <p:nvSpPr>
          <p:cNvPr id="20" name="Text 17"/>
          <p:cNvSpPr/>
          <p:nvPr/>
        </p:nvSpPr>
        <p:spPr>
          <a:xfrm>
            <a:off x="6309360" y="2834640"/>
            <a:ext cx="2743200" cy="502920"/>
          </a:xfrm>
          <a:prstGeom prst="rect">
            <a:avLst/>
          </a:prstGeom>
          <a:noFill/>
          <a:ln/>
        </p:spPr>
        <p:txBody>
          <a:bodyPr wrap="square" rtlCol="0" anchor="ctr"/>
          <a:lstStyle/>
          <a:p>
            <a:pPr algn="ctr" indent="0" marL="0">
              <a:buNone/>
            </a:pPr>
            <a:r>
              <a:rPr lang="en-US" sz="1400" dirty="0">
                <a:solidFill>
                  <a:srgbClr val="15233A"/>
                </a:solidFill>
                <a:latin typeface="Georgia" pitchFamily="34" charset="0"/>
                <a:ea typeface="Georgia" pitchFamily="34" charset="-122"/>
                <a:cs typeface="Georgia" pitchFamily="34" charset="-120"/>
              </a:rPr>
              <a:t>356 k</a:t>
            </a:r>
            <a:endParaRPr lang="en-US" sz="1400" dirty="0"/>
          </a:p>
        </p:txBody>
      </p:sp>
      <p:sp>
        <p:nvSpPr>
          <p:cNvPr id="21" name="Text 18"/>
          <p:cNvSpPr/>
          <p:nvPr/>
        </p:nvSpPr>
        <p:spPr>
          <a:xfrm>
            <a:off x="9052560" y="2834640"/>
            <a:ext cx="2743200" cy="502920"/>
          </a:xfrm>
          <a:prstGeom prst="rect">
            <a:avLst/>
          </a:prstGeom>
          <a:noFill/>
          <a:ln/>
        </p:spPr>
        <p:txBody>
          <a:bodyPr wrap="square" rtlCol="0" anchor="ctr"/>
          <a:lstStyle/>
          <a:p>
            <a:pPr algn="ctr" indent="0" marL="0">
              <a:buNone/>
            </a:pPr>
            <a:r>
              <a:rPr lang="en-US" sz="1400" dirty="0">
                <a:solidFill>
                  <a:srgbClr val="15233A"/>
                </a:solidFill>
                <a:latin typeface="Georgia" pitchFamily="34" charset="0"/>
                <a:ea typeface="Georgia" pitchFamily="34" charset="-122"/>
                <a:cs typeface="Georgia" pitchFamily="34" charset="-120"/>
              </a:rPr>
              <a:t>1 134 k</a:t>
            </a:r>
            <a:endParaRPr lang="en-US" sz="1400" dirty="0"/>
          </a:p>
        </p:txBody>
      </p:sp>
      <p:sp>
        <p:nvSpPr>
          <p:cNvPr id="22" name="Shape 19"/>
          <p:cNvSpPr/>
          <p:nvPr/>
        </p:nvSpPr>
        <p:spPr>
          <a:xfrm>
            <a:off x="640080" y="3337560"/>
            <a:ext cx="11155680" cy="502920"/>
          </a:xfrm>
          <a:prstGeom prst="rect">
            <a:avLst/>
          </a:prstGeom>
          <a:solidFill>
            <a:srgbClr val="FFFFFF"/>
          </a:solidFill>
          <a:ln/>
        </p:spPr>
      </p:sp>
      <p:sp>
        <p:nvSpPr>
          <p:cNvPr id="23" name="Text 20"/>
          <p:cNvSpPr/>
          <p:nvPr/>
        </p:nvSpPr>
        <p:spPr>
          <a:xfrm>
            <a:off x="822960" y="3337560"/>
            <a:ext cx="2926080" cy="502920"/>
          </a:xfrm>
          <a:prstGeom prst="rect">
            <a:avLst/>
          </a:prstGeom>
          <a:noFill/>
          <a:ln/>
        </p:spPr>
        <p:txBody>
          <a:bodyPr wrap="square" rtlCol="0" anchor="ctr"/>
          <a:lstStyle/>
          <a:p>
            <a:pPr algn="l" indent="0" marL="0">
              <a:buNone/>
            </a:pPr>
            <a:r>
              <a:rPr lang="en-US" sz="1400" b="1" dirty="0">
                <a:solidFill>
                  <a:srgbClr val="15233A"/>
                </a:solidFill>
                <a:latin typeface="Calibri" pitchFamily="34" charset="0"/>
                <a:ea typeface="Calibri" pitchFamily="34" charset="-122"/>
                <a:cs typeface="Calibri" pitchFamily="34" charset="-120"/>
              </a:rPr>
              <a:t>Daniel</a:t>
            </a:r>
            <a:endParaRPr lang="en-US" sz="1400" dirty="0"/>
          </a:p>
        </p:txBody>
      </p:sp>
      <p:sp>
        <p:nvSpPr>
          <p:cNvPr id="24" name="Text 21"/>
          <p:cNvSpPr/>
          <p:nvPr/>
        </p:nvSpPr>
        <p:spPr>
          <a:xfrm>
            <a:off x="3566160" y="3337560"/>
            <a:ext cx="2743200" cy="502920"/>
          </a:xfrm>
          <a:prstGeom prst="rect">
            <a:avLst/>
          </a:prstGeom>
          <a:noFill/>
          <a:ln/>
        </p:spPr>
        <p:txBody>
          <a:bodyPr wrap="square" rtlCol="0" anchor="ctr"/>
          <a:lstStyle/>
          <a:p>
            <a:pPr algn="ctr" indent="0" marL="0">
              <a:buNone/>
            </a:pPr>
            <a:r>
              <a:rPr lang="en-US" sz="1400" dirty="0">
                <a:solidFill>
                  <a:srgbClr val="15233A"/>
                </a:solidFill>
                <a:latin typeface="Georgia" pitchFamily="34" charset="0"/>
                <a:ea typeface="Georgia" pitchFamily="34" charset="-122"/>
                <a:cs typeface="Georgia" pitchFamily="34" charset="-120"/>
              </a:rPr>
              <a:t>517 k</a:t>
            </a:r>
            <a:endParaRPr lang="en-US" sz="1400" dirty="0"/>
          </a:p>
        </p:txBody>
      </p:sp>
      <p:sp>
        <p:nvSpPr>
          <p:cNvPr id="25" name="Text 22"/>
          <p:cNvSpPr/>
          <p:nvPr/>
        </p:nvSpPr>
        <p:spPr>
          <a:xfrm>
            <a:off x="6309360" y="3337560"/>
            <a:ext cx="2743200" cy="502920"/>
          </a:xfrm>
          <a:prstGeom prst="rect">
            <a:avLst/>
          </a:prstGeom>
          <a:noFill/>
          <a:ln/>
        </p:spPr>
        <p:txBody>
          <a:bodyPr wrap="square" rtlCol="0" anchor="ctr"/>
          <a:lstStyle/>
          <a:p>
            <a:pPr algn="ctr" indent="0" marL="0">
              <a:buNone/>
            </a:pPr>
            <a:r>
              <a:rPr lang="en-US" sz="1400" dirty="0">
                <a:solidFill>
                  <a:srgbClr val="15233A"/>
                </a:solidFill>
                <a:latin typeface="Georgia" pitchFamily="34" charset="0"/>
                <a:ea typeface="Georgia" pitchFamily="34" charset="-122"/>
                <a:cs typeface="Georgia" pitchFamily="34" charset="-120"/>
              </a:rPr>
              <a:t>68 k</a:t>
            </a:r>
            <a:endParaRPr lang="en-US" sz="1400" dirty="0"/>
          </a:p>
        </p:txBody>
      </p:sp>
      <p:sp>
        <p:nvSpPr>
          <p:cNvPr id="26" name="Text 23"/>
          <p:cNvSpPr/>
          <p:nvPr/>
        </p:nvSpPr>
        <p:spPr>
          <a:xfrm>
            <a:off x="9052560" y="3337560"/>
            <a:ext cx="2743200" cy="502920"/>
          </a:xfrm>
          <a:prstGeom prst="rect">
            <a:avLst/>
          </a:prstGeom>
          <a:noFill/>
          <a:ln/>
        </p:spPr>
        <p:txBody>
          <a:bodyPr wrap="square" rtlCol="0" anchor="ctr"/>
          <a:lstStyle/>
          <a:p>
            <a:pPr algn="ctr" indent="0" marL="0">
              <a:buNone/>
            </a:pPr>
            <a:r>
              <a:rPr lang="en-US" sz="1400" dirty="0">
                <a:solidFill>
                  <a:srgbClr val="15233A"/>
                </a:solidFill>
                <a:latin typeface="Georgia" pitchFamily="34" charset="0"/>
                <a:ea typeface="Georgia" pitchFamily="34" charset="-122"/>
                <a:cs typeface="Georgia" pitchFamily="34" charset="-120"/>
              </a:rPr>
              <a:t>585 k</a:t>
            </a:r>
            <a:endParaRPr lang="en-US" sz="1400" dirty="0"/>
          </a:p>
        </p:txBody>
      </p:sp>
      <p:sp>
        <p:nvSpPr>
          <p:cNvPr id="27" name="Shape 24"/>
          <p:cNvSpPr/>
          <p:nvPr/>
        </p:nvSpPr>
        <p:spPr>
          <a:xfrm>
            <a:off x="640080" y="3840480"/>
            <a:ext cx="11155680" cy="502920"/>
          </a:xfrm>
          <a:prstGeom prst="rect">
            <a:avLst/>
          </a:prstGeom>
          <a:solidFill>
            <a:srgbClr val="E8E0CB"/>
          </a:solidFill>
          <a:ln/>
        </p:spPr>
      </p:sp>
      <p:sp>
        <p:nvSpPr>
          <p:cNvPr id="28" name="Text 25"/>
          <p:cNvSpPr/>
          <p:nvPr/>
        </p:nvSpPr>
        <p:spPr>
          <a:xfrm>
            <a:off x="822960" y="3840480"/>
            <a:ext cx="2926080" cy="502920"/>
          </a:xfrm>
          <a:prstGeom prst="rect">
            <a:avLst/>
          </a:prstGeom>
          <a:noFill/>
          <a:ln/>
        </p:spPr>
        <p:txBody>
          <a:bodyPr wrap="square" rtlCol="0" anchor="ctr"/>
          <a:lstStyle/>
          <a:p>
            <a:pPr algn="l" indent="0" marL="0">
              <a:buNone/>
            </a:pPr>
            <a:r>
              <a:rPr lang="en-US" sz="1400" b="1" dirty="0">
                <a:solidFill>
                  <a:srgbClr val="15233A"/>
                </a:solidFill>
                <a:latin typeface="Calibri" pitchFamily="34" charset="0"/>
                <a:ea typeface="Calibri" pitchFamily="34" charset="-122"/>
                <a:cs typeface="Calibri" pitchFamily="34" charset="-120"/>
              </a:rPr>
              <a:t>Sum</a:t>
            </a:r>
            <a:endParaRPr lang="en-US" sz="1400" dirty="0"/>
          </a:p>
        </p:txBody>
      </p:sp>
      <p:sp>
        <p:nvSpPr>
          <p:cNvPr id="29" name="Text 26"/>
          <p:cNvSpPr/>
          <p:nvPr/>
        </p:nvSpPr>
        <p:spPr>
          <a:xfrm>
            <a:off x="3566160" y="3840480"/>
            <a:ext cx="2743200" cy="502920"/>
          </a:xfrm>
          <a:prstGeom prst="rect">
            <a:avLst/>
          </a:prstGeom>
          <a:noFill/>
          <a:ln/>
        </p:spPr>
        <p:txBody>
          <a:bodyPr wrap="square" rtlCol="0" anchor="ctr"/>
          <a:lstStyle/>
          <a:p>
            <a:pPr algn="ctr" indent="0" marL="0">
              <a:buNone/>
            </a:pPr>
            <a:r>
              <a:rPr lang="en-US" sz="1400" b="1" dirty="0">
                <a:solidFill>
                  <a:srgbClr val="15233A"/>
                </a:solidFill>
                <a:latin typeface="Georgia" pitchFamily="34" charset="0"/>
                <a:ea typeface="Georgia" pitchFamily="34" charset="-122"/>
                <a:cs typeface="Georgia" pitchFamily="34" charset="-120"/>
              </a:rPr>
              <a:t>2 275 k</a:t>
            </a:r>
            <a:endParaRPr lang="en-US" sz="1400" dirty="0"/>
          </a:p>
        </p:txBody>
      </p:sp>
      <p:sp>
        <p:nvSpPr>
          <p:cNvPr id="30" name="Text 27"/>
          <p:cNvSpPr/>
          <p:nvPr/>
        </p:nvSpPr>
        <p:spPr>
          <a:xfrm>
            <a:off x="6309360" y="3840480"/>
            <a:ext cx="2743200" cy="502920"/>
          </a:xfrm>
          <a:prstGeom prst="rect">
            <a:avLst/>
          </a:prstGeom>
          <a:noFill/>
          <a:ln/>
        </p:spPr>
        <p:txBody>
          <a:bodyPr wrap="square" rtlCol="0" anchor="ctr"/>
          <a:lstStyle/>
          <a:p>
            <a:pPr algn="ctr" indent="0" marL="0">
              <a:buNone/>
            </a:pPr>
            <a:r>
              <a:rPr lang="en-US" sz="1400" b="1" dirty="0">
                <a:solidFill>
                  <a:srgbClr val="15233A"/>
                </a:solidFill>
                <a:latin typeface="Georgia" pitchFamily="34" charset="0"/>
                <a:ea typeface="Georgia" pitchFamily="34" charset="-122"/>
                <a:cs typeface="Georgia" pitchFamily="34" charset="-120"/>
              </a:rPr>
              <a:t>537 k</a:t>
            </a:r>
            <a:endParaRPr lang="en-US" sz="1400" dirty="0"/>
          </a:p>
        </p:txBody>
      </p:sp>
      <p:sp>
        <p:nvSpPr>
          <p:cNvPr id="31" name="Text 28"/>
          <p:cNvSpPr/>
          <p:nvPr/>
        </p:nvSpPr>
        <p:spPr>
          <a:xfrm>
            <a:off x="9052560" y="3840480"/>
            <a:ext cx="2743200" cy="502920"/>
          </a:xfrm>
          <a:prstGeom prst="rect">
            <a:avLst/>
          </a:prstGeom>
          <a:noFill/>
          <a:ln/>
        </p:spPr>
        <p:txBody>
          <a:bodyPr wrap="square" rtlCol="0" anchor="ctr"/>
          <a:lstStyle/>
          <a:p>
            <a:pPr algn="ctr" indent="0" marL="0">
              <a:buNone/>
            </a:pPr>
            <a:r>
              <a:rPr lang="en-US" sz="1400" b="1" dirty="0">
                <a:solidFill>
                  <a:srgbClr val="15233A"/>
                </a:solidFill>
                <a:latin typeface="Georgia" pitchFamily="34" charset="0"/>
                <a:ea typeface="Georgia" pitchFamily="34" charset="-122"/>
                <a:cs typeface="Georgia" pitchFamily="34" charset="-120"/>
              </a:rPr>
              <a:t>2 812 k</a:t>
            </a:r>
            <a:endParaRPr lang="en-US" sz="1400" dirty="0"/>
          </a:p>
        </p:txBody>
      </p:sp>
      <p:sp>
        <p:nvSpPr>
          <p:cNvPr id="32" name="Shape 29"/>
          <p:cNvSpPr/>
          <p:nvPr/>
        </p:nvSpPr>
        <p:spPr>
          <a:xfrm>
            <a:off x="640080" y="4572000"/>
            <a:ext cx="10972800" cy="914400"/>
          </a:xfrm>
          <a:prstGeom prst="rect">
            <a:avLst/>
          </a:prstGeom>
          <a:solidFill>
            <a:srgbClr val="FFFFFF"/>
          </a:solidFill>
          <a:ln w="25400">
            <a:solidFill>
              <a:srgbClr val="5B8A6F"/>
            </a:solidFill>
            <a:prstDash val="solid"/>
          </a:ln>
        </p:spPr>
      </p:sp>
      <p:sp>
        <p:nvSpPr>
          <p:cNvPr id="33" name="Text 30"/>
          <p:cNvSpPr/>
          <p:nvPr/>
        </p:nvSpPr>
        <p:spPr>
          <a:xfrm>
            <a:off x="822960" y="4663440"/>
            <a:ext cx="10607040" cy="731520"/>
          </a:xfrm>
          <a:prstGeom prst="rect">
            <a:avLst/>
          </a:prstGeom>
          <a:noFill/>
          <a:ln/>
        </p:spPr>
        <p:txBody>
          <a:bodyPr wrap="square" rtlCol="0" anchor="ctr"/>
          <a:lstStyle/>
          <a:p>
            <a:pPr indent="0" marL="0">
              <a:buNone/>
            </a:pPr>
            <a:r>
              <a:rPr lang="en-US" sz="1400" b="1" dirty="0">
                <a:solidFill>
                  <a:srgbClr val="5B8A6F"/>
                </a:solidFill>
                <a:latin typeface="Calibri" pitchFamily="34" charset="0"/>
                <a:ea typeface="Calibri" pitchFamily="34" charset="-122"/>
                <a:cs typeface="Calibri" pitchFamily="34" charset="-120"/>
              </a:rPr>
              <a:t>Henrik + Marte leverer over plan: </a:t>
            </a:r>
            <a:pPr indent="0" marL="0">
              <a:buNone/>
            </a:pPr>
            <a:r>
              <a:rPr lang="en-US" sz="1400" dirty="0">
                <a:solidFill>
                  <a:srgbClr val="15233A"/>
                </a:solidFill>
                <a:latin typeface="Calibri" pitchFamily="34" charset="0"/>
                <a:ea typeface="Calibri" pitchFamily="34" charset="-122"/>
                <a:cs typeface="Calibri" pitchFamily="34" charset="-120"/>
              </a:rPr>
              <a:t>8 salg siden 1. juli — sterkest på teamet gjennom sommeren. Sindre er bak egen plan etter ferien og tar det igjen i høst.</a:t>
            </a:r>
            <a:endParaRPr lang="en-US" sz="1400" dirty="0"/>
          </a:p>
        </p:txBody>
      </p:sp>
      <p:sp>
        <p:nvSpPr>
          <p:cNvPr id="34" name="Shape 31"/>
          <p:cNvSpPr/>
          <p:nvPr/>
        </p:nvSpPr>
        <p:spPr>
          <a:xfrm>
            <a:off x="640080" y="5669280"/>
            <a:ext cx="10972800" cy="640080"/>
          </a:xfrm>
          <a:prstGeom prst="rect">
            <a:avLst/>
          </a:prstGeom>
          <a:solidFill>
            <a:srgbClr val="1B3A66"/>
          </a:solidFill>
          <a:ln/>
        </p:spPr>
      </p:sp>
      <p:sp>
        <p:nvSpPr>
          <p:cNvPr id="35" name="Text 32"/>
          <p:cNvSpPr/>
          <p:nvPr/>
        </p:nvSpPr>
        <p:spPr>
          <a:xfrm>
            <a:off x="822960" y="5715000"/>
            <a:ext cx="10607040" cy="548640"/>
          </a:xfrm>
          <a:prstGeom prst="rect">
            <a:avLst/>
          </a:prstGeom>
          <a:noFill/>
          <a:ln/>
        </p:spPr>
        <p:txBody>
          <a:bodyPr wrap="square"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Porteføljen: 55 aktive oppdrag med forventet omsetning 1,9–3,3M innen nyttår. Grunnlaget for høsten er sterkt.</a:t>
            </a:r>
            <a:endParaRPr lang="en-US" sz="1200" dirty="0"/>
          </a:p>
        </p:txBody>
      </p:sp>
      <p:sp>
        <p:nvSpPr>
          <p:cNvPr id="36" name="Shape 33"/>
          <p:cNvSpPr/>
          <p:nvPr/>
        </p:nvSpPr>
        <p:spPr>
          <a:xfrm>
            <a:off x="0" y="6675120"/>
            <a:ext cx="12191695" cy="182880"/>
          </a:xfrm>
          <a:prstGeom prst="rect">
            <a:avLst/>
          </a:prstGeom>
          <a:solidFill>
            <a:srgbClr val="C9A961"/>
          </a:solidFill>
          <a:ln/>
        </p:spPr>
      </p:sp>
      <p:sp>
        <p:nvSpPr>
          <p:cNvPr id="37" name="Text 34"/>
          <p:cNvSpPr/>
          <p:nvPr/>
        </p:nvSpPr>
        <p:spPr>
          <a:xfrm>
            <a:off x="457200" y="6446520"/>
            <a:ext cx="7315200" cy="228600"/>
          </a:xfrm>
          <a:prstGeom prst="rect">
            <a:avLst/>
          </a:prstGeom>
          <a:noFill/>
          <a:ln/>
        </p:spPr>
        <p:txBody>
          <a:bodyPr wrap="square" rtlCol="0" anchor="ctr"/>
          <a:lstStyle/>
          <a:p>
            <a:pPr indent="0" marL="0">
              <a:buNone/>
            </a:pPr>
            <a:r>
              <a:rPr lang="en-US" sz="900" dirty="0">
                <a:solidFill>
                  <a:srgbClr val="4A5A75"/>
                </a:solidFill>
                <a:latin typeface="Calibri" pitchFamily="34" charset="0"/>
                <a:ea typeface="Calibri" pitchFamily="34" charset="-122"/>
                <a:cs typeface="Calibri" pitchFamily="34" charset="-120"/>
              </a:rPr>
              <a:t>House of Yachts  |  Mandagsmøte uke 34  |  17. august 2026</a:t>
            </a:r>
            <a:endParaRPr lang="en-US" sz="900" dirty="0"/>
          </a:p>
        </p:txBody>
      </p:sp>
      <p:sp>
        <p:nvSpPr>
          <p:cNvPr id="38" name="Text 35"/>
          <p:cNvSpPr/>
          <p:nvPr/>
        </p:nvSpPr>
        <p:spPr>
          <a:xfrm>
            <a:off x="10789920" y="6446520"/>
            <a:ext cx="914400" cy="228600"/>
          </a:xfrm>
          <a:prstGeom prst="rect">
            <a:avLst/>
          </a:prstGeom>
          <a:noFill/>
          <a:ln/>
        </p:spPr>
        <p:txBody>
          <a:bodyPr wrap="square" rtlCol="0" anchor="ctr"/>
          <a:lstStyle/>
          <a:p>
            <a:pPr algn="r" indent="0" marL="0">
              <a:buNone/>
            </a:pPr>
            <a:r>
              <a:rPr lang="en-US" sz="900" dirty="0">
                <a:solidFill>
                  <a:srgbClr val="4A5A75"/>
                </a:solidFill>
                <a:latin typeface="Calibri" pitchFamily="34" charset="0"/>
                <a:ea typeface="Calibri" pitchFamily="34" charset="-122"/>
                <a:cs typeface="Calibri" pitchFamily="34" charset="-120"/>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2A4A"/>
        </a:solidFill>
      </p:bgPr>
    </p:bg>
    <p:spTree>
      <p:nvGrpSpPr>
        <p:cNvPr id="1" name=""/>
        <p:cNvGrpSpPr/>
        <p:nvPr/>
      </p:nvGrpSpPr>
      <p:grpSpPr>
        <a:xfrm>
          <a:off x="0" y="0"/>
          <a:ext cx="0" cy="0"/>
          <a:chOff x="0" y="0"/>
          <a:chExt cx="0" cy="0"/>
        </a:xfrm>
      </p:grpSpPr>
      <p:sp>
        <p:nvSpPr>
          <p:cNvPr id="3" name="Shape 0"/>
          <p:cNvSpPr/>
          <p:nvPr/>
        </p:nvSpPr>
        <p:spPr>
          <a:xfrm>
            <a:off x="0" y="0"/>
            <a:ext cx="12191695" cy="137160"/>
          </a:xfrm>
          <a:prstGeom prst="rect">
            <a:avLst/>
          </a:prstGeom>
          <a:solidFill>
            <a:srgbClr val="C9A961"/>
          </a:solidFill>
          <a:ln/>
        </p:spPr>
      </p:sp>
      <p:sp>
        <p:nvSpPr>
          <p:cNvPr id="4" name="Text 1"/>
          <p:cNvSpPr/>
          <p:nvPr/>
        </p:nvSpPr>
        <p:spPr>
          <a:xfrm>
            <a:off x="640080" y="457200"/>
            <a:ext cx="9144000" cy="365760"/>
          </a:xfrm>
          <a:prstGeom prst="rect">
            <a:avLst/>
          </a:prstGeom>
          <a:noFill/>
          <a:ln/>
        </p:spPr>
        <p:txBody>
          <a:bodyPr wrap="square" rtlCol="0" anchor="ctr"/>
          <a:lstStyle/>
          <a:p>
            <a:pPr indent="0" marL="0">
              <a:buNone/>
            </a:pPr>
            <a:r>
              <a:rPr lang="en-US" sz="1100" b="1" spc="500" kern="0" dirty="0">
                <a:solidFill>
                  <a:srgbClr val="C9A961"/>
                </a:solidFill>
                <a:latin typeface="Calibri" pitchFamily="34" charset="0"/>
                <a:ea typeface="Calibri" pitchFamily="34" charset="-122"/>
                <a:cs typeface="Calibri" pitchFamily="34" charset="-120"/>
              </a:rPr>
              <a:t>DEL 1 · 02 NYE MÅL</a:t>
            </a:r>
            <a:endParaRPr lang="en-US" sz="1100" dirty="0"/>
          </a:p>
        </p:txBody>
      </p:sp>
      <p:sp>
        <p:nvSpPr>
          <p:cNvPr id="5" name="Text 2"/>
          <p:cNvSpPr/>
          <p:nvPr/>
        </p:nvSpPr>
        <p:spPr>
          <a:xfrm>
            <a:off x="640080" y="822960"/>
            <a:ext cx="10972800" cy="731520"/>
          </a:xfrm>
          <a:prstGeom prst="rect">
            <a:avLst/>
          </a:prstGeom>
          <a:noFill/>
          <a:ln/>
        </p:spPr>
        <p:txBody>
          <a:bodyPr wrap="square" rtlCol="0" anchor="ctr"/>
          <a:lstStyle/>
          <a:p>
            <a:pPr indent="0" marL="0">
              <a:buNone/>
            </a:pPr>
            <a:r>
              <a:rPr lang="en-US" sz="3600" i="1" dirty="0">
                <a:solidFill>
                  <a:srgbClr val="FFFFFF"/>
                </a:solidFill>
                <a:latin typeface="Georgia" pitchFamily="34" charset="0"/>
                <a:ea typeface="Georgia" pitchFamily="34" charset="-122"/>
                <a:cs typeface="Georgia" pitchFamily="34" charset="-120"/>
              </a:rPr>
              <a:t>Nye mål for høsten</a:t>
            </a:r>
            <a:endParaRPr lang="en-US" sz="3600" dirty="0"/>
          </a:p>
        </p:txBody>
      </p:sp>
      <p:sp>
        <p:nvSpPr>
          <p:cNvPr id="6" name="Text 3"/>
          <p:cNvSpPr/>
          <p:nvPr/>
        </p:nvSpPr>
        <p:spPr>
          <a:xfrm>
            <a:off x="640080" y="1691640"/>
            <a:ext cx="10972800" cy="36576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Gjelder hele H2 (1. juli – 31. desember), inkludert det som allerede er solgt.</a:t>
            </a:r>
            <a:endParaRPr lang="en-US" sz="1400" dirty="0"/>
          </a:p>
        </p:txBody>
      </p:sp>
      <p:sp>
        <p:nvSpPr>
          <p:cNvPr id="7" name="Shape 4"/>
          <p:cNvSpPr/>
          <p:nvPr/>
        </p:nvSpPr>
        <p:spPr>
          <a:xfrm>
            <a:off x="640080" y="2286000"/>
            <a:ext cx="10972800" cy="1234440"/>
          </a:xfrm>
          <a:prstGeom prst="rect">
            <a:avLst/>
          </a:prstGeom>
          <a:solidFill>
            <a:srgbClr val="1B3A66"/>
          </a:solidFill>
          <a:ln w="12700">
            <a:solidFill>
              <a:srgbClr val="C9A961"/>
            </a:solidFill>
            <a:prstDash val="solid"/>
          </a:ln>
        </p:spPr>
      </p:sp>
      <p:sp>
        <p:nvSpPr>
          <p:cNvPr id="8" name="Text 5"/>
          <p:cNvSpPr/>
          <p:nvPr/>
        </p:nvSpPr>
        <p:spPr>
          <a:xfrm>
            <a:off x="822960" y="2377440"/>
            <a:ext cx="3657600" cy="411480"/>
          </a:xfrm>
          <a:prstGeom prst="rect">
            <a:avLst/>
          </a:prstGeom>
          <a:noFill/>
          <a:ln/>
        </p:spPr>
        <p:txBody>
          <a:bodyPr wrap="square" rtlCol="0" anchor="ctr"/>
          <a:lstStyle/>
          <a:p>
            <a:pPr indent="0" marL="0">
              <a:buNone/>
            </a:pPr>
            <a:r>
              <a:rPr lang="en-US" sz="2000" b="1" i="1" dirty="0">
                <a:solidFill>
                  <a:srgbClr val="C9A961"/>
                </a:solidFill>
                <a:latin typeface="Georgia" pitchFamily="34" charset="0"/>
                <a:ea typeface="Georgia" pitchFamily="34" charset="-122"/>
                <a:cs typeface="Georgia" pitchFamily="34" charset="-120"/>
              </a:rPr>
              <a:t>Sindre</a:t>
            </a:r>
            <a:endParaRPr lang="en-US" sz="2000" dirty="0"/>
          </a:p>
        </p:txBody>
      </p:sp>
      <p:sp>
        <p:nvSpPr>
          <p:cNvPr id="9" name="Text 6"/>
          <p:cNvSpPr/>
          <p:nvPr/>
        </p:nvSpPr>
        <p:spPr>
          <a:xfrm>
            <a:off x="822960" y="2788920"/>
            <a:ext cx="3200400" cy="54864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1400 k</a:t>
            </a:r>
            <a:pPr indent="0" marL="0">
              <a:buNone/>
            </a:pPr>
            <a:r>
              <a:rPr lang="en-US" sz="1200" dirty="0">
                <a:solidFill>
                  <a:srgbClr val="CADCFC"/>
                </a:solidFill>
                <a:latin typeface="Calibri" pitchFamily="34" charset="0"/>
                <a:ea typeface="Calibri" pitchFamily="34" charset="-122"/>
                <a:cs typeface="Calibri" pitchFamily="34" charset="-120"/>
              </a:rPr>
              <a:t>  H2-mål</a:t>
            </a:r>
            <a:endParaRPr lang="en-US" sz="3000" dirty="0"/>
          </a:p>
        </p:txBody>
      </p:sp>
      <p:sp>
        <p:nvSpPr>
          <p:cNvPr id="10" name="Text 7"/>
          <p:cNvSpPr/>
          <p:nvPr/>
        </p:nvSpPr>
        <p:spPr>
          <a:xfrm>
            <a:off x="4206240" y="2834640"/>
            <a:ext cx="4114800" cy="457200"/>
          </a:xfrm>
          <a:prstGeom prst="rect">
            <a:avLst/>
          </a:prstGeom>
          <a:noFill/>
          <a:ln/>
        </p:spPr>
        <p:txBody>
          <a:bodyPr wrap="square" rtlCol="0" anchor="ctr"/>
          <a:lstStyle/>
          <a:p>
            <a:pPr indent="0" marL="0">
              <a:buNone/>
            </a:pPr>
            <a:r>
              <a:rPr lang="en-US" sz="1800" b="1" dirty="0">
                <a:solidFill>
                  <a:srgbClr val="C9A961"/>
                </a:solidFill>
                <a:latin typeface="Georgia" pitchFamily="34" charset="0"/>
                <a:ea typeface="Georgia" pitchFamily="34" charset="-122"/>
                <a:cs typeface="Georgia" pitchFamily="34" charset="-120"/>
              </a:rPr>
              <a:t>113 k </a:t>
            </a:r>
            <a:pPr indent="0" marL="0">
              <a:buNone/>
            </a:pPr>
            <a:r>
              <a:rPr lang="en-US" sz="1200" dirty="0">
                <a:solidFill>
                  <a:srgbClr val="CADCFC"/>
                </a:solidFill>
                <a:latin typeface="Calibri" pitchFamily="34" charset="0"/>
                <a:ea typeface="Calibri" pitchFamily="34" charset="-122"/>
                <a:cs typeface="Calibri" pitchFamily="34" charset="-120"/>
              </a:rPr>
              <a:t>levert · </a:t>
            </a:r>
            <a:pPr indent="0" marL="0">
              <a:buNone/>
            </a:pPr>
            <a:r>
              <a:rPr lang="en-US" sz="1800" b="1" dirty="0">
                <a:solidFill>
                  <a:srgbClr val="FFFFFF"/>
                </a:solidFill>
                <a:latin typeface="Georgia" pitchFamily="34" charset="0"/>
                <a:ea typeface="Georgia" pitchFamily="34" charset="-122"/>
                <a:cs typeface="Georgia" pitchFamily="34" charset="-120"/>
              </a:rPr>
              <a:t>1287 k </a:t>
            </a:r>
            <a:pPr indent="0" marL="0">
              <a:buNone/>
            </a:pPr>
            <a:r>
              <a:rPr lang="en-US" sz="1200" dirty="0">
                <a:solidFill>
                  <a:srgbClr val="CADCFC"/>
                </a:solidFill>
                <a:latin typeface="Calibri" pitchFamily="34" charset="0"/>
                <a:ea typeface="Calibri" pitchFamily="34" charset="-122"/>
                <a:cs typeface="Calibri" pitchFamily="34" charset="-120"/>
              </a:rPr>
              <a:t>gjenstår</a:t>
            </a:r>
            <a:endParaRPr lang="en-US" sz="1800" dirty="0"/>
          </a:p>
        </p:txBody>
      </p:sp>
      <p:sp>
        <p:nvSpPr>
          <p:cNvPr id="11" name="Text 8"/>
          <p:cNvSpPr/>
          <p:nvPr/>
        </p:nvSpPr>
        <p:spPr>
          <a:xfrm>
            <a:off x="8229600" y="2514600"/>
            <a:ext cx="3200400" cy="914400"/>
          </a:xfrm>
          <a:prstGeom prst="rect">
            <a:avLst/>
          </a:prstGeom>
          <a:noFill/>
          <a:ln/>
        </p:spPr>
        <p:txBody>
          <a:bodyPr wrap="square"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Overtar de store objektene fra Daniel + eget inntak</a:t>
            </a:r>
            <a:endParaRPr lang="en-US" sz="1100" dirty="0"/>
          </a:p>
        </p:txBody>
      </p:sp>
      <p:sp>
        <p:nvSpPr>
          <p:cNvPr id="12" name="Shape 9"/>
          <p:cNvSpPr/>
          <p:nvPr/>
        </p:nvSpPr>
        <p:spPr>
          <a:xfrm>
            <a:off x="640080" y="3611880"/>
            <a:ext cx="10972800" cy="1234440"/>
          </a:xfrm>
          <a:prstGeom prst="rect">
            <a:avLst/>
          </a:prstGeom>
          <a:solidFill>
            <a:srgbClr val="1B3A66"/>
          </a:solidFill>
          <a:ln w="12700">
            <a:solidFill>
              <a:srgbClr val="C9A961"/>
            </a:solidFill>
            <a:prstDash val="solid"/>
          </a:ln>
        </p:spPr>
      </p:sp>
      <p:sp>
        <p:nvSpPr>
          <p:cNvPr id="13" name="Text 10"/>
          <p:cNvSpPr/>
          <p:nvPr/>
        </p:nvSpPr>
        <p:spPr>
          <a:xfrm>
            <a:off x="822960" y="3703320"/>
            <a:ext cx="3657600" cy="411480"/>
          </a:xfrm>
          <a:prstGeom prst="rect">
            <a:avLst/>
          </a:prstGeom>
          <a:noFill/>
          <a:ln/>
        </p:spPr>
        <p:txBody>
          <a:bodyPr wrap="square" rtlCol="0" anchor="ctr"/>
          <a:lstStyle/>
          <a:p>
            <a:pPr indent="0" marL="0">
              <a:buNone/>
            </a:pPr>
            <a:r>
              <a:rPr lang="en-US" sz="2000" b="1" i="1" dirty="0">
                <a:solidFill>
                  <a:srgbClr val="C9A961"/>
                </a:solidFill>
                <a:latin typeface="Georgia" pitchFamily="34" charset="0"/>
                <a:ea typeface="Georgia" pitchFamily="34" charset="-122"/>
                <a:cs typeface="Georgia" pitchFamily="34" charset="-120"/>
              </a:rPr>
              <a:t>Henrik + Marte</a:t>
            </a:r>
            <a:endParaRPr lang="en-US" sz="2000" dirty="0"/>
          </a:p>
        </p:txBody>
      </p:sp>
      <p:sp>
        <p:nvSpPr>
          <p:cNvPr id="14" name="Text 11"/>
          <p:cNvSpPr/>
          <p:nvPr/>
        </p:nvSpPr>
        <p:spPr>
          <a:xfrm>
            <a:off x="822960" y="4114800"/>
            <a:ext cx="3200400" cy="54864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1500 k</a:t>
            </a:r>
            <a:pPr indent="0" marL="0">
              <a:buNone/>
            </a:pPr>
            <a:r>
              <a:rPr lang="en-US" sz="1200" dirty="0">
                <a:solidFill>
                  <a:srgbClr val="CADCFC"/>
                </a:solidFill>
                <a:latin typeface="Calibri" pitchFamily="34" charset="0"/>
                <a:ea typeface="Calibri" pitchFamily="34" charset="-122"/>
                <a:cs typeface="Calibri" pitchFamily="34" charset="-120"/>
              </a:rPr>
              <a:t>  H2-mål</a:t>
            </a:r>
            <a:endParaRPr lang="en-US" sz="3000" dirty="0"/>
          </a:p>
        </p:txBody>
      </p:sp>
      <p:sp>
        <p:nvSpPr>
          <p:cNvPr id="15" name="Text 12"/>
          <p:cNvSpPr/>
          <p:nvPr/>
        </p:nvSpPr>
        <p:spPr>
          <a:xfrm>
            <a:off x="4206240" y="4160520"/>
            <a:ext cx="4114800" cy="457200"/>
          </a:xfrm>
          <a:prstGeom prst="rect">
            <a:avLst/>
          </a:prstGeom>
          <a:noFill/>
          <a:ln/>
        </p:spPr>
        <p:txBody>
          <a:bodyPr wrap="square" rtlCol="0" anchor="ctr"/>
          <a:lstStyle/>
          <a:p>
            <a:pPr indent="0" marL="0">
              <a:buNone/>
            </a:pPr>
            <a:r>
              <a:rPr lang="en-US" sz="1800" b="1" dirty="0">
                <a:solidFill>
                  <a:srgbClr val="C9A961"/>
                </a:solidFill>
                <a:latin typeface="Georgia" pitchFamily="34" charset="0"/>
                <a:ea typeface="Georgia" pitchFamily="34" charset="-122"/>
                <a:cs typeface="Georgia" pitchFamily="34" charset="-120"/>
              </a:rPr>
              <a:t>356 k </a:t>
            </a:r>
            <a:pPr indent="0" marL="0">
              <a:buNone/>
            </a:pPr>
            <a:r>
              <a:rPr lang="en-US" sz="1200" dirty="0">
                <a:solidFill>
                  <a:srgbClr val="CADCFC"/>
                </a:solidFill>
                <a:latin typeface="Calibri" pitchFamily="34" charset="0"/>
                <a:ea typeface="Calibri" pitchFamily="34" charset="-122"/>
                <a:cs typeface="Calibri" pitchFamily="34" charset="-120"/>
              </a:rPr>
              <a:t>levert · </a:t>
            </a:r>
            <a:pPr indent="0" marL="0">
              <a:buNone/>
            </a:pPr>
            <a:r>
              <a:rPr lang="en-US" sz="1800" b="1" dirty="0">
                <a:solidFill>
                  <a:srgbClr val="FFFFFF"/>
                </a:solidFill>
                <a:latin typeface="Georgia" pitchFamily="34" charset="0"/>
                <a:ea typeface="Georgia" pitchFamily="34" charset="-122"/>
                <a:cs typeface="Georgia" pitchFamily="34" charset="-120"/>
              </a:rPr>
              <a:t>1144 k </a:t>
            </a:r>
            <a:pPr indent="0" marL="0">
              <a:buNone/>
            </a:pPr>
            <a:r>
              <a:rPr lang="en-US" sz="1200" dirty="0">
                <a:solidFill>
                  <a:srgbClr val="CADCFC"/>
                </a:solidFill>
                <a:latin typeface="Calibri" pitchFamily="34" charset="0"/>
                <a:ea typeface="Calibri" pitchFamily="34" charset="-122"/>
                <a:cs typeface="Calibri" pitchFamily="34" charset="-120"/>
              </a:rPr>
              <a:t>gjenstår</a:t>
            </a:r>
            <a:endParaRPr lang="en-US" sz="1800" dirty="0"/>
          </a:p>
        </p:txBody>
      </p:sp>
      <p:sp>
        <p:nvSpPr>
          <p:cNvPr id="16" name="Text 13"/>
          <p:cNvSpPr/>
          <p:nvPr/>
        </p:nvSpPr>
        <p:spPr>
          <a:xfrm>
            <a:off x="8229600" y="3840480"/>
            <a:ext cx="3200400" cy="914400"/>
          </a:xfrm>
          <a:prstGeom prst="rect">
            <a:avLst/>
          </a:prstGeom>
          <a:noFill/>
          <a:ln/>
        </p:spPr>
        <p:txBody>
          <a:bodyPr wrap="square" rtlCol="0" anchor="ctr"/>
          <a:lstStyle/>
          <a:p>
            <a:pPr indent="0" marL="0">
              <a:buNone/>
            </a:pPr>
            <a:r>
              <a:rPr lang="en-US" sz="1100" i="1" dirty="0">
                <a:solidFill>
                  <a:srgbClr val="FFFFFF"/>
                </a:solidFill>
                <a:latin typeface="Calibri" pitchFamily="34" charset="0"/>
                <a:ea typeface="Calibri" pitchFamily="34" charset="-122"/>
                <a:cs typeface="Calibri" pitchFamily="34" charset="-120"/>
              </a:rPr>
              <a:t>Overtar volumbåtene fra Daniel — fortsett tempoet fra juli</a:t>
            </a:r>
            <a:endParaRPr lang="en-US" sz="1100" dirty="0"/>
          </a:p>
        </p:txBody>
      </p:sp>
      <p:sp>
        <p:nvSpPr>
          <p:cNvPr id="17" name="Shape 14"/>
          <p:cNvSpPr/>
          <p:nvPr/>
        </p:nvSpPr>
        <p:spPr>
          <a:xfrm>
            <a:off x="640080" y="5029200"/>
            <a:ext cx="10972800" cy="731520"/>
          </a:xfrm>
          <a:prstGeom prst="rect">
            <a:avLst/>
          </a:prstGeom>
          <a:solidFill>
            <a:srgbClr val="C9A961"/>
          </a:solidFill>
          <a:ln/>
        </p:spPr>
      </p:sp>
      <p:sp>
        <p:nvSpPr>
          <p:cNvPr id="18" name="Text 15"/>
          <p:cNvSpPr/>
          <p:nvPr/>
        </p:nvSpPr>
        <p:spPr>
          <a:xfrm>
            <a:off x="822960" y="5166360"/>
            <a:ext cx="10515600" cy="457200"/>
          </a:xfrm>
          <a:prstGeom prst="rect">
            <a:avLst/>
          </a:prstGeom>
          <a:noFill/>
          <a:ln/>
        </p:spPr>
        <p:txBody>
          <a:bodyPr wrap="square" rtlCol="0" anchor="ctr"/>
          <a:lstStyle/>
          <a:p>
            <a:pPr indent="0" marL="0">
              <a:buNone/>
            </a:pPr>
            <a:r>
              <a:rPr lang="en-US" sz="1200" b="1" spc="200" kern="0" dirty="0">
                <a:solidFill>
                  <a:srgbClr val="0E2A4A"/>
                </a:solidFill>
                <a:latin typeface="Calibri" pitchFamily="34" charset="0"/>
                <a:ea typeface="Calibri" pitchFamily="34" charset="-122"/>
                <a:cs typeface="Calibri" pitchFamily="34" charset="-120"/>
              </a:rPr>
              <a:t>SELSKAP H2:  </a:t>
            </a:r>
            <a:pPr indent="0" marL="0">
              <a:buNone/>
            </a:pPr>
            <a:r>
              <a:rPr lang="en-US" sz="2600" b="1" dirty="0">
                <a:solidFill>
                  <a:srgbClr val="0E2A4A"/>
                </a:solidFill>
                <a:latin typeface="Georgia" pitchFamily="34" charset="0"/>
                <a:ea typeface="Georgia" pitchFamily="34" charset="-122"/>
                <a:cs typeface="Georgia" pitchFamily="34" charset="-120"/>
              </a:rPr>
              <a:t>2,9 MNOK</a:t>
            </a:r>
            <a:pPr indent="0" marL="0">
              <a:buNone/>
            </a:pPr>
            <a:r>
              <a:rPr lang="en-US" sz="1400" dirty="0">
                <a:solidFill>
                  <a:srgbClr val="1B3A66"/>
                </a:solidFill>
                <a:latin typeface="Calibri" pitchFamily="34" charset="0"/>
                <a:ea typeface="Calibri" pitchFamily="34" charset="-122"/>
                <a:cs typeface="Calibri" pitchFamily="34" charset="-120"/>
              </a:rPr>
              <a:t>   →   helår ~5,2M = +6,5 % vs 2025 — fortsatt rekordår</a:t>
            </a:r>
            <a:endParaRPr lang="en-US" sz="1200" dirty="0"/>
          </a:p>
        </p:txBody>
      </p:sp>
      <p:sp>
        <p:nvSpPr>
          <p:cNvPr id="19" name="Text 16"/>
          <p:cNvSpPr/>
          <p:nvPr/>
        </p:nvSpPr>
        <p:spPr>
          <a:xfrm>
            <a:off x="640080" y="6035040"/>
            <a:ext cx="10972800" cy="320040"/>
          </a:xfrm>
          <a:prstGeom prst="rect">
            <a:avLst/>
          </a:prstGeom>
          <a:noFill/>
          <a:ln/>
        </p:spPr>
        <p:txBody>
          <a:bodyPr wrap="square"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September-inntaket avgjør: alt som skal selges i år må signeres før midten av oktober.</a:t>
            </a:r>
            <a:endParaRPr lang="en-US" sz="1200" dirty="0"/>
          </a:p>
        </p:txBody>
      </p:sp>
      <p:sp>
        <p:nvSpPr>
          <p:cNvPr id="20" name="Shape 17"/>
          <p:cNvSpPr/>
          <p:nvPr/>
        </p:nvSpPr>
        <p:spPr>
          <a:xfrm>
            <a:off x="0" y="6675120"/>
            <a:ext cx="12191695" cy="182880"/>
          </a:xfrm>
          <a:prstGeom prst="rect">
            <a:avLst/>
          </a:prstGeom>
          <a:solidFill>
            <a:srgbClr val="C9A961"/>
          </a:solidFill>
          <a:ln/>
        </p:spPr>
      </p:sp>
      <p:sp>
        <p:nvSpPr>
          <p:cNvPr id="21" name="Text 18"/>
          <p:cNvSpPr/>
          <p:nvPr/>
        </p:nvSpPr>
        <p:spPr>
          <a:xfrm>
            <a:off x="457200" y="6446520"/>
            <a:ext cx="7315200" cy="228600"/>
          </a:xfrm>
          <a:prstGeom prst="rect">
            <a:avLst/>
          </a:prstGeom>
          <a:noFill/>
          <a:ln/>
        </p:spPr>
        <p:txBody>
          <a:bodyPr wrap="square" rtlCol="0" anchor="ctr"/>
          <a:lstStyle/>
          <a:p>
            <a:pPr indent="0" marL="0">
              <a:buNone/>
            </a:pPr>
            <a:r>
              <a:rPr lang="en-US" sz="900" dirty="0">
                <a:solidFill>
                  <a:srgbClr val="4A5A75"/>
                </a:solidFill>
                <a:latin typeface="Calibri" pitchFamily="34" charset="0"/>
                <a:ea typeface="Calibri" pitchFamily="34" charset="-122"/>
                <a:cs typeface="Calibri" pitchFamily="34" charset="-120"/>
              </a:rPr>
              <a:t>House of Yachts  |  Mandagsmøte uke 34  |  17. august 2026</a:t>
            </a:r>
            <a:endParaRPr lang="en-US" sz="900" dirty="0"/>
          </a:p>
        </p:txBody>
      </p:sp>
      <p:sp>
        <p:nvSpPr>
          <p:cNvPr id="22" name="Text 19"/>
          <p:cNvSpPr/>
          <p:nvPr/>
        </p:nvSpPr>
        <p:spPr>
          <a:xfrm>
            <a:off x="10789920" y="6446520"/>
            <a:ext cx="914400" cy="228600"/>
          </a:xfrm>
          <a:prstGeom prst="rect">
            <a:avLst/>
          </a:prstGeom>
          <a:noFill/>
          <a:ln/>
        </p:spPr>
        <p:txBody>
          <a:bodyPr wrap="square" rtlCol="0" anchor="ctr"/>
          <a:lstStyle/>
          <a:p>
            <a:pPr algn="r" indent="0" marL="0">
              <a:buNone/>
            </a:pPr>
            <a:r>
              <a:rPr lang="en-US" sz="900" dirty="0">
                <a:solidFill>
                  <a:srgbClr val="4A5A75"/>
                </a:solidFill>
                <a:latin typeface="Calibri" pitchFamily="34" charset="0"/>
                <a:ea typeface="Calibri" pitchFamily="34" charset="-122"/>
                <a:cs typeface="Calibri" pitchFamily="34" charset="-120"/>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B"/>
        </a:solidFill>
      </p:bgPr>
    </p:bg>
    <p:spTree>
      <p:nvGrpSpPr>
        <p:cNvPr id="1" name=""/>
        <p:cNvGrpSpPr/>
        <p:nvPr/>
      </p:nvGrpSpPr>
      <p:grpSpPr>
        <a:xfrm>
          <a:off x="0" y="0"/>
          <a:ext cx="0" cy="0"/>
          <a:chOff x="0" y="0"/>
          <a:chExt cx="0" cy="0"/>
        </a:xfrm>
      </p:grpSpPr>
      <p:sp>
        <p:nvSpPr>
          <p:cNvPr id="3" name="Shape 0"/>
          <p:cNvSpPr/>
          <p:nvPr/>
        </p:nvSpPr>
        <p:spPr>
          <a:xfrm>
            <a:off x="0" y="0"/>
            <a:ext cx="228600" cy="6858000"/>
          </a:xfrm>
          <a:prstGeom prst="rect">
            <a:avLst/>
          </a:prstGeom>
          <a:solidFill>
            <a:srgbClr val="0E2A4A"/>
          </a:solidFill>
          <a:ln/>
        </p:spPr>
      </p:sp>
      <p:sp>
        <p:nvSpPr>
          <p:cNvPr id="4" name="Text 1"/>
          <p:cNvSpPr/>
          <p:nvPr/>
        </p:nvSpPr>
        <p:spPr>
          <a:xfrm>
            <a:off x="640080" y="457200"/>
            <a:ext cx="9144000" cy="365760"/>
          </a:xfrm>
          <a:prstGeom prst="rect">
            <a:avLst/>
          </a:prstGeom>
          <a:noFill/>
          <a:ln/>
        </p:spPr>
        <p:txBody>
          <a:bodyPr wrap="square" rtlCol="0" anchor="ctr"/>
          <a:lstStyle/>
          <a:p>
            <a:pPr indent="0" marL="0">
              <a:buNone/>
            </a:pPr>
            <a:r>
              <a:rPr lang="en-US" sz="1100" b="1" spc="500" kern="0" dirty="0">
                <a:solidFill>
                  <a:srgbClr val="C9A961"/>
                </a:solidFill>
                <a:latin typeface="Calibri" pitchFamily="34" charset="0"/>
                <a:ea typeface="Calibri" pitchFamily="34" charset="-122"/>
                <a:cs typeface="Calibri" pitchFamily="34" charset="-120"/>
              </a:rPr>
              <a:t>DEL 1 · 03 FORDELING</a:t>
            </a:r>
            <a:endParaRPr lang="en-US" sz="1100" dirty="0"/>
          </a:p>
        </p:txBody>
      </p:sp>
      <p:sp>
        <p:nvSpPr>
          <p:cNvPr id="5" name="Text 2"/>
          <p:cNvSpPr/>
          <p:nvPr/>
        </p:nvSpPr>
        <p:spPr>
          <a:xfrm>
            <a:off x="640080" y="822960"/>
            <a:ext cx="10972800" cy="731520"/>
          </a:xfrm>
          <a:prstGeom prst="rect">
            <a:avLst/>
          </a:prstGeom>
          <a:noFill/>
          <a:ln/>
        </p:spPr>
        <p:txBody>
          <a:bodyPr wrap="square" rtlCol="0" anchor="ctr"/>
          <a:lstStyle/>
          <a:p>
            <a:pPr indent="0" marL="0">
              <a:buNone/>
            </a:pPr>
            <a:r>
              <a:rPr lang="en-US" sz="3400" i="1" dirty="0">
                <a:solidFill>
                  <a:srgbClr val="15233A"/>
                </a:solidFill>
                <a:latin typeface="Georgia" pitchFamily="34" charset="0"/>
                <a:ea typeface="Georgia" pitchFamily="34" charset="-122"/>
                <a:cs typeface="Georgia" pitchFamily="34" charset="-120"/>
              </a:rPr>
              <a:t>Daniels 11 oppdrag — ny ansvarlig</a:t>
            </a:r>
            <a:endParaRPr lang="en-US" sz="3400" dirty="0"/>
          </a:p>
        </p:txBody>
      </p:sp>
      <p:sp>
        <p:nvSpPr>
          <p:cNvPr id="6" name="Shape 3"/>
          <p:cNvSpPr/>
          <p:nvPr/>
        </p:nvSpPr>
        <p:spPr>
          <a:xfrm>
            <a:off x="640080" y="1828800"/>
            <a:ext cx="5394960" cy="3108960"/>
          </a:xfrm>
          <a:prstGeom prst="rect">
            <a:avLst/>
          </a:prstGeom>
          <a:solidFill>
            <a:srgbClr val="FFFFFF"/>
          </a:solidFill>
          <a:ln w="12700">
            <a:solidFill>
              <a:srgbClr val="D4CBB8"/>
            </a:solidFill>
            <a:prstDash val="solid"/>
          </a:ln>
        </p:spPr>
      </p:sp>
      <p:sp>
        <p:nvSpPr>
          <p:cNvPr id="7" name="Shape 4"/>
          <p:cNvSpPr/>
          <p:nvPr/>
        </p:nvSpPr>
        <p:spPr>
          <a:xfrm>
            <a:off x="640080" y="1828800"/>
            <a:ext cx="5394960" cy="502920"/>
          </a:xfrm>
          <a:prstGeom prst="rect">
            <a:avLst/>
          </a:prstGeom>
          <a:solidFill>
            <a:srgbClr val="0E2A4A"/>
          </a:solidFill>
          <a:ln/>
        </p:spPr>
      </p:sp>
      <p:sp>
        <p:nvSpPr>
          <p:cNvPr id="8" name="Text 5"/>
          <p:cNvSpPr/>
          <p:nvPr/>
        </p:nvSpPr>
        <p:spPr>
          <a:xfrm>
            <a:off x="822960" y="1892808"/>
            <a:ext cx="502920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SINDRE — 3 oppdrag (store + Cormate)</a:t>
            </a:r>
            <a:endParaRPr lang="en-US" sz="1300" dirty="0"/>
          </a:p>
        </p:txBody>
      </p:sp>
      <p:sp>
        <p:nvSpPr>
          <p:cNvPr id="9" name="Text 6"/>
          <p:cNvSpPr/>
          <p:nvPr/>
        </p:nvSpPr>
        <p:spPr>
          <a:xfrm>
            <a:off x="822960" y="2514600"/>
            <a:ext cx="5029200" cy="2286000"/>
          </a:xfrm>
          <a:prstGeom prst="rect">
            <a:avLst/>
          </a:prstGeom>
          <a:noFill/>
          <a:ln/>
        </p:spPr>
        <p:txBody>
          <a:bodyPr wrap="square" rtlCol="0" anchor="t"/>
          <a:lstStyle/>
          <a:p>
            <a:pPr indent="0" marL="0">
              <a:buNone/>
            </a:pPr>
            <a:r>
              <a:rPr lang="en-US" sz="1300" dirty="0">
                <a:solidFill>
                  <a:srgbClr val="15233A"/>
                </a:solidFill>
                <a:latin typeface="Calibri" pitchFamily="34" charset="0"/>
                <a:ea typeface="Calibri" pitchFamily="34" charset="-122"/>
                <a:cs typeface="Calibri" pitchFamily="34" charset="-120"/>
              </a:rPr>
              <a:t>25081  Hydrolift X-32S</a:t>
            </a:r>
            <a:endParaRPr lang="en-US" sz="1300" dirty="0"/>
          </a:p>
          <a:p>
            <a:pPr indent="0" marL="0">
              <a:buNone/>
            </a:pPr>
            <a:r>
              <a:rPr lang="en-US" sz="1300" dirty="0">
                <a:solidFill>
                  <a:srgbClr val="15233A"/>
                </a:solidFill>
                <a:latin typeface="Calibri" pitchFamily="34" charset="0"/>
                <a:ea typeface="Calibri" pitchFamily="34" charset="-122"/>
                <a:cs typeface="Calibri" pitchFamily="34" charset="-120"/>
              </a:rPr>
              <a:t>           342 dager — prisvurdering først</a:t>
            </a:r>
            <a:endParaRPr lang="en-US" sz="1300" dirty="0"/>
          </a:p>
          <a:p>
            <a:pPr indent="0" marL="0">
              <a:buNone/>
            </a:pPr>
            <a:endParaRPr lang="en-US" sz="1300" dirty="0"/>
          </a:p>
          <a:p>
            <a:pPr indent="0" marL="0">
              <a:buNone/>
            </a:pPr>
            <a:r>
              <a:rPr lang="en-US" sz="1300" dirty="0">
                <a:solidFill>
                  <a:srgbClr val="15233A"/>
                </a:solidFill>
                <a:latin typeface="Calibri" pitchFamily="34" charset="0"/>
                <a:ea typeface="Calibri" pitchFamily="34" charset="-122"/>
                <a:cs typeface="Calibri" pitchFamily="34" charset="-120"/>
              </a:rPr>
              <a:t>25096  Axopar 37 Sun Top</a:t>
            </a:r>
            <a:endParaRPr lang="en-US" sz="1300" dirty="0"/>
          </a:p>
          <a:p>
            <a:pPr indent="0" marL="0">
              <a:buNone/>
            </a:pPr>
            <a:r>
              <a:rPr lang="en-US" sz="1300" dirty="0">
                <a:solidFill>
                  <a:srgbClr val="15233A"/>
                </a:solidFill>
                <a:latin typeface="Calibri" pitchFamily="34" charset="0"/>
                <a:ea typeface="Calibri" pitchFamily="34" charset="-122"/>
                <a:cs typeface="Calibri" pitchFamily="34" charset="-120"/>
              </a:rPr>
              <a:t>           276 dager</a:t>
            </a:r>
            <a:endParaRPr lang="en-US" sz="1300" dirty="0"/>
          </a:p>
          <a:p>
            <a:pPr indent="0" marL="0">
              <a:buNone/>
            </a:pPr>
            <a:endParaRPr lang="en-US" sz="1300" dirty="0"/>
          </a:p>
          <a:p>
            <a:pPr indent="0" marL="0">
              <a:buNone/>
            </a:pPr>
            <a:r>
              <a:rPr lang="en-US" sz="1300" dirty="0">
                <a:solidFill>
                  <a:srgbClr val="15233A"/>
                </a:solidFill>
                <a:latin typeface="Calibri" pitchFamily="34" charset="0"/>
                <a:ea typeface="Calibri" pitchFamily="34" charset="-122"/>
                <a:cs typeface="Calibri" pitchFamily="34" charset="-120"/>
              </a:rPr>
              <a:t>26075  Cormate T27 2011</a:t>
            </a:r>
            <a:endParaRPr lang="en-US" sz="1300" dirty="0"/>
          </a:p>
          <a:p>
            <a:pPr indent="0" marL="0">
              <a:buNone/>
            </a:pPr>
            <a:r>
              <a:rPr lang="en-US" sz="1300" dirty="0">
                <a:solidFill>
                  <a:srgbClr val="15233A"/>
                </a:solidFill>
                <a:latin typeface="Calibri" pitchFamily="34" charset="0"/>
                <a:ea typeface="Calibri" pitchFamily="34" charset="-122"/>
                <a:cs typeface="Calibri" pitchFamily="34" charset="-120"/>
              </a:rPr>
              <a:t>           rask omsetning i det segmentet</a:t>
            </a:r>
            <a:endParaRPr lang="en-US" sz="1300" dirty="0"/>
          </a:p>
        </p:txBody>
      </p:sp>
      <p:sp>
        <p:nvSpPr>
          <p:cNvPr id="10" name="Shape 7"/>
          <p:cNvSpPr/>
          <p:nvPr/>
        </p:nvSpPr>
        <p:spPr>
          <a:xfrm>
            <a:off x="6217920" y="1828800"/>
            <a:ext cx="5303520" cy="3108960"/>
          </a:xfrm>
          <a:prstGeom prst="rect">
            <a:avLst/>
          </a:prstGeom>
          <a:solidFill>
            <a:srgbClr val="FFFFFF"/>
          </a:solidFill>
          <a:ln w="12700">
            <a:solidFill>
              <a:srgbClr val="D4CBB8"/>
            </a:solidFill>
            <a:prstDash val="solid"/>
          </a:ln>
        </p:spPr>
      </p:sp>
      <p:sp>
        <p:nvSpPr>
          <p:cNvPr id="11" name="Shape 8"/>
          <p:cNvSpPr/>
          <p:nvPr/>
        </p:nvSpPr>
        <p:spPr>
          <a:xfrm>
            <a:off x="6217920" y="1828800"/>
            <a:ext cx="5303520" cy="502920"/>
          </a:xfrm>
          <a:prstGeom prst="rect">
            <a:avLst/>
          </a:prstGeom>
          <a:solidFill>
            <a:srgbClr val="0E2A4A"/>
          </a:solidFill>
          <a:ln/>
        </p:spPr>
      </p:sp>
      <p:sp>
        <p:nvSpPr>
          <p:cNvPr id="12" name="Text 9"/>
          <p:cNvSpPr/>
          <p:nvPr/>
        </p:nvSpPr>
        <p:spPr>
          <a:xfrm>
            <a:off x="6400800" y="1892808"/>
            <a:ext cx="5029200" cy="41148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HENRIK — 8 oppdrag (volum under 2M)</a:t>
            </a:r>
            <a:endParaRPr lang="en-US" sz="1300" dirty="0"/>
          </a:p>
        </p:txBody>
      </p:sp>
      <p:sp>
        <p:nvSpPr>
          <p:cNvPr id="13" name="Text 10"/>
          <p:cNvSpPr/>
          <p:nvPr/>
        </p:nvSpPr>
        <p:spPr>
          <a:xfrm>
            <a:off x="6400800" y="2514600"/>
            <a:ext cx="5029200" cy="2286000"/>
          </a:xfrm>
          <a:prstGeom prst="rect">
            <a:avLst/>
          </a:prstGeom>
          <a:noFill/>
          <a:ln/>
        </p:spPr>
        <p:txBody>
          <a:bodyPr wrap="square" rtlCol="0" anchor="t"/>
          <a:lstStyle/>
          <a:p>
            <a:pPr indent="0" marL="0">
              <a:buNone/>
            </a:pPr>
            <a:r>
              <a:rPr lang="en-US" sz="1200" dirty="0">
                <a:solidFill>
                  <a:srgbClr val="15233A"/>
                </a:solidFill>
                <a:latin typeface="Calibri" pitchFamily="34" charset="0"/>
                <a:ea typeface="Calibri" pitchFamily="34" charset="-122"/>
                <a:cs typeface="Calibri" pitchFamily="34" charset="-120"/>
              </a:rPr>
              <a:t>26053  Marex 350 CC          26033  Gobbi 425</a:t>
            </a:r>
            <a:endParaRPr lang="en-US" sz="1200" dirty="0"/>
          </a:p>
          <a:p>
            <a:pPr indent="0" marL="0">
              <a:buNone/>
            </a:pPr>
            <a:r>
              <a:rPr lang="en-US" sz="1200" dirty="0">
                <a:solidFill>
                  <a:srgbClr val="15233A"/>
                </a:solidFill>
                <a:latin typeface="Calibri" pitchFamily="34" charset="0"/>
                <a:ea typeface="Calibri" pitchFamily="34" charset="-122"/>
                <a:cs typeface="Calibri" pitchFamily="34" charset="-120"/>
              </a:rPr>
              <a:t>26029  Quicksilver 875      26074  Capelli Tempest</a:t>
            </a:r>
            <a:endParaRPr lang="en-US" sz="1200" dirty="0"/>
          </a:p>
          <a:p>
            <a:pPr indent="0" marL="0">
              <a:buNone/>
            </a:pPr>
            <a:r>
              <a:rPr lang="en-US" sz="1200" dirty="0">
                <a:solidFill>
                  <a:srgbClr val="15233A"/>
                </a:solidFill>
                <a:latin typeface="Calibri" pitchFamily="34" charset="0"/>
                <a:ea typeface="Calibri" pitchFamily="34" charset="-122"/>
                <a:cs typeface="Calibri" pitchFamily="34" charset="-120"/>
              </a:rPr>
              <a:t>26032  Sunseeker S.hawk   26048  Sea Ray 355</a:t>
            </a:r>
            <a:endParaRPr lang="en-US" sz="1200" dirty="0"/>
          </a:p>
          <a:p>
            <a:pPr indent="0" marL="0">
              <a:buNone/>
            </a:pPr>
            <a:r>
              <a:rPr lang="en-US" sz="1200" dirty="0">
                <a:solidFill>
                  <a:srgbClr val="15233A"/>
                </a:solidFill>
                <a:latin typeface="Calibri" pitchFamily="34" charset="0"/>
                <a:ea typeface="Calibri" pitchFamily="34" charset="-122"/>
                <a:cs typeface="Calibri" pitchFamily="34" charset="-120"/>
              </a:rPr>
              <a:t>26031  Campi 400 Husbåt   26076  Bavaria 29 Sport</a:t>
            </a:r>
            <a:endParaRPr lang="en-US" sz="1200" dirty="0"/>
          </a:p>
        </p:txBody>
      </p:sp>
      <p:sp>
        <p:nvSpPr>
          <p:cNvPr id="14" name="Shape 11"/>
          <p:cNvSpPr/>
          <p:nvPr/>
        </p:nvSpPr>
        <p:spPr>
          <a:xfrm>
            <a:off x="640080" y="5120640"/>
            <a:ext cx="10972800" cy="1188720"/>
          </a:xfrm>
          <a:prstGeom prst="rect">
            <a:avLst/>
          </a:prstGeom>
          <a:solidFill>
            <a:srgbClr val="0E2A4A"/>
          </a:solidFill>
          <a:ln/>
        </p:spPr>
      </p:sp>
      <p:sp>
        <p:nvSpPr>
          <p:cNvPr id="15" name="Text 12"/>
          <p:cNvSpPr/>
          <p:nvPr/>
        </p:nvSpPr>
        <p:spPr>
          <a:xfrm>
            <a:off x="822960" y="5230368"/>
            <a:ext cx="10515600" cy="274320"/>
          </a:xfrm>
          <a:prstGeom prst="rect">
            <a:avLst/>
          </a:prstGeom>
          <a:noFill/>
          <a:ln/>
        </p:spPr>
        <p:txBody>
          <a:bodyPr wrap="square" rtlCol="0" anchor="ctr"/>
          <a:lstStyle/>
          <a:p>
            <a:pPr indent="0" marL="0">
              <a:buNone/>
            </a:pPr>
            <a:r>
              <a:rPr lang="en-US" sz="1100" b="1" spc="400" kern="0" dirty="0">
                <a:solidFill>
                  <a:srgbClr val="C9A961"/>
                </a:solidFill>
                <a:latin typeface="Calibri" pitchFamily="34" charset="0"/>
                <a:ea typeface="Calibri" pitchFamily="34" charset="-122"/>
                <a:cs typeface="Calibri" pitchFamily="34" charset="-120"/>
              </a:rPr>
              <a:t>SLIK OVERTAR VI</a:t>
            </a:r>
            <a:endParaRPr lang="en-US" sz="1100" dirty="0"/>
          </a:p>
        </p:txBody>
      </p:sp>
      <p:sp>
        <p:nvSpPr>
          <p:cNvPr id="16" name="Text 13"/>
          <p:cNvSpPr/>
          <p:nvPr/>
        </p:nvSpPr>
        <p:spPr>
          <a:xfrm>
            <a:off x="822960" y="5532120"/>
            <a:ext cx="10515600" cy="685800"/>
          </a:xfrm>
          <a:prstGeom prst="rect">
            <a:avLst/>
          </a:prstGeom>
          <a:noFill/>
          <a:ln/>
        </p:spPr>
        <p:txBody>
          <a:bodyPr wrap="square" rtlCol="0" anchor="t"/>
          <a:lstStyle/>
          <a:p>
            <a:pPr indent="0" marL="0">
              <a:buNone/>
            </a:pPr>
            <a:r>
              <a:rPr lang="en-US" sz="1300" dirty="0">
                <a:solidFill>
                  <a:srgbClr val="FFFFFF"/>
                </a:solidFill>
                <a:latin typeface="Calibri" pitchFamily="34" charset="0"/>
                <a:ea typeface="Calibri" pitchFamily="34" charset="-122"/>
                <a:cs typeface="Calibri" pitchFamily="34" charset="-120"/>
              </a:rPr>
              <a:t>Hver selger kontaktes personlig av ny ansvarlig megler innen én uke — med oppdatert prisvurdering som samtaleåpner. Avtalene løper videre med selskapet; det er relasjonen som skal overtas.</a:t>
            </a:r>
            <a:endParaRPr lang="en-US" sz="1300" dirty="0"/>
          </a:p>
        </p:txBody>
      </p:sp>
      <p:sp>
        <p:nvSpPr>
          <p:cNvPr id="17" name="Shape 14"/>
          <p:cNvSpPr/>
          <p:nvPr/>
        </p:nvSpPr>
        <p:spPr>
          <a:xfrm>
            <a:off x="0" y="6675120"/>
            <a:ext cx="12191695" cy="182880"/>
          </a:xfrm>
          <a:prstGeom prst="rect">
            <a:avLst/>
          </a:prstGeom>
          <a:solidFill>
            <a:srgbClr val="C9A961"/>
          </a:solidFill>
          <a:ln/>
        </p:spPr>
      </p:sp>
      <p:sp>
        <p:nvSpPr>
          <p:cNvPr id="18" name="Text 15"/>
          <p:cNvSpPr/>
          <p:nvPr/>
        </p:nvSpPr>
        <p:spPr>
          <a:xfrm>
            <a:off x="457200" y="6446520"/>
            <a:ext cx="7315200" cy="228600"/>
          </a:xfrm>
          <a:prstGeom prst="rect">
            <a:avLst/>
          </a:prstGeom>
          <a:noFill/>
          <a:ln/>
        </p:spPr>
        <p:txBody>
          <a:bodyPr wrap="square" rtlCol="0" anchor="ctr"/>
          <a:lstStyle/>
          <a:p>
            <a:pPr indent="0" marL="0">
              <a:buNone/>
            </a:pPr>
            <a:r>
              <a:rPr lang="en-US" sz="900" dirty="0">
                <a:solidFill>
                  <a:srgbClr val="4A5A75"/>
                </a:solidFill>
                <a:latin typeface="Calibri" pitchFamily="34" charset="0"/>
                <a:ea typeface="Calibri" pitchFamily="34" charset="-122"/>
                <a:cs typeface="Calibri" pitchFamily="34" charset="-120"/>
              </a:rPr>
              <a:t>House of Yachts  |  Mandagsmøte uke 34  |  17. august 2026</a:t>
            </a:r>
            <a:endParaRPr lang="en-US" sz="900" dirty="0"/>
          </a:p>
        </p:txBody>
      </p:sp>
      <p:sp>
        <p:nvSpPr>
          <p:cNvPr id="19" name="Text 16"/>
          <p:cNvSpPr/>
          <p:nvPr/>
        </p:nvSpPr>
        <p:spPr>
          <a:xfrm>
            <a:off x="10789920" y="6446520"/>
            <a:ext cx="914400" cy="228600"/>
          </a:xfrm>
          <a:prstGeom prst="rect">
            <a:avLst/>
          </a:prstGeom>
          <a:noFill/>
          <a:ln/>
        </p:spPr>
        <p:txBody>
          <a:bodyPr wrap="square" rtlCol="0" anchor="ctr"/>
          <a:lstStyle/>
          <a:p>
            <a:pPr algn="r" indent="0" marL="0">
              <a:buNone/>
            </a:pPr>
            <a:r>
              <a:rPr lang="en-US" sz="900" dirty="0">
                <a:solidFill>
                  <a:srgbClr val="4A5A75"/>
                </a:solidFill>
                <a:latin typeface="Calibri" pitchFamily="34" charset="0"/>
                <a:ea typeface="Calibri" pitchFamily="34" charset="-122"/>
                <a:cs typeface="Calibri" pitchFamily="34" charset="-120"/>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B"/>
        </a:solidFill>
      </p:bgPr>
    </p:bg>
    <p:spTree>
      <p:nvGrpSpPr>
        <p:cNvPr id="1" name=""/>
        <p:cNvGrpSpPr/>
        <p:nvPr/>
      </p:nvGrpSpPr>
      <p:grpSpPr>
        <a:xfrm>
          <a:off x="0" y="0"/>
          <a:ext cx="0" cy="0"/>
          <a:chOff x="0" y="0"/>
          <a:chExt cx="0" cy="0"/>
        </a:xfrm>
      </p:grpSpPr>
      <p:sp>
        <p:nvSpPr>
          <p:cNvPr id="3" name="Shape 0"/>
          <p:cNvSpPr/>
          <p:nvPr/>
        </p:nvSpPr>
        <p:spPr>
          <a:xfrm>
            <a:off x="0" y="0"/>
            <a:ext cx="228600" cy="6858000"/>
          </a:xfrm>
          <a:prstGeom prst="rect">
            <a:avLst/>
          </a:prstGeom>
          <a:solidFill>
            <a:srgbClr val="0E2A4A"/>
          </a:solidFill>
          <a:ln/>
        </p:spPr>
      </p:sp>
      <p:sp>
        <p:nvSpPr>
          <p:cNvPr id="4" name="Text 1"/>
          <p:cNvSpPr/>
          <p:nvPr/>
        </p:nvSpPr>
        <p:spPr>
          <a:xfrm>
            <a:off x="640080" y="457200"/>
            <a:ext cx="9144000" cy="365760"/>
          </a:xfrm>
          <a:prstGeom prst="rect">
            <a:avLst/>
          </a:prstGeom>
          <a:noFill/>
          <a:ln/>
        </p:spPr>
        <p:txBody>
          <a:bodyPr wrap="square" rtlCol="0" anchor="ctr"/>
          <a:lstStyle/>
          <a:p>
            <a:pPr indent="0" marL="0">
              <a:buNone/>
            </a:pPr>
            <a:r>
              <a:rPr lang="en-US" sz="1100" b="1" spc="500" kern="0" dirty="0">
                <a:solidFill>
                  <a:srgbClr val="C9A961"/>
                </a:solidFill>
                <a:latin typeface="Calibri" pitchFamily="34" charset="0"/>
                <a:ea typeface="Calibri" pitchFamily="34" charset="-122"/>
                <a:cs typeface="Calibri" pitchFamily="34" charset="-120"/>
              </a:rPr>
              <a:t>DEL 1 · 04 DENNE UKEN</a:t>
            </a:r>
            <a:endParaRPr lang="en-US" sz="1100" dirty="0"/>
          </a:p>
        </p:txBody>
      </p:sp>
      <p:sp>
        <p:nvSpPr>
          <p:cNvPr id="5" name="Text 2"/>
          <p:cNvSpPr/>
          <p:nvPr/>
        </p:nvSpPr>
        <p:spPr>
          <a:xfrm>
            <a:off x="640080" y="822960"/>
            <a:ext cx="10972800" cy="731520"/>
          </a:xfrm>
          <a:prstGeom prst="rect">
            <a:avLst/>
          </a:prstGeom>
          <a:noFill/>
          <a:ln/>
        </p:spPr>
        <p:txBody>
          <a:bodyPr wrap="square" rtlCol="0" anchor="ctr"/>
          <a:lstStyle/>
          <a:p>
            <a:pPr indent="0" marL="0">
              <a:buNone/>
            </a:pPr>
            <a:r>
              <a:rPr lang="en-US" sz="3600" i="1" dirty="0">
                <a:solidFill>
                  <a:srgbClr val="15233A"/>
                </a:solidFill>
                <a:latin typeface="Georgia" pitchFamily="34" charset="0"/>
                <a:ea typeface="Georgia" pitchFamily="34" charset="-122"/>
                <a:cs typeface="Georgia" pitchFamily="34" charset="-120"/>
              </a:rPr>
              <a:t>Tre punkter denne uken</a:t>
            </a:r>
            <a:endParaRPr lang="en-US" sz="3600" dirty="0"/>
          </a:p>
        </p:txBody>
      </p:sp>
      <p:sp>
        <p:nvSpPr>
          <p:cNvPr id="6" name="Shape 3"/>
          <p:cNvSpPr/>
          <p:nvPr/>
        </p:nvSpPr>
        <p:spPr>
          <a:xfrm>
            <a:off x="640080" y="1828800"/>
            <a:ext cx="10972800" cy="1371600"/>
          </a:xfrm>
          <a:prstGeom prst="rect">
            <a:avLst/>
          </a:prstGeom>
          <a:solidFill>
            <a:srgbClr val="FFFFFF"/>
          </a:solidFill>
          <a:ln w="12700">
            <a:solidFill>
              <a:srgbClr val="D4CBB8"/>
            </a:solidFill>
            <a:prstDash val="solid"/>
          </a:ln>
        </p:spPr>
      </p:sp>
      <p:sp>
        <p:nvSpPr>
          <p:cNvPr id="7" name="Text 4"/>
          <p:cNvSpPr/>
          <p:nvPr/>
        </p:nvSpPr>
        <p:spPr>
          <a:xfrm>
            <a:off x="822960" y="2103120"/>
            <a:ext cx="822960" cy="822960"/>
          </a:xfrm>
          <a:prstGeom prst="rect">
            <a:avLst/>
          </a:prstGeom>
          <a:noFill/>
          <a:ln/>
        </p:spPr>
        <p:txBody>
          <a:bodyPr wrap="square" rtlCol="0" anchor="ctr"/>
          <a:lstStyle/>
          <a:p>
            <a:pPr indent="0" marL="0">
              <a:buNone/>
            </a:pPr>
            <a:r>
              <a:rPr lang="en-US" sz="3000" i="1" dirty="0">
                <a:solidFill>
                  <a:srgbClr val="C9A961"/>
                </a:solidFill>
                <a:latin typeface="Georgia" pitchFamily="34" charset="0"/>
                <a:ea typeface="Georgia" pitchFamily="34" charset="-122"/>
                <a:cs typeface="Georgia" pitchFamily="34" charset="-120"/>
              </a:rPr>
              <a:t>01</a:t>
            </a:r>
            <a:endParaRPr lang="en-US" sz="3000" dirty="0"/>
          </a:p>
        </p:txBody>
      </p:sp>
      <p:sp>
        <p:nvSpPr>
          <p:cNvPr id="8" name="Text 5"/>
          <p:cNvSpPr/>
          <p:nvPr/>
        </p:nvSpPr>
        <p:spPr>
          <a:xfrm>
            <a:off x="1737360" y="1965960"/>
            <a:ext cx="9601200" cy="411480"/>
          </a:xfrm>
          <a:prstGeom prst="rect">
            <a:avLst/>
          </a:prstGeom>
          <a:noFill/>
          <a:ln/>
        </p:spPr>
        <p:txBody>
          <a:bodyPr wrap="square" rtlCol="0" anchor="ctr"/>
          <a:lstStyle/>
          <a:p>
            <a:pPr indent="0" marL="0">
              <a:buNone/>
            </a:pPr>
            <a:r>
              <a:rPr lang="en-US" sz="1600" b="1" dirty="0">
                <a:solidFill>
                  <a:srgbClr val="15233A"/>
                </a:solidFill>
                <a:latin typeface="Calibri" pitchFamily="34" charset="0"/>
                <a:ea typeface="Calibri" pitchFamily="34" charset="-122"/>
                <a:cs typeface="Calibri" pitchFamily="34" charset="-120"/>
              </a:rPr>
              <a:t>Prisvurdering på båter over 2M som har stått lenge</a:t>
            </a:r>
            <a:endParaRPr lang="en-US" sz="1600" dirty="0"/>
          </a:p>
        </p:txBody>
      </p:sp>
      <p:sp>
        <p:nvSpPr>
          <p:cNvPr id="9" name="Text 6"/>
          <p:cNvSpPr/>
          <p:nvPr/>
        </p:nvSpPr>
        <p:spPr>
          <a:xfrm>
            <a:off x="1737360" y="2377440"/>
            <a:ext cx="9601200" cy="777240"/>
          </a:xfrm>
          <a:prstGeom prst="rect">
            <a:avLst/>
          </a:prstGeom>
          <a:noFill/>
          <a:ln/>
        </p:spPr>
        <p:txBody>
          <a:bodyPr wrap="square" rtlCol="0" anchor="ctr"/>
          <a:lstStyle/>
          <a:p>
            <a:pPr indent="0" marL="0">
              <a:buNone/>
            </a:pPr>
            <a:r>
              <a:rPr lang="en-US" sz="1200" dirty="0">
                <a:solidFill>
                  <a:srgbClr val="4A5A75"/>
                </a:solidFill>
                <a:latin typeface="Calibri" pitchFamily="34" charset="0"/>
                <a:ea typeface="Calibri" pitchFamily="34" charset="-122"/>
                <a:cs typeface="Calibri" pitchFamily="34" charset="-120"/>
              </a:rPr>
              <a:t>Alle over 2M uten prisjustering på 90+ dager tas opp med selger denne og neste uke. De eldste har stått i over to år — hver av dem skal enten få ny pris eller avsluttes.</a:t>
            </a:r>
            <a:endParaRPr lang="en-US" sz="1200" dirty="0"/>
          </a:p>
        </p:txBody>
      </p:sp>
      <p:sp>
        <p:nvSpPr>
          <p:cNvPr id="10" name="Shape 7"/>
          <p:cNvSpPr/>
          <p:nvPr/>
        </p:nvSpPr>
        <p:spPr>
          <a:xfrm>
            <a:off x="640080" y="3291840"/>
            <a:ext cx="10972800" cy="1371600"/>
          </a:xfrm>
          <a:prstGeom prst="rect">
            <a:avLst/>
          </a:prstGeom>
          <a:solidFill>
            <a:srgbClr val="FFFFFF"/>
          </a:solidFill>
          <a:ln w="12700">
            <a:solidFill>
              <a:srgbClr val="D4CBB8"/>
            </a:solidFill>
            <a:prstDash val="solid"/>
          </a:ln>
        </p:spPr>
      </p:sp>
      <p:sp>
        <p:nvSpPr>
          <p:cNvPr id="11" name="Text 8"/>
          <p:cNvSpPr/>
          <p:nvPr/>
        </p:nvSpPr>
        <p:spPr>
          <a:xfrm>
            <a:off x="822960" y="3566160"/>
            <a:ext cx="822960" cy="822960"/>
          </a:xfrm>
          <a:prstGeom prst="rect">
            <a:avLst/>
          </a:prstGeom>
          <a:noFill/>
          <a:ln/>
        </p:spPr>
        <p:txBody>
          <a:bodyPr wrap="square" rtlCol="0" anchor="ctr"/>
          <a:lstStyle/>
          <a:p>
            <a:pPr indent="0" marL="0">
              <a:buNone/>
            </a:pPr>
            <a:r>
              <a:rPr lang="en-US" sz="3000" i="1" dirty="0">
                <a:solidFill>
                  <a:srgbClr val="C9A961"/>
                </a:solidFill>
                <a:latin typeface="Georgia" pitchFamily="34" charset="0"/>
                <a:ea typeface="Georgia" pitchFamily="34" charset="-122"/>
                <a:cs typeface="Georgia" pitchFamily="34" charset="-120"/>
              </a:rPr>
              <a:t>02</a:t>
            </a:r>
            <a:endParaRPr lang="en-US" sz="3000" dirty="0"/>
          </a:p>
        </p:txBody>
      </p:sp>
      <p:sp>
        <p:nvSpPr>
          <p:cNvPr id="12" name="Text 9"/>
          <p:cNvSpPr/>
          <p:nvPr/>
        </p:nvSpPr>
        <p:spPr>
          <a:xfrm>
            <a:off x="1737360" y="3429000"/>
            <a:ext cx="9601200" cy="411480"/>
          </a:xfrm>
          <a:prstGeom prst="rect">
            <a:avLst/>
          </a:prstGeom>
          <a:noFill/>
          <a:ln/>
        </p:spPr>
        <p:txBody>
          <a:bodyPr wrap="square" rtlCol="0" anchor="ctr"/>
          <a:lstStyle/>
          <a:p>
            <a:pPr indent="0" marL="0">
              <a:buNone/>
            </a:pPr>
            <a:r>
              <a:rPr lang="en-US" sz="1600" b="1" dirty="0">
                <a:solidFill>
                  <a:srgbClr val="15233A"/>
                </a:solidFill>
                <a:latin typeface="Calibri" pitchFamily="34" charset="0"/>
                <a:ea typeface="Calibri" pitchFamily="34" charset="-122"/>
                <a:cs typeface="Calibri" pitchFamily="34" charset="-120"/>
              </a:rPr>
              <a:t>Storebro Grand Series 62 må publiseres</a:t>
            </a:r>
            <a:endParaRPr lang="en-US" sz="1600" dirty="0"/>
          </a:p>
        </p:txBody>
      </p:sp>
      <p:sp>
        <p:nvSpPr>
          <p:cNvPr id="13" name="Text 10"/>
          <p:cNvSpPr/>
          <p:nvPr/>
        </p:nvSpPr>
        <p:spPr>
          <a:xfrm>
            <a:off x="1737360" y="3840480"/>
            <a:ext cx="9601200" cy="777240"/>
          </a:xfrm>
          <a:prstGeom prst="rect">
            <a:avLst/>
          </a:prstGeom>
          <a:noFill/>
          <a:ln/>
        </p:spPr>
        <p:txBody>
          <a:bodyPr wrap="square" rtlCol="0" anchor="ctr"/>
          <a:lstStyle/>
          <a:p>
            <a:pPr indent="0" marL="0">
              <a:buNone/>
            </a:pPr>
            <a:r>
              <a:rPr lang="en-US" sz="1200" dirty="0">
                <a:solidFill>
                  <a:srgbClr val="4A5A75"/>
                </a:solidFill>
                <a:latin typeface="Calibri" pitchFamily="34" charset="0"/>
                <a:ea typeface="Calibri" pitchFamily="34" charset="-122"/>
                <a:cs typeface="Calibri" pitchFamily="34" charset="-120"/>
              </a:rPr>
              <a:t>53 dager siden signering — målet er 7. Annonsen ut denne uken. (Dette er også et eksempel på publiserings-flaskehalsen fra forrige møte.)</a:t>
            </a:r>
            <a:endParaRPr lang="en-US" sz="1200" dirty="0"/>
          </a:p>
        </p:txBody>
      </p:sp>
      <p:sp>
        <p:nvSpPr>
          <p:cNvPr id="14" name="Shape 11"/>
          <p:cNvSpPr/>
          <p:nvPr/>
        </p:nvSpPr>
        <p:spPr>
          <a:xfrm>
            <a:off x="640080" y="4754880"/>
            <a:ext cx="10972800" cy="1371600"/>
          </a:xfrm>
          <a:prstGeom prst="rect">
            <a:avLst/>
          </a:prstGeom>
          <a:solidFill>
            <a:srgbClr val="FFFFFF"/>
          </a:solidFill>
          <a:ln w="12700">
            <a:solidFill>
              <a:srgbClr val="D4CBB8"/>
            </a:solidFill>
            <a:prstDash val="solid"/>
          </a:ln>
        </p:spPr>
      </p:sp>
      <p:sp>
        <p:nvSpPr>
          <p:cNvPr id="15" name="Text 12"/>
          <p:cNvSpPr/>
          <p:nvPr/>
        </p:nvSpPr>
        <p:spPr>
          <a:xfrm>
            <a:off x="822960" y="5029200"/>
            <a:ext cx="822960" cy="822960"/>
          </a:xfrm>
          <a:prstGeom prst="rect">
            <a:avLst/>
          </a:prstGeom>
          <a:noFill/>
          <a:ln/>
        </p:spPr>
        <p:txBody>
          <a:bodyPr wrap="square" rtlCol="0" anchor="ctr"/>
          <a:lstStyle/>
          <a:p>
            <a:pPr indent="0" marL="0">
              <a:buNone/>
            </a:pPr>
            <a:r>
              <a:rPr lang="en-US" sz="3000" i="1" dirty="0">
                <a:solidFill>
                  <a:srgbClr val="C9A961"/>
                </a:solidFill>
                <a:latin typeface="Georgia" pitchFamily="34" charset="0"/>
                <a:ea typeface="Georgia" pitchFamily="34" charset="-122"/>
                <a:cs typeface="Georgia" pitchFamily="34" charset="-120"/>
              </a:rPr>
              <a:t>03</a:t>
            </a:r>
            <a:endParaRPr lang="en-US" sz="3000" dirty="0"/>
          </a:p>
        </p:txBody>
      </p:sp>
      <p:sp>
        <p:nvSpPr>
          <p:cNvPr id="16" name="Text 13"/>
          <p:cNvSpPr/>
          <p:nvPr/>
        </p:nvSpPr>
        <p:spPr>
          <a:xfrm>
            <a:off x="1737360" y="4892040"/>
            <a:ext cx="9601200" cy="411480"/>
          </a:xfrm>
          <a:prstGeom prst="rect">
            <a:avLst/>
          </a:prstGeom>
          <a:noFill/>
          <a:ln/>
        </p:spPr>
        <p:txBody>
          <a:bodyPr wrap="square" rtlCol="0" anchor="ctr"/>
          <a:lstStyle/>
          <a:p>
            <a:pPr indent="0" marL="0">
              <a:buNone/>
            </a:pPr>
            <a:r>
              <a:rPr lang="en-US" sz="1600" b="1" dirty="0">
                <a:solidFill>
                  <a:srgbClr val="15233A"/>
                </a:solidFill>
                <a:latin typeface="Calibri" pitchFamily="34" charset="0"/>
                <a:ea typeface="Calibri" pitchFamily="34" charset="-122"/>
                <a:cs typeface="Calibri" pitchFamily="34" charset="-120"/>
              </a:rPr>
              <a:t>September-inntaket avgjør resten av året</a:t>
            </a:r>
            <a:endParaRPr lang="en-US" sz="1600" dirty="0"/>
          </a:p>
        </p:txBody>
      </p:sp>
      <p:sp>
        <p:nvSpPr>
          <p:cNvPr id="17" name="Text 14"/>
          <p:cNvSpPr/>
          <p:nvPr/>
        </p:nvSpPr>
        <p:spPr>
          <a:xfrm>
            <a:off x="1737360" y="5303520"/>
            <a:ext cx="9601200" cy="777240"/>
          </a:xfrm>
          <a:prstGeom prst="rect">
            <a:avLst/>
          </a:prstGeom>
          <a:noFill/>
          <a:ln/>
        </p:spPr>
        <p:txBody>
          <a:bodyPr wrap="square" rtlCol="0" anchor="ctr"/>
          <a:lstStyle/>
          <a:p>
            <a:pPr indent="0" marL="0">
              <a:buNone/>
            </a:pPr>
            <a:r>
              <a:rPr lang="en-US" sz="1200" dirty="0">
                <a:solidFill>
                  <a:srgbClr val="4A5A75"/>
                </a:solidFill>
                <a:latin typeface="Calibri" pitchFamily="34" charset="0"/>
                <a:ea typeface="Calibri" pitchFamily="34" charset="-122"/>
                <a:cs typeface="Calibri" pitchFamily="34" charset="-120"/>
              </a:rPr>
              <a:t>Alt som signeres frem til medio oktober kan fortsatt bli 2026-salg. Etter det planlegger vi for vårsalg 2027. Prioriter befaringer og signeringer nå.</a:t>
            </a:r>
            <a:endParaRPr lang="en-US" sz="1200" dirty="0"/>
          </a:p>
        </p:txBody>
      </p:sp>
      <p:sp>
        <p:nvSpPr>
          <p:cNvPr id="18" name="Shape 15"/>
          <p:cNvSpPr/>
          <p:nvPr/>
        </p:nvSpPr>
        <p:spPr>
          <a:xfrm>
            <a:off x="0" y="6675120"/>
            <a:ext cx="12191695" cy="182880"/>
          </a:xfrm>
          <a:prstGeom prst="rect">
            <a:avLst/>
          </a:prstGeom>
          <a:solidFill>
            <a:srgbClr val="C9A961"/>
          </a:solidFill>
          <a:ln/>
        </p:spPr>
      </p:sp>
      <p:sp>
        <p:nvSpPr>
          <p:cNvPr id="19" name="Text 16"/>
          <p:cNvSpPr/>
          <p:nvPr/>
        </p:nvSpPr>
        <p:spPr>
          <a:xfrm>
            <a:off x="457200" y="6446520"/>
            <a:ext cx="7315200" cy="228600"/>
          </a:xfrm>
          <a:prstGeom prst="rect">
            <a:avLst/>
          </a:prstGeom>
          <a:noFill/>
          <a:ln/>
        </p:spPr>
        <p:txBody>
          <a:bodyPr wrap="square" rtlCol="0" anchor="ctr"/>
          <a:lstStyle/>
          <a:p>
            <a:pPr indent="0" marL="0">
              <a:buNone/>
            </a:pPr>
            <a:r>
              <a:rPr lang="en-US" sz="900" dirty="0">
                <a:solidFill>
                  <a:srgbClr val="4A5A75"/>
                </a:solidFill>
                <a:latin typeface="Calibri" pitchFamily="34" charset="0"/>
                <a:ea typeface="Calibri" pitchFamily="34" charset="-122"/>
                <a:cs typeface="Calibri" pitchFamily="34" charset="-120"/>
              </a:rPr>
              <a:t>House of Yachts  |  Mandagsmøte uke 34  |  17. august 2026</a:t>
            </a:r>
            <a:endParaRPr lang="en-US" sz="900" dirty="0"/>
          </a:p>
        </p:txBody>
      </p:sp>
      <p:sp>
        <p:nvSpPr>
          <p:cNvPr id="20" name="Text 17"/>
          <p:cNvSpPr/>
          <p:nvPr/>
        </p:nvSpPr>
        <p:spPr>
          <a:xfrm>
            <a:off x="10789920" y="6446520"/>
            <a:ext cx="914400" cy="228600"/>
          </a:xfrm>
          <a:prstGeom prst="rect">
            <a:avLst/>
          </a:prstGeom>
          <a:noFill/>
          <a:ln/>
        </p:spPr>
        <p:txBody>
          <a:bodyPr wrap="square" rtlCol="0" anchor="ctr"/>
          <a:lstStyle/>
          <a:p>
            <a:pPr algn="r" indent="0" marL="0">
              <a:buNone/>
            </a:pPr>
            <a:r>
              <a:rPr lang="en-US" sz="900" dirty="0">
                <a:solidFill>
                  <a:srgbClr val="4A5A75"/>
                </a:solidFill>
                <a:latin typeface="Calibri" pitchFamily="34" charset="0"/>
                <a:ea typeface="Calibri" pitchFamily="34" charset="-122"/>
                <a:cs typeface="Calibri" pitchFamily="34" charset="-120"/>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2A4A"/>
        </a:solidFill>
      </p:bgPr>
    </p:bg>
    <p:spTree>
      <p:nvGrpSpPr>
        <p:cNvPr id="1" name=""/>
        <p:cNvGrpSpPr/>
        <p:nvPr/>
      </p:nvGrpSpPr>
      <p:grpSpPr>
        <a:xfrm>
          <a:off x="0" y="0"/>
          <a:ext cx="0" cy="0"/>
          <a:chOff x="0" y="0"/>
          <a:chExt cx="0" cy="0"/>
        </a:xfrm>
      </p:grpSpPr>
      <p:sp>
        <p:nvSpPr>
          <p:cNvPr id="3" name="Shape 0"/>
          <p:cNvSpPr/>
          <p:nvPr/>
        </p:nvSpPr>
        <p:spPr>
          <a:xfrm>
            <a:off x="0" y="0"/>
            <a:ext cx="12191695" cy="137160"/>
          </a:xfrm>
          <a:prstGeom prst="rect">
            <a:avLst/>
          </a:prstGeom>
          <a:solidFill>
            <a:srgbClr val="C9A961"/>
          </a:solidFill>
          <a:ln/>
        </p:spPr>
      </p:sp>
      <p:sp>
        <p:nvSpPr>
          <p:cNvPr id="4" name="Text 1"/>
          <p:cNvSpPr/>
          <p:nvPr/>
        </p:nvSpPr>
        <p:spPr>
          <a:xfrm>
            <a:off x="640080" y="457200"/>
            <a:ext cx="9144000" cy="365760"/>
          </a:xfrm>
          <a:prstGeom prst="rect">
            <a:avLst/>
          </a:prstGeom>
          <a:noFill/>
          <a:ln/>
        </p:spPr>
        <p:txBody>
          <a:bodyPr wrap="square" rtlCol="0" anchor="ctr"/>
          <a:lstStyle/>
          <a:p>
            <a:pPr indent="0" marL="0">
              <a:buNone/>
            </a:pPr>
            <a:r>
              <a:rPr lang="en-US" sz="1100" b="1" spc="500" kern="0" dirty="0">
                <a:solidFill>
                  <a:srgbClr val="C9A961"/>
                </a:solidFill>
                <a:latin typeface="Calibri" pitchFamily="34" charset="0"/>
                <a:ea typeface="Calibri" pitchFamily="34" charset="-122"/>
                <a:cs typeface="Calibri" pitchFamily="34" charset="-120"/>
              </a:rPr>
              <a:t>DEL 2 · WORKSHOP</a:t>
            </a:r>
            <a:endParaRPr lang="en-US" sz="1100" dirty="0"/>
          </a:p>
        </p:txBody>
      </p:sp>
      <p:sp>
        <p:nvSpPr>
          <p:cNvPr id="5" name="Text 2"/>
          <p:cNvSpPr/>
          <p:nvPr/>
        </p:nvSpPr>
        <p:spPr>
          <a:xfrm>
            <a:off x="640080" y="822960"/>
            <a:ext cx="10972800" cy="731520"/>
          </a:xfrm>
          <a:prstGeom prst="rect">
            <a:avLst/>
          </a:prstGeom>
          <a:noFill/>
          <a:ln/>
        </p:spPr>
        <p:txBody>
          <a:bodyPr wrap="square" rtlCol="0" anchor="ctr"/>
          <a:lstStyle/>
          <a:p>
            <a:pPr indent="0" marL="0">
              <a:buNone/>
            </a:pPr>
            <a:r>
              <a:rPr lang="en-US" sz="3400" i="1" dirty="0">
                <a:solidFill>
                  <a:srgbClr val="FFFFFF"/>
                </a:solidFill>
                <a:latin typeface="Georgia" pitchFamily="34" charset="0"/>
                <a:ea typeface="Georgia" pitchFamily="34" charset="-122"/>
                <a:cs typeface="Georgia" pitchFamily="34" charset="-120"/>
              </a:rPr>
              <a:t>Henrik + Marte: nytt arbeidssystem</a:t>
            </a:r>
            <a:endParaRPr lang="en-US" sz="3400" dirty="0"/>
          </a:p>
        </p:txBody>
      </p:sp>
      <p:sp>
        <p:nvSpPr>
          <p:cNvPr id="6" name="Shape 3"/>
          <p:cNvSpPr/>
          <p:nvPr/>
        </p:nvSpPr>
        <p:spPr>
          <a:xfrm>
            <a:off x="640080" y="1828800"/>
            <a:ext cx="10972800" cy="731520"/>
          </a:xfrm>
          <a:prstGeom prst="rect">
            <a:avLst/>
          </a:prstGeom>
          <a:solidFill>
            <a:srgbClr val="1B3A66"/>
          </a:solidFill>
          <a:ln w="12700">
            <a:solidFill>
              <a:srgbClr val="C9A961"/>
            </a:solidFill>
            <a:prstDash val="solid"/>
          </a:ln>
        </p:spPr>
      </p:sp>
      <p:sp>
        <p:nvSpPr>
          <p:cNvPr id="7" name="Text 4"/>
          <p:cNvSpPr/>
          <p:nvPr/>
        </p:nvSpPr>
        <p:spPr>
          <a:xfrm>
            <a:off x="822960" y="1920240"/>
            <a:ext cx="10607040" cy="548640"/>
          </a:xfrm>
          <a:prstGeom prst="rect">
            <a:avLst/>
          </a:prstGeom>
          <a:noFill/>
          <a:ln/>
        </p:spPr>
        <p:txBody>
          <a:bodyPr wrap="square" rtlCol="0" anchor="ctr"/>
          <a:lstStyle/>
          <a:p>
            <a:pPr indent="0" marL="0">
              <a:buNone/>
            </a:pPr>
            <a:r>
              <a:rPr lang="en-US" sz="1600" i="1" dirty="0">
                <a:solidFill>
                  <a:srgbClr val="FFFFFF"/>
                </a:solidFill>
                <a:latin typeface="Georgia" pitchFamily="34" charset="0"/>
                <a:ea typeface="Georgia" pitchFamily="34" charset="-122"/>
                <a:cs typeface="Georgia" pitchFamily="34" charset="-120"/>
              </a:rPr>
              <a:t>Overveldelse er et systemproblem — ikke et menneskeproblem. Vi bygger systemet sammen i dag.</a:t>
            </a:r>
            <a:endParaRPr lang="en-US" sz="1600" dirty="0"/>
          </a:p>
        </p:txBody>
      </p:sp>
      <p:sp>
        <p:nvSpPr>
          <p:cNvPr id="8" name="Text 5"/>
          <p:cNvSpPr/>
          <p:nvPr/>
        </p:nvSpPr>
        <p:spPr>
          <a:xfrm>
            <a:off x="640080" y="2834640"/>
            <a:ext cx="10972800" cy="320040"/>
          </a:xfrm>
          <a:prstGeom prst="rect">
            <a:avLst/>
          </a:prstGeom>
          <a:noFill/>
          <a:ln/>
        </p:spPr>
        <p:txBody>
          <a:bodyPr wrap="square" rtlCol="0" anchor="ctr"/>
          <a:lstStyle/>
          <a:p>
            <a:pPr indent="0" marL="0">
              <a:buNone/>
            </a:pPr>
            <a:r>
              <a:rPr lang="en-US" sz="1100" b="1" spc="400" kern="0" dirty="0">
                <a:solidFill>
                  <a:srgbClr val="C9A961"/>
                </a:solidFill>
                <a:latin typeface="Calibri" pitchFamily="34" charset="0"/>
                <a:ea typeface="Calibri" pitchFamily="34" charset="-122"/>
                <a:cs typeface="Calibri" pitchFamily="34" charset="-120"/>
              </a:rPr>
              <a:t>MÅLET MED DE NESTE TO TIMENE</a:t>
            </a:r>
            <a:endParaRPr lang="en-US" sz="1100" dirty="0"/>
          </a:p>
        </p:txBody>
      </p:sp>
      <p:sp>
        <p:nvSpPr>
          <p:cNvPr id="9" name="Shape 6"/>
          <p:cNvSpPr/>
          <p:nvPr/>
        </p:nvSpPr>
        <p:spPr>
          <a:xfrm>
            <a:off x="640080" y="3291840"/>
            <a:ext cx="10972800" cy="868680"/>
          </a:xfrm>
          <a:prstGeom prst="rect">
            <a:avLst/>
          </a:prstGeom>
          <a:solidFill>
            <a:srgbClr val="1B3A66"/>
          </a:solidFill>
          <a:ln/>
        </p:spPr>
      </p:sp>
      <p:sp>
        <p:nvSpPr>
          <p:cNvPr id="10" name="Text 7"/>
          <p:cNvSpPr/>
          <p:nvPr/>
        </p:nvSpPr>
        <p:spPr>
          <a:xfrm>
            <a:off x="868680" y="3429000"/>
            <a:ext cx="640080" cy="594360"/>
          </a:xfrm>
          <a:prstGeom prst="rect">
            <a:avLst/>
          </a:prstGeom>
          <a:noFill/>
          <a:ln/>
        </p:spPr>
        <p:txBody>
          <a:bodyPr wrap="square" rtlCol="0" anchor="ctr"/>
          <a:lstStyle/>
          <a:p>
            <a:pPr indent="0" marL="0">
              <a:buNone/>
            </a:pPr>
            <a:r>
              <a:rPr lang="en-US" sz="2800" i="1" dirty="0">
                <a:solidFill>
                  <a:srgbClr val="C9A961"/>
                </a:solidFill>
                <a:latin typeface="Georgia" pitchFamily="34" charset="0"/>
                <a:ea typeface="Georgia" pitchFamily="34" charset="-122"/>
                <a:cs typeface="Georgia" pitchFamily="34" charset="-120"/>
              </a:rPr>
              <a:t>1</a:t>
            </a:r>
            <a:endParaRPr lang="en-US" sz="2800" dirty="0"/>
          </a:p>
        </p:txBody>
      </p:sp>
      <p:sp>
        <p:nvSpPr>
          <p:cNvPr id="11" name="Text 8"/>
          <p:cNvSpPr/>
          <p:nvPr/>
        </p:nvSpPr>
        <p:spPr>
          <a:xfrm>
            <a:off x="1645920" y="3410712"/>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Henrik vet nøyaktig hva han eier</a:t>
            </a:r>
            <a:endParaRPr lang="en-US" sz="1700" dirty="0"/>
          </a:p>
        </p:txBody>
      </p:sp>
      <p:sp>
        <p:nvSpPr>
          <p:cNvPr id="12" name="Text 9"/>
          <p:cNvSpPr/>
          <p:nvPr/>
        </p:nvSpPr>
        <p:spPr>
          <a:xfrm>
            <a:off x="1645920" y="3794760"/>
            <a:ext cx="9601200" cy="320040"/>
          </a:xfrm>
          <a:prstGeom prst="rect">
            <a:avLst/>
          </a:prstGeom>
          <a:noFill/>
          <a:ln/>
        </p:spPr>
        <p:txBody>
          <a:bodyPr wrap="square"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og hva han ikke eier</a:t>
            </a:r>
            <a:endParaRPr lang="en-US" sz="1200" dirty="0"/>
          </a:p>
        </p:txBody>
      </p:sp>
      <p:sp>
        <p:nvSpPr>
          <p:cNvPr id="13" name="Shape 10"/>
          <p:cNvSpPr/>
          <p:nvPr/>
        </p:nvSpPr>
        <p:spPr>
          <a:xfrm>
            <a:off x="640080" y="4251960"/>
            <a:ext cx="10972800" cy="868680"/>
          </a:xfrm>
          <a:prstGeom prst="rect">
            <a:avLst/>
          </a:prstGeom>
          <a:solidFill>
            <a:srgbClr val="1B3A66"/>
          </a:solidFill>
          <a:ln/>
        </p:spPr>
      </p:sp>
      <p:sp>
        <p:nvSpPr>
          <p:cNvPr id="14" name="Text 11"/>
          <p:cNvSpPr/>
          <p:nvPr/>
        </p:nvSpPr>
        <p:spPr>
          <a:xfrm>
            <a:off x="868680" y="4389120"/>
            <a:ext cx="640080" cy="594360"/>
          </a:xfrm>
          <a:prstGeom prst="rect">
            <a:avLst/>
          </a:prstGeom>
          <a:noFill/>
          <a:ln/>
        </p:spPr>
        <p:txBody>
          <a:bodyPr wrap="square" rtlCol="0" anchor="ctr"/>
          <a:lstStyle/>
          <a:p>
            <a:pPr indent="0" marL="0">
              <a:buNone/>
            </a:pPr>
            <a:r>
              <a:rPr lang="en-US" sz="2800" i="1" dirty="0">
                <a:solidFill>
                  <a:srgbClr val="C9A961"/>
                </a:solidFill>
                <a:latin typeface="Georgia" pitchFamily="34" charset="0"/>
                <a:ea typeface="Georgia" pitchFamily="34" charset="-122"/>
                <a:cs typeface="Georgia" pitchFamily="34" charset="-120"/>
              </a:rPr>
              <a:t>2</a:t>
            </a:r>
            <a:endParaRPr lang="en-US" sz="2800" dirty="0"/>
          </a:p>
        </p:txBody>
      </p:sp>
      <p:sp>
        <p:nvSpPr>
          <p:cNvPr id="15" name="Text 12"/>
          <p:cNvSpPr/>
          <p:nvPr/>
        </p:nvSpPr>
        <p:spPr>
          <a:xfrm>
            <a:off x="1645920" y="4370832"/>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Marte vet nøyaktig hvordan hun avlaster</a:t>
            </a:r>
            <a:endParaRPr lang="en-US" sz="1700" dirty="0"/>
          </a:p>
        </p:txBody>
      </p:sp>
      <p:sp>
        <p:nvSpPr>
          <p:cNvPr id="16" name="Text 13"/>
          <p:cNvSpPr/>
          <p:nvPr/>
        </p:nvSpPr>
        <p:spPr>
          <a:xfrm>
            <a:off x="1645920" y="4754880"/>
            <a:ext cx="9601200" cy="320040"/>
          </a:xfrm>
          <a:prstGeom prst="rect">
            <a:avLst/>
          </a:prstGeom>
          <a:noFill/>
          <a:ln/>
        </p:spPr>
        <p:txBody>
          <a:bodyPr wrap="square"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og hvor hun er backup</a:t>
            </a:r>
            <a:endParaRPr lang="en-US" sz="1200" dirty="0"/>
          </a:p>
        </p:txBody>
      </p:sp>
      <p:sp>
        <p:nvSpPr>
          <p:cNvPr id="17" name="Shape 14"/>
          <p:cNvSpPr/>
          <p:nvPr/>
        </p:nvSpPr>
        <p:spPr>
          <a:xfrm>
            <a:off x="640080" y="5212080"/>
            <a:ext cx="10972800" cy="868680"/>
          </a:xfrm>
          <a:prstGeom prst="rect">
            <a:avLst/>
          </a:prstGeom>
          <a:solidFill>
            <a:srgbClr val="1B3A66"/>
          </a:solidFill>
          <a:ln/>
        </p:spPr>
      </p:sp>
      <p:sp>
        <p:nvSpPr>
          <p:cNvPr id="18" name="Text 15"/>
          <p:cNvSpPr/>
          <p:nvPr/>
        </p:nvSpPr>
        <p:spPr>
          <a:xfrm>
            <a:off x="868680" y="5349240"/>
            <a:ext cx="640080" cy="594360"/>
          </a:xfrm>
          <a:prstGeom prst="rect">
            <a:avLst/>
          </a:prstGeom>
          <a:noFill/>
          <a:ln/>
        </p:spPr>
        <p:txBody>
          <a:bodyPr wrap="square" rtlCol="0" anchor="ctr"/>
          <a:lstStyle/>
          <a:p>
            <a:pPr indent="0" marL="0">
              <a:buNone/>
            </a:pPr>
            <a:r>
              <a:rPr lang="en-US" sz="2800" i="1" dirty="0">
                <a:solidFill>
                  <a:srgbClr val="C9A961"/>
                </a:solidFill>
                <a:latin typeface="Georgia" pitchFamily="34" charset="0"/>
                <a:ea typeface="Georgia" pitchFamily="34" charset="-122"/>
                <a:cs typeface="Georgia" pitchFamily="34" charset="-120"/>
              </a:rPr>
              <a:t>3</a:t>
            </a:r>
            <a:endParaRPr lang="en-US" sz="2800" dirty="0"/>
          </a:p>
        </p:txBody>
      </p:sp>
      <p:sp>
        <p:nvSpPr>
          <p:cNvPr id="19" name="Text 16"/>
          <p:cNvSpPr/>
          <p:nvPr/>
        </p:nvSpPr>
        <p:spPr>
          <a:xfrm>
            <a:off x="1645920" y="5330952"/>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En realistisk ukeplan og enkel struktur</a:t>
            </a:r>
            <a:endParaRPr lang="en-US" sz="1700" dirty="0"/>
          </a:p>
        </p:txBody>
      </p:sp>
      <p:sp>
        <p:nvSpPr>
          <p:cNvPr id="20" name="Text 17"/>
          <p:cNvSpPr/>
          <p:nvPr/>
        </p:nvSpPr>
        <p:spPr>
          <a:xfrm>
            <a:off x="1645920" y="5715000"/>
            <a:ext cx="9601200" cy="320040"/>
          </a:xfrm>
          <a:prstGeom prst="rect">
            <a:avLst/>
          </a:prstGeom>
          <a:noFill/>
          <a:ln/>
        </p:spPr>
        <p:txBody>
          <a:bodyPr wrap="square" rtlCol="0" anchor="ctr"/>
          <a:lstStyle/>
          <a:p>
            <a:pPr indent="0" marL="0">
              <a:buNone/>
            </a:pPr>
            <a:r>
              <a:rPr lang="en-US" sz="1200" i="1" dirty="0">
                <a:solidFill>
                  <a:srgbClr val="CADCFC"/>
                </a:solidFill>
                <a:latin typeface="Calibri" pitchFamily="34" charset="0"/>
                <a:ea typeface="Calibri" pitchFamily="34" charset="-122"/>
                <a:cs typeface="Calibri" pitchFamily="34" charset="-120"/>
              </a:rPr>
              <a:t>så det føles håndterbart</a:t>
            </a:r>
            <a:endParaRPr lang="en-US" sz="1200" dirty="0"/>
          </a:p>
        </p:txBody>
      </p:sp>
      <p:sp>
        <p:nvSpPr>
          <p:cNvPr id="21" name="Shape 18"/>
          <p:cNvSpPr/>
          <p:nvPr/>
        </p:nvSpPr>
        <p:spPr>
          <a:xfrm>
            <a:off x="0" y="6675120"/>
            <a:ext cx="12191695" cy="182880"/>
          </a:xfrm>
          <a:prstGeom prst="rect">
            <a:avLst/>
          </a:prstGeom>
          <a:solidFill>
            <a:srgbClr val="C9A961"/>
          </a:solidFill>
          <a:ln/>
        </p:spPr>
      </p:sp>
      <p:sp>
        <p:nvSpPr>
          <p:cNvPr id="22" name="Text 19"/>
          <p:cNvSpPr/>
          <p:nvPr/>
        </p:nvSpPr>
        <p:spPr>
          <a:xfrm>
            <a:off x="457200" y="6446520"/>
            <a:ext cx="7315200" cy="228600"/>
          </a:xfrm>
          <a:prstGeom prst="rect">
            <a:avLst/>
          </a:prstGeom>
          <a:noFill/>
          <a:ln/>
        </p:spPr>
        <p:txBody>
          <a:bodyPr wrap="square" rtlCol="0" anchor="ctr"/>
          <a:lstStyle/>
          <a:p>
            <a:pPr indent="0" marL="0">
              <a:buNone/>
            </a:pPr>
            <a:r>
              <a:rPr lang="en-US" sz="900" dirty="0">
                <a:solidFill>
                  <a:srgbClr val="4A5A75"/>
                </a:solidFill>
                <a:latin typeface="Calibri" pitchFamily="34" charset="0"/>
                <a:ea typeface="Calibri" pitchFamily="34" charset="-122"/>
                <a:cs typeface="Calibri" pitchFamily="34" charset="-120"/>
              </a:rPr>
              <a:t>House of Yachts  |  Mandagsmøte uke 34  |  17. august 2026</a:t>
            </a:r>
            <a:endParaRPr lang="en-US" sz="900" dirty="0"/>
          </a:p>
        </p:txBody>
      </p:sp>
      <p:sp>
        <p:nvSpPr>
          <p:cNvPr id="23" name="Text 20"/>
          <p:cNvSpPr/>
          <p:nvPr/>
        </p:nvSpPr>
        <p:spPr>
          <a:xfrm>
            <a:off x="10789920" y="6446520"/>
            <a:ext cx="914400" cy="228600"/>
          </a:xfrm>
          <a:prstGeom prst="rect">
            <a:avLst/>
          </a:prstGeom>
          <a:noFill/>
          <a:ln/>
        </p:spPr>
        <p:txBody>
          <a:bodyPr wrap="square" rtlCol="0" anchor="ctr"/>
          <a:lstStyle/>
          <a:p>
            <a:pPr algn="r" indent="0" marL="0">
              <a:buNone/>
            </a:pPr>
            <a:r>
              <a:rPr lang="en-US" sz="900" dirty="0">
                <a:solidFill>
                  <a:srgbClr val="4A5A75"/>
                </a:solidFill>
                <a:latin typeface="Calibri" pitchFamily="34" charset="0"/>
                <a:ea typeface="Calibri" pitchFamily="34" charset="-122"/>
                <a:cs typeface="Calibri" pitchFamily="34" charset="-120"/>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B"/>
        </a:solidFill>
      </p:bgPr>
    </p:bg>
    <p:spTree>
      <p:nvGrpSpPr>
        <p:cNvPr id="1" name=""/>
        <p:cNvGrpSpPr/>
        <p:nvPr/>
      </p:nvGrpSpPr>
      <p:grpSpPr>
        <a:xfrm>
          <a:off x="0" y="0"/>
          <a:ext cx="0" cy="0"/>
          <a:chOff x="0" y="0"/>
          <a:chExt cx="0" cy="0"/>
        </a:xfrm>
      </p:grpSpPr>
      <p:sp>
        <p:nvSpPr>
          <p:cNvPr id="3" name="Shape 0"/>
          <p:cNvSpPr/>
          <p:nvPr/>
        </p:nvSpPr>
        <p:spPr>
          <a:xfrm>
            <a:off x="0" y="0"/>
            <a:ext cx="228600" cy="6858000"/>
          </a:xfrm>
          <a:prstGeom prst="rect">
            <a:avLst/>
          </a:prstGeom>
          <a:solidFill>
            <a:srgbClr val="0E2A4A"/>
          </a:solidFill>
          <a:ln/>
        </p:spPr>
      </p:sp>
      <p:sp>
        <p:nvSpPr>
          <p:cNvPr id="4" name="Text 1"/>
          <p:cNvSpPr/>
          <p:nvPr/>
        </p:nvSpPr>
        <p:spPr>
          <a:xfrm>
            <a:off x="640080" y="457200"/>
            <a:ext cx="9144000" cy="365760"/>
          </a:xfrm>
          <a:prstGeom prst="rect">
            <a:avLst/>
          </a:prstGeom>
          <a:noFill/>
          <a:ln/>
        </p:spPr>
        <p:txBody>
          <a:bodyPr wrap="square" rtlCol="0" anchor="ctr"/>
          <a:lstStyle/>
          <a:p>
            <a:pPr indent="0" marL="0">
              <a:buNone/>
            </a:pPr>
            <a:r>
              <a:rPr lang="en-US" sz="1100" b="1" spc="500" kern="0" dirty="0">
                <a:solidFill>
                  <a:srgbClr val="C9A961"/>
                </a:solidFill>
                <a:latin typeface="Calibri" pitchFamily="34" charset="0"/>
                <a:ea typeface="Calibri" pitchFamily="34" charset="-122"/>
                <a:cs typeface="Calibri" pitchFamily="34" charset="-120"/>
              </a:rPr>
              <a:t>WORKSHOP · STEG 1 AV 3  ·  30–40 MIN</a:t>
            </a:r>
            <a:endParaRPr lang="en-US" sz="1100" dirty="0"/>
          </a:p>
        </p:txBody>
      </p:sp>
      <p:sp>
        <p:nvSpPr>
          <p:cNvPr id="5" name="Text 2"/>
          <p:cNvSpPr/>
          <p:nvPr/>
        </p:nvSpPr>
        <p:spPr>
          <a:xfrm>
            <a:off x="640080" y="822960"/>
            <a:ext cx="10972800" cy="731520"/>
          </a:xfrm>
          <a:prstGeom prst="rect">
            <a:avLst/>
          </a:prstGeom>
          <a:noFill/>
          <a:ln/>
        </p:spPr>
        <p:txBody>
          <a:bodyPr wrap="square" rtlCol="0" anchor="ctr"/>
          <a:lstStyle/>
          <a:p>
            <a:pPr indent="0" marL="0">
              <a:buNone/>
            </a:pPr>
            <a:r>
              <a:rPr lang="en-US" sz="3600" i="1" dirty="0">
                <a:solidFill>
                  <a:srgbClr val="15233A"/>
                </a:solidFill>
                <a:latin typeface="Georgia" pitchFamily="34" charset="0"/>
                <a:ea typeface="Georgia" pitchFamily="34" charset="-122"/>
                <a:cs typeface="Georgia" pitchFamily="34" charset="-120"/>
              </a:rPr>
              <a:t>Kartlegg alt arbeidet</a:t>
            </a:r>
            <a:endParaRPr lang="en-US" sz="3600" dirty="0"/>
          </a:p>
        </p:txBody>
      </p:sp>
      <p:sp>
        <p:nvSpPr>
          <p:cNvPr id="6" name="Text 3"/>
          <p:cNvSpPr/>
          <p:nvPr/>
        </p:nvSpPr>
        <p:spPr>
          <a:xfrm>
            <a:off x="640080" y="1600200"/>
            <a:ext cx="10972800" cy="365760"/>
          </a:xfrm>
          <a:prstGeom prst="rect">
            <a:avLst/>
          </a:prstGeom>
          <a:noFill/>
          <a:ln/>
        </p:spPr>
        <p:txBody>
          <a:bodyPr wrap="square" rtlCol="0" anchor="ctr"/>
          <a:lstStyle/>
          <a:p>
            <a:pPr indent="0" marL="0">
              <a:buNone/>
            </a:pPr>
            <a:r>
              <a:rPr lang="en-US" sz="1400" i="1" dirty="0">
                <a:solidFill>
                  <a:srgbClr val="4A5A75"/>
                </a:solidFill>
                <a:latin typeface="Calibri" pitchFamily="34" charset="0"/>
                <a:ea typeface="Calibri" pitchFamily="34" charset="-122"/>
                <a:cs typeface="Calibri" pitchFamily="34" charset="-120"/>
              </a:rPr>
              <a:t>Alt ut av hodet og opp på veggen. Henrik først, så Marte. Ingen diskusjon ennå.</a:t>
            </a:r>
            <a:endParaRPr lang="en-US" sz="1400" dirty="0"/>
          </a:p>
        </p:txBody>
      </p:sp>
      <p:sp>
        <p:nvSpPr>
          <p:cNvPr id="7" name="Shape 4"/>
          <p:cNvSpPr/>
          <p:nvPr/>
        </p:nvSpPr>
        <p:spPr>
          <a:xfrm>
            <a:off x="640080" y="2194560"/>
            <a:ext cx="5394960" cy="2743200"/>
          </a:xfrm>
          <a:prstGeom prst="rect">
            <a:avLst/>
          </a:prstGeom>
          <a:solidFill>
            <a:srgbClr val="FFFFFF"/>
          </a:solidFill>
          <a:ln w="12700">
            <a:solidFill>
              <a:srgbClr val="D4CBB8"/>
            </a:solidFill>
            <a:prstDash val="solid"/>
          </a:ln>
        </p:spPr>
      </p:sp>
      <p:sp>
        <p:nvSpPr>
          <p:cNvPr id="8" name="Text 5"/>
          <p:cNvSpPr/>
          <p:nvPr/>
        </p:nvSpPr>
        <p:spPr>
          <a:xfrm>
            <a:off x="822960" y="2331720"/>
            <a:ext cx="5029200" cy="274320"/>
          </a:xfrm>
          <a:prstGeom prst="rect">
            <a:avLst/>
          </a:prstGeom>
          <a:noFill/>
          <a:ln/>
        </p:spPr>
        <p:txBody>
          <a:bodyPr wrap="square" rtlCol="0" anchor="ctr"/>
          <a:lstStyle/>
          <a:p>
            <a:pPr indent="0" marL="0">
              <a:buNone/>
            </a:pPr>
            <a:r>
              <a:rPr lang="en-US" sz="1100" b="1" spc="300" kern="0" dirty="0">
                <a:solidFill>
                  <a:srgbClr val="C9A961"/>
                </a:solidFill>
                <a:latin typeface="Calibri" pitchFamily="34" charset="0"/>
                <a:ea typeface="Calibri" pitchFamily="34" charset="-122"/>
                <a:cs typeface="Calibri" pitchFamily="34" charset="-120"/>
              </a:rPr>
              <a:t>FOR HVER OPPGAVE, NOTER:</a:t>
            </a:r>
            <a:endParaRPr lang="en-US" sz="1100" dirty="0"/>
          </a:p>
        </p:txBody>
      </p:sp>
      <p:sp>
        <p:nvSpPr>
          <p:cNvPr id="9" name="Text 6"/>
          <p:cNvSpPr/>
          <p:nvPr/>
        </p:nvSpPr>
        <p:spPr>
          <a:xfrm>
            <a:off x="822960" y="2697480"/>
            <a:ext cx="5029200" cy="2103120"/>
          </a:xfrm>
          <a:prstGeom prst="rect">
            <a:avLst/>
          </a:prstGeom>
          <a:noFill/>
          <a:ln/>
        </p:spPr>
        <p:txBody>
          <a:bodyPr wrap="square" rtlCol="0" anchor="t"/>
          <a:lstStyle/>
          <a:p>
            <a:pPr indent="0" marL="0">
              <a:buNone/>
            </a:pPr>
            <a:r>
              <a:rPr lang="en-US" sz="1300" dirty="0">
                <a:solidFill>
                  <a:srgbClr val="15233A"/>
                </a:solidFill>
                <a:latin typeface="Calibri" pitchFamily="34" charset="0"/>
                <a:ea typeface="Calibri" pitchFamily="34" charset="-122"/>
                <a:cs typeface="Calibri" pitchFamily="34" charset="-120"/>
              </a:rPr>
              <a:t>·  Hva oppgaven er</a:t>
            </a:r>
            <a:endParaRPr lang="en-US" sz="1300" dirty="0"/>
          </a:p>
          <a:p>
            <a:pPr indent="0" marL="0">
              <a:buNone/>
            </a:pPr>
            <a:endParaRPr lang="en-US" sz="1300" dirty="0"/>
          </a:p>
          <a:p>
            <a:pPr indent="0" marL="0">
              <a:buNone/>
            </a:pPr>
            <a:r>
              <a:rPr lang="en-US" sz="1300" dirty="0">
                <a:solidFill>
                  <a:srgbClr val="15233A"/>
                </a:solidFill>
                <a:latin typeface="Calibri" pitchFamily="34" charset="0"/>
                <a:ea typeface="Calibri" pitchFamily="34" charset="-122"/>
                <a:cs typeface="Calibri" pitchFamily="34" charset="-120"/>
              </a:rPr>
              <a:t>·  Ca. timer per uke</a:t>
            </a:r>
            <a:endParaRPr lang="en-US" sz="1300" dirty="0"/>
          </a:p>
          <a:p>
            <a:pPr indent="0" marL="0">
              <a:buNone/>
            </a:pPr>
            <a:endParaRPr lang="en-US" sz="1300" dirty="0"/>
          </a:p>
          <a:p>
            <a:pPr indent="0" marL="0">
              <a:buNone/>
            </a:pPr>
            <a:r>
              <a:rPr lang="en-US" sz="1300" dirty="0">
                <a:solidFill>
                  <a:srgbClr val="15233A"/>
                </a:solidFill>
                <a:latin typeface="Calibri" pitchFamily="34" charset="0"/>
                <a:ea typeface="Calibri" pitchFamily="34" charset="-122"/>
                <a:cs typeface="Calibri" pitchFamily="34" charset="-120"/>
              </a:rPr>
              <a:t>·  Energi:  +  gir energi   ·   0 nøytral   ·   −  tapper</a:t>
            </a:r>
            <a:endParaRPr lang="en-US" sz="1300" dirty="0"/>
          </a:p>
          <a:p>
            <a:pPr indent="0" marL="0">
              <a:buNone/>
            </a:pPr>
            <a:endParaRPr lang="en-US" sz="1300" dirty="0"/>
          </a:p>
          <a:p>
            <a:pPr indent="0" marL="0">
              <a:buNone/>
            </a:pPr>
            <a:r>
              <a:rPr lang="en-US" sz="1300" dirty="0">
                <a:solidFill>
                  <a:srgbClr val="15233A"/>
                </a:solidFill>
                <a:latin typeface="Calibri" pitchFamily="34" charset="0"/>
                <a:ea typeface="Calibri" pitchFamily="34" charset="-122"/>
                <a:cs typeface="Calibri" pitchFamily="34" charset="-120"/>
              </a:rPr>
              <a:t>·  Må det gjøres av Henrik?  Ja / Nei / Vet ikke</a:t>
            </a:r>
            <a:endParaRPr lang="en-US" sz="1300" dirty="0"/>
          </a:p>
        </p:txBody>
      </p:sp>
      <p:sp>
        <p:nvSpPr>
          <p:cNvPr id="10" name="Shape 7"/>
          <p:cNvSpPr/>
          <p:nvPr/>
        </p:nvSpPr>
        <p:spPr>
          <a:xfrm>
            <a:off x="6217920" y="2194560"/>
            <a:ext cx="5303520" cy="2743200"/>
          </a:xfrm>
          <a:prstGeom prst="rect">
            <a:avLst/>
          </a:prstGeom>
          <a:solidFill>
            <a:srgbClr val="FFFFFF"/>
          </a:solidFill>
          <a:ln w="12700">
            <a:solidFill>
              <a:srgbClr val="D4CBB8"/>
            </a:solidFill>
            <a:prstDash val="solid"/>
          </a:ln>
        </p:spPr>
      </p:sp>
      <p:sp>
        <p:nvSpPr>
          <p:cNvPr id="11" name="Text 8"/>
          <p:cNvSpPr/>
          <p:nvPr/>
        </p:nvSpPr>
        <p:spPr>
          <a:xfrm>
            <a:off x="6400800" y="2331720"/>
            <a:ext cx="5029200" cy="274320"/>
          </a:xfrm>
          <a:prstGeom prst="rect">
            <a:avLst/>
          </a:prstGeom>
          <a:noFill/>
          <a:ln/>
        </p:spPr>
        <p:txBody>
          <a:bodyPr wrap="square" rtlCol="0" anchor="ctr"/>
          <a:lstStyle/>
          <a:p>
            <a:pPr indent="0" marL="0">
              <a:buNone/>
            </a:pPr>
            <a:r>
              <a:rPr lang="en-US" sz="1100" b="1" spc="300" kern="0" dirty="0">
                <a:solidFill>
                  <a:srgbClr val="C9A961"/>
                </a:solidFill>
                <a:latin typeface="Calibri" pitchFamily="34" charset="0"/>
                <a:ea typeface="Calibri" pitchFamily="34" charset="-122"/>
                <a:cs typeface="Calibri" pitchFamily="34" charset="-120"/>
              </a:rPr>
              <a:t>GRUPPÉR ETTERPÅ I SEKS PROSESSER:</a:t>
            </a:r>
            <a:endParaRPr lang="en-US" sz="1100" dirty="0"/>
          </a:p>
        </p:txBody>
      </p:sp>
      <p:sp>
        <p:nvSpPr>
          <p:cNvPr id="12" name="Text 9"/>
          <p:cNvSpPr/>
          <p:nvPr/>
        </p:nvSpPr>
        <p:spPr>
          <a:xfrm>
            <a:off x="6400800" y="2697480"/>
            <a:ext cx="5029200" cy="2103120"/>
          </a:xfrm>
          <a:prstGeom prst="rect">
            <a:avLst/>
          </a:prstGeom>
          <a:noFill/>
          <a:ln/>
        </p:spPr>
        <p:txBody>
          <a:bodyPr wrap="square" rtlCol="0" anchor="t"/>
          <a:lstStyle/>
          <a:p>
            <a:pPr indent="0" marL="0">
              <a:buNone/>
            </a:pPr>
            <a:r>
              <a:rPr lang="en-US" sz="1300" dirty="0">
                <a:solidFill>
                  <a:srgbClr val="15233A"/>
                </a:solidFill>
                <a:latin typeface="Calibri" pitchFamily="34" charset="0"/>
                <a:ea typeface="Calibri" pitchFamily="34" charset="-122"/>
                <a:cs typeface="Calibri" pitchFamily="34" charset="-120"/>
              </a:rPr>
              <a:t>1  Innkomne leads og henvendelser</a:t>
            </a:r>
            <a:endParaRPr lang="en-US" sz="1300" dirty="0"/>
          </a:p>
          <a:p>
            <a:pPr indent="0" marL="0">
              <a:buNone/>
            </a:pPr>
            <a:r>
              <a:rPr lang="en-US" sz="1300" dirty="0">
                <a:solidFill>
                  <a:srgbClr val="15233A"/>
                </a:solidFill>
                <a:latin typeface="Calibri" pitchFamily="34" charset="0"/>
                <a:ea typeface="Calibri" pitchFamily="34" charset="-122"/>
                <a:cs typeface="Calibri" pitchFamily="34" charset="-120"/>
              </a:rPr>
              <a:t>2  Befaring og verdivurdering</a:t>
            </a:r>
            <a:endParaRPr lang="en-US" sz="1300" dirty="0"/>
          </a:p>
          <a:p>
            <a:pPr indent="0" marL="0">
              <a:buNone/>
            </a:pPr>
            <a:r>
              <a:rPr lang="en-US" sz="1300" dirty="0">
                <a:solidFill>
                  <a:srgbClr val="15233A"/>
                </a:solidFill>
                <a:latin typeface="Calibri" pitchFamily="34" charset="0"/>
                <a:ea typeface="Calibri" pitchFamily="34" charset="-122"/>
                <a:cs typeface="Calibri" pitchFamily="34" charset="-120"/>
              </a:rPr>
              <a:t>3  Markedsføring — FINN, prospekt, SoMe</a:t>
            </a:r>
            <a:endParaRPr lang="en-US" sz="1300" dirty="0"/>
          </a:p>
          <a:p>
            <a:pPr indent="0" marL="0">
              <a:buNone/>
            </a:pPr>
            <a:r>
              <a:rPr lang="en-US" sz="1300" dirty="0">
                <a:solidFill>
                  <a:srgbClr val="15233A"/>
                </a:solidFill>
                <a:latin typeface="Calibri" pitchFamily="34" charset="0"/>
                <a:ea typeface="Calibri" pitchFamily="34" charset="-122"/>
                <a:cs typeface="Calibri" pitchFamily="34" charset="-120"/>
              </a:rPr>
              <a:t>4  Visninger og oppfølging av kjøpere</a:t>
            </a:r>
            <a:endParaRPr lang="en-US" sz="1300" dirty="0"/>
          </a:p>
          <a:p>
            <a:pPr indent="0" marL="0">
              <a:buNone/>
            </a:pPr>
            <a:r>
              <a:rPr lang="en-US" sz="1300" dirty="0">
                <a:solidFill>
                  <a:srgbClr val="15233A"/>
                </a:solidFill>
                <a:latin typeface="Calibri" pitchFamily="34" charset="0"/>
                <a:ea typeface="Calibri" pitchFamily="34" charset="-122"/>
                <a:cs typeface="Calibri" pitchFamily="34" charset="-120"/>
              </a:rPr>
              <a:t>5  Forhandling og kontrakt</a:t>
            </a:r>
            <a:endParaRPr lang="en-US" sz="1300" dirty="0"/>
          </a:p>
          <a:p>
            <a:pPr indent="0" marL="0">
              <a:buNone/>
            </a:pPr>
            <a:r>
              <a:rPr lang="en-US" sz="1300" dirty="0">
                <a:solidFill>
                  <a:srgbClr val="15233A"/>
                </a:solidFill>
                <a:latin typeface="Calibri" pitchFamily="34" charset="0"/>
                <a:ea typeface="Calibri" pitchFamily="34" charset="-122"/>
                <a:cs typeface="Calibri" pitchFamily="34" charset="-120"/>
              </a:rPr>
              <a:t>6  Admin og etterarbeid</a:t>
            </a:r>
            <a:endParaRPr lang="en-US" sz="1300" dirty="0"/>
          </a:p>
        </p:txBody>
      </p:sp>
      <p:sp>
        <p:nvSpPr>
          <p:cNvPr id="13" name="Shape 10"/>
          <p:cNvSpPr/>
          <p:nvPr/>
        </p:nvSpPr>
        <p:spPr>
          <a:xfrm>
            <a:off x="640080" y="5212080"/>
            <a:ext cx="10972800" cy="822960"/>
          </a:xfrm>
          <a:prstGeom prst="rect">
            <a:avLst/>
          </a:prstGeom>
          <a:solidFill>
            <a:srgbClr val="0E2A4A"/>
          </a:solidFill>
          <a:ln/>
        </p:spPr>
      </p:sp>
      <p:sp>
        <p:nvSpPr>
          <p:cNvPr id="14" name="Text 11"/>
          <p:cNvSpPr/>
          <p:nvPr/>
        </p:nvSpPr>
        <p:spPr>
          <a:xfrm>
            <a:off x="822960" y="5303520"/>
            <a:ext cx="10607040" cy="640080"/>
          </a:xfrm>
          <a:prstGeom prst="rect">
            <a:avLst/>
          </a:prstGeom>
          <a:noFill/>
          <a:ln/>
        </p:spPr>
        <p:txBody>
          <a:bodyPr wrap="square" rtlCol="0" anchor="ctr"/>
          <a:lstStyle/>
          <a:p>
            <a:pPr indent="0" marL="0">
              <a:buNone/>
            </a:pPr>
            <a:r>
              <a:rPr lang="en-US" sz="1300" b="1" dirty="0">
                <a:solidFill>
                  <a:srgbClr val="C9A961"/>
                </a:solidFill>
                <a:latin typeface="Calibri" pitchFamily="34" charset="0"/>
                <a:ea typeface="Calibri" pitchFamily="34" charset="-122"/>
                <a:cs typeface="Calibri" pitchFamily="34" charset="-120"/>
              </a:rPr>
              <a:t>Målet med steg 1:  </a:t>
            </a:r>
            <a:pPr indent="0" marL="0">
              <a:buNone/>
            </a:pPr>
            <a:r>
              <a:rPr lang="en-US" sz="1300" dirty="0">
                <a:solidFill>
                  <a:srgbClr val="FFFFFF"/>
                </a:solidFill>
                <a:latin typeface="Calibri" pitchFamily="34" charset="0"/>
                <a:ea typeface="Calibri" pitchFamily="34" charset="-122"/>
                <a:cs typeface="Calibri" pitchFamily="34" charset="-120"/>
              </a:rPr>
              <a:t>hele virkeligheten ut av hodene og opp på veggen. Ikke løs noe ennå — bare se det.</a:t>
            </a:r>
            <a:endParaRPr lang="en-US" sz="1300" dirty="0"/>
          </a:p>
        </p:txBody>
      </p:sp>
      <p:sp>
        <p:nvSpPr>
          <p:cNvPr id="15" name="Shape 12"/>
          <p:cNvSpPr/>
          <p:nvPr/>
        </p:nvSpPr>
        <p:spPr>
          <a:xfrm>
            <a:off x="0" y="6675120"/>
            <a:ext cx="12191695" cy="182880"/>
          </a:xfrm>
          <a:prstGeom prst="rect">
            <a:avLst/>
          </a:prstGeom>
          <a:solidFill>
            <a:srgbClr val="C9A961"/>
          </a:solidFill>
          <a:ln/>
        </p:spPr>
      </p:sp>
      <p:sp>
        <p:nvSpPr>
          <p:cNvPr id="16" name="Text 13"/>
          <p:cNvSpPr/>
          <p:nvPr/>
        </p:nvSpPr>
        <p:spPr>
          <a:xfrm>
            <a:off x="457200" y="6446520"/>
            <a:ext cx="7315200" cy="228600"/>
          </a:xfrm>
          <a:prstGeom prst="rect">
            <a:avLst/>
          </a:prstGeom>
          <a:noFill/>
          <a:ln/>
        </p:spPr>
        <p:txBody>
          <a:bodyPr wrap="square" rtlCol="0" anchor="ctr"/>
          <a:lstStyle/>
          <a:p>
            <a:pPr indent="0" marL="0">
              <a:buNone/>
            </a:pPr>
            <a:r>
              <a:rPr lang="en-US" sz="900" dirty="0">
                <a:solidFill>
                  <a:srgbClr val="4A5A75"/>
                </a:solidFill>
                <a:latin typeface="Calibri" pitchFamily="34" charset="0"/>
                <a:ea typeface="Calibri" pitchFamily="34" charset="-122"/>
                <a:cs typeface="Calibri" pitchFamily="34" charset="-120"/>
              </a:rPr>
              <a:t>House of Yachts  |  Mandagsmøte uke 34  |  17. august 2026</a:t>
            </a:r>
            <a:endParaRPr lang="en-US" sz="900" dirty="0"/>
          </a:p>
        </p:txBody>
      </p:sp>
      <p:sp>
        <p:nvSpPr>
          <p:cNvPr id="17" name="Text 14"/>
          <p:cNvSpPr/>
          <p:nvPr/>
        </p:nvSpPr>
        <p:spPr>
          <a:xfrm>
            <a:off x="10789920" y="6446520"/>
            <a:ext cx="914400" cy="228600"/>
          </a:xfrm>
          <a:prstGeom prst="rect">
            <a:avLst/>
          </a:prstGeom>
          <a:noFill/>
          <a:ln/>
        </p:spPr>
        <p:txBody>
          <a:bodyPr wrap="square" rtlCol="0" anchor="ctr"/>
          <a:lstStyle/>
          <a:p>
            <a:pPr algn="r" indent="0" marL="0">
              <a:buNone/>
            </a:pPr>
            <a:r>
              <a:rPr lang="en-US" sz="900" dirty="0">
                <a:solidFill>
                  <a:srgbClr val="4A5A75"/>
                </a:solidFill>
                <a:latin typeface="Calibri" pitchFamily="34" charset="0"/>
                <a:ea typeface="Calibri" pitchFamily="34" charset="-122"/>
                <a:cs typeface="Calibri" pitchFamily="34" charset="-120"/>
              </a:rPr>
              <a:t>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B"/>
        </a:solidFill>
      </p:bgPr>
    </p:bg>
    <p:spTree>
      <p:nvGrpSpPr>
        <p:cNvPr id="1" name=""/>
        <p:cNvGrpSpPr/>
        <p:nvPr/>
      </p:nvGrpSpPr>
      <p:grpSpPr>
        <a:xfrm>
          <a:off x="0" y="0"/>
          <a:ext cx="0" cy="0"/>
          <a:chOff x="0" y="0"/>
          <a:chExt cx="0" cy="0"/>
        </a:xfrm>
      </p:grpSpPr>
      <p:sp>
        <p:nvSpPr>
          <p:cNvPr id="3" name="Shape 0"/>
          <p:cNvSpPr/>
          <p:nvPr/>
        </p:nvSpPr>
        <p:spPr>
          <a:xfrm>
            <a:off x="0" y="0"/>
            <a:ext cx="228600" cy="6858000"/>
          </a:xfrm>
          <a:prstGeom prst="rect">
            <a:avLst/>
          </a:prstGeom>
          <a:solidFill>
            <a:srgbClr val="0E2A4A"/>
          </a:solidFill>
          <a:ln/>
        </p:spPr>
      </p:sp>
      <p:sp>
        <p:nvSpPr>
          <p:cNvPr id="4" name="Text 1"/>
          <p:cNvSpPr/>
          <p:nvPr/>
        </p:nvSpPr>
        <p:spPr>
          <a:xfrm>
            <a:off x="640080" y="457200"/>
            <a:ext cx="9144000" cy="365760"/>
          </a:xfrm>
          <a:prstGeom prst="rect">
            <a:avLst/>
          </a:prstGeom>
          <a:noFill/>
          <a:ln/>
        </p:spPr>
        <p:txBody>
          <a:bodyPr wrap="square" rtlCol="0" anchor="ctr"/>
          <a:lstStyle/>
          <a:p>
            <a:pPr indent="0" marL="0">
              <a:buNone/>
            </a:pPr>
            <a:r>
              <a:rPr lang="en-US" sz="1100" b="1" spc="500" kern="0" dirty="0">
                <a:solidFill>
                  <a:srgbClr val="C9A961"/>
                </a:solidFill>
                <a:latin typeface="Calibri" pitchFamily="34" charset="0"/>
                <a:ea typeface="Calibri" pitchFamily="34" charset="-122"/>
                <a:cs typeface="Calibri" pitchFamily="34" charset="-120"/>
              </a:rPr>
              <a:t>WORKSHOP · STEG 2 AV 3  ·  40 MIN</a:t>
            </a:r>
            <a:endParaRPr lang="en-US" sz="1100" dirty="0"/>
          </a:p>
        </p:txBody>
      </p:sp>
      <p:sp>
        <p:nvSpPr>
          <p:cNvPr id="5" name="Text 2"/>
          <p:cNvSpPr/>
          <p:nvPr/>
        </p:nvSpPr>
        <p:spPr>
          <a:xfrm>
            <a:off x="640080" y="822960"/>
            <a:ext cx="10972800" cy="731520"/>
          </a:xfrm>
          <a:prstGeom prst="rect">
            <a:avLst/>
          </a:prstGeom>
          <a:noFill/>
          <a:ln/>
        </p:spPr>
        <p:txBody>
          <a:bodyPr wrap="square" rtlCol="0" anchor="ctr"/>
          <a:lstStyle/>
          <a:p>
            <a:pPr indent="0" marL="0">
              <a:buNone/>
            </a:pPr>
            <a:r>
              <a:rPr lang="en-US" sz="3600" i="1" dirty="0">
                <a:solidFill>
                  <a:srgbClr val="15233A"/>
                </a:solidFill>
                <a:latin typeface="Georgia" pitchFamily="34" charset="0"/>
                <a:ea typeface="Georgia" pitchFamily="34" charset="-122"/>
                <a:cs typeface="Georgia" pitchFamily="34" charset="-120"/>
              </a:rPr>
              <a:t>Fordel ansvar — og kutt</a:t>
            </a:r>
            <a:endParaRPr lang="en-US" sz="3600" dirty="0"/>
          </a:p>
        </p:txBody>
      </p:sp>
      <p:sp>
        <p:nvSpPr>
          <p:cNvPr id="6" name="Shape 3"/>
          <p:cNvSpPr/>
          <p:nvPr/>
        </p:nvSpPr>
        <p:spPr>
          <a:xfrm>
            <a:off x="640080" y="1783080"/>
            <a:ext cx="3566160" cy="2286000"/>
          </a:xfrm>
          <a:prstGeom prst="rect">
            <a:avLst/>
          </a:prstGeom>
          <a:solidFill>
            <a:srgbClr val="FFFFFF"/>
          </a:solidFill>
          <a:ln w="25400">
            <a:solidFill>
              <a:srgbClr val="B85042"/>
            </a:solidFill>
            <a:prstDash val="solid"/>
          </a:ln>
        </p:spPr>
      </p:sp>
      <p:sp>
        <p:nvSpPr>
          <p:cNvPr id="7" name="Text 4"/>
          <p:cNvSpPr/>
          <p:nvPr/>
        </p:nvSpPr>
        <p:spPr>
          <a:xfrm>
            <a:off x="640080" y="1920240"/>
            <a:ext cx="3566160" cy="411480"/>
          </a:xfrm>
          <a:prstGeom prst="rect">
            <a:avLst/>
          </a:prstGeom>
          <a:noFill/>
          <a:ln/>
        </p:spPr>
        <p:txBody>
          <a:bodyPr wrap="square" rtlCol="0" anchor="ctr"/>
          <a:lstStyle/>
          <a:p>
            <a:pPr algn="ctr" indent="0" marL="0">
              <a:buNone/>
            </a:pPr>
            <a:r>
              <a:rPr lang="en-US" sz="1800" b="1" dirty="0">
                <a:solidFill>
                  <a:srgbClr val="B85042"/>
                </a:solidFill>
                <a:latin typeface="Georgia" pitchFamily="34" charset="0"/>
                <a:ea typeface="Georgia" pitchFamily="34" charset="-122"/>
                <a:cs typeface="Georgia" pitchFamily="34" charset="-120"/>
              </a:rPr>
              <a:t>STOPPE</a:t>
            </a:r>
            <a:endParaRPr lang="en-US" sz="1800" dirty="0"/>
          </a:p>
        </p:txBody>
      </p:sp>
      <p:sp>
        <p:nvSpPr>
          <p:cNvPr id="8" name="Text 5"/>
          <p:cNvSpPr/>
          <p:nvPr/>
        </p:nvSpPr>
        <p:spPr>
          <a:xfrm>
            <a:off x="640080" y="2331720"/>
            <a:ext cx="3566160" cy="320040"/>
          </a:xfrm>
          <a:prstGeom prst="rect">
            <a:avLst/>
          </a:prstGeom>
          <a:noFill/>
          <a:ln/>
        </p:spPr>
        <p:txBody>
          <a:bodyPr wrap="square" rtlCol="0" anchor="ctr"/>
          <a:lstStyle/>
          <a:p>
            <a:pPr algn="ctr" indent="0" marL="0">
              <a:buNone/>
            </a:pPr>
            <a:r>
              <a:rPr lang="en-US" sz="1100" i="1" dirty="0">
                <a:solidFill>
                  <a:srgbClr val="4A5A75"/>
                </a:solidFill>
                <a:latin typeface="Calibri" pitchFamily="34" charset="0"/>
                <a:ea typeface="Calibri" pitchFamily="34" charset="-122"/>
                <a:cs typeface="Calibri" pitchFamily="34" charset="-120"/>
              </a:rPr>
              <a:t>Slutte med eller utsette</a:t>
            </a:r>
            <a:endParaRPr lang="en-US" sz="1100" dirty="0"/>
          </a:p>
        </p:txBody>
      </p:sp>
      <p:sp>
        <p:nvSpPr>
          <p:cNvPr id="9" name="Text 6"/>
          <p:cNvSpPr/>
          <p:nvPr/>
        </p:nvSpPr>
        <p:spPr>
          <a:xfrm>
            <a:off x="868680" y="2743200"/>
            <a:ext cx="3108960" cy="1188720"/>
          </a:xfrm>
          <a:prstGeom prst="rect">
            <a:avLst/>
          </a:prstGeom>
          <a:noFill/>
          <a:ln/>
        </p:spPr>
        <p:txBody>
          <a:bodyPr wrap="square" rtlCol="0" anchor="t"/>
          <a:lstStyle/>
          <a:p>
            <a:pPr indent="0" marL="0">
              <a:buNone/>
            </a:pPr>
            <a:r>
              <a:rPr lang="en-US" sz="1100" dirty="0">
                <a:solidFill>
                  <a:srgbClr val="15233A"/>
                </a:solidFill>
                <a:latin typeface="Calibri" pitchFamily="34" charset="0"/>
                <a:ea typeface="Calibri" pitchFamily="34" charset="-122"/>
                <a:cs typeface="Calibri" pitchFamily="34" charset="-120"/>
              </a:rPr>
              <a:t>Oppgaver som ikke flytter salg eller kunder. Vær ærlig — mye "haster" gjør det ikke.</a:t>
            </a:r>
            <a:endParaRPr lang="en-US" sz="1100" dirty="0"/>
          </a:p>
        </p:txBody>
      </p:sp>
      <p:sp>
        <p:nvSpPr>
          <p:cNvPr id="10" name="Shape 7"/>
          <p:cNvSpPr/>
          <p:nvPr/>
        </p:nvSpPr>
        <p:spPr>
          <a:xfrm>
            <a:off x="4389120" y="1783080"/>
            <a:ext cx="3566160" cy="2286000"/>
          </a:xfrm>
          <a:prstGeom prst="rect">
            <a:avLst/>
          </a:prstGeom>
          <a:solidFill>
            <a:srgbClr val="FFFFFF"/>
          </a:solidFill>
          <a:ln w="25400">
            <a:solidFill>
              <a:srgbClr val="D9A441"/>
            </a:solidFill>
            <a:prstDash val="solid"/>
          </a:ln>
        </p:spPr>
      </p:sp>
      <p:sp>
        <p:nvSpPr>
          <p:cNvPr id="11" name="Text 8"/>
          <p:cNvSpPr/>
          <p:nvPr/>
        </p:nvSpPr>
        <p:spPr>
          <a:xfrm>
            <a:off x="4389120" y="1920240"/>
            <a:ext cx="3566160" cy="411480"/>
          </a:xfrm>
          <a:prstGeom prst="rect">
            <a:avLst/>
          </a:prstGeom>
          <a:noFill/>
          <a:ln/>
        </p:spPr>
        <p:txBody>
          <a:bodyPr wrap="square" rtlCol="0" anchor="ctr"/>
          <a:lstStyle/>
          <a:p>
            <a:pPr algn="ctr" indent="0" marL="0">
              <a:buNone/>
            </a:pPr>
            <a:r>
              <a:rPr lang="en-US" sz="1800" b="1" dirty="0">
                <a:solidFill>
                  <a:srgbClr val="D9A441"/>
                </a:solidFill>
                <a:latin typeface="Georgia" pitchFamily="34" charset="0"/>
                <a:ea typeface="Georgia" pitchFamily="34" charset="-122"/>
                <a:cs typeface="Georgia" pitchFamily="34" charset="-120"/>
              </a:rPr>
              <a:t>SYSTEMATISERE</a:t>
            </a:r>
            <a:endParaRPr lang="en-US" sz="1800" dirty="0"/>
          </a:p>
        </p:txBody>
      </p:sp>
      <p:sp>
        <p:nvSpPr>
          <p:cNvPr id="12" name="Text 9"/>
          <p:cNvSpPr/>
          <p:nvPr/>
        </p:nvSpPr>
        <p:spPr>
          <a:xfrm>
            <a:off x="4389120" y="2331720"/>
            <a:ext cx="3566160" cy="320040"/>
          </a:xfrm>
          <a:prstGeom prst="rect">
            <a:avLst/>
          </a:prstGeom>
          <a:noFill/>
          <a:ln/>
        </p:spPr>
        <p:txBody>
          <a:bodyPr wrap="square" rtlCol="0" anchor="ctr"/>
          <a:lstStyle/>
          <a:p>
            <a:pPr algn="ctr" indent="0" marL="0">
              <a:buNone/>
            </a:pPr>
            <a:r>
              <a:rPr lang="en-US" sz="1100" i="1" dirty="0">
                <a:solidFill>
                  <a:srgbClr val="4A5A75"/>
                </a:solidFill>
                <a:latin typeface="Calibri" pitchFamily="34" charset="0"/>
                <a:ea typeface="Calibri" pitchFamily="34" charset="-122"/>
                <a:cs typeface="Calibri" pitchFamily="34" charset="-120"/>
              </a:rPr>
              <a:t>Sjekkliste, mal eller batch</a:t>
            </a:r>
            <a:endParaRPr lang="en-US" sz="1100" dirty="0"/>
          </a:p>
        </p:txBody>
      </p:sp>
      <p:sp>
        <p:nvSpPr>
          <p:cNvPr id="13" name="Text 10"/>
          <p:cNvSpPr/>
          <p:nvPr/>
        </p:nvSpPr>
        <p:spPr>
          <a:xfrm>
            <a:off x="4617720" y="2743200"/>
            <a:ext cx="3108960" cy="1188720"/>
          </a:xfrm>
          <a:prstGeom prst="rect">
            <a:avLst/>
          </a:prstGeom>
          <a:noFill/>
          <a:ln/>
        </p:spPr>
        <p:txBody>
          <a:bodyPr wrap="square" rtlCol="0" anchor="t"/>
          <a:lstStyle/>
          <a:p>
            <a:pPr indent="0" marL="0">
              <a:buNone/>
            </a:pPr>
            <a:r>
              <a:rPr lang="en-US" sz="1100" dirty="0">
                <a:solidFill>
                  <a:srgbClr val="15233A"/>
                </a:solidFill>
                <a:latin typeface="Calibri" pitchFamily="34" charset="0"/>
                <a:ea typeface="Calibri" pitchFamily="34" charset="-122"/>
                <a:cs typeface="Calibri" pitchFamily="34" charset="-120"/>
              </a:rPr>
              <a:t>Gjentakende arbeid som kan gjøres likt hver gang — eller samles i faste bolker.</a:t>
            </a:r>
            <a:endParaRPr lang="en-US" sz="1100" dirty="0"/>
          </a:p>
        </p:txBody>
      </p:sp>
      <p:sp>
        <p:nvSpPr>
          <p:cNvPr id="14" name="Shape 11"/>
          <p:cNvSpPr/>
          <p:nvPr/>
        </p:nvSpPr>
        <p:spPr>
          <a:xfrm>
            <a:off x="8138160" y="1783080"/>
            <a:ext cx="3566160" cy="2286000"/>
          </a:xfrm>
          <a:prstGeom prst="rect">
            <a:avLst/>
          </a:prstGeom>
          <a:solidFill>
            <a:srgbClr val="FFFFFF"/>
          </a:solidFill>
          <a:ln w="25400">
            <a:solidFill>
              <a:srgbClr val="5B8A6F"/>
            </a:solidFill>
            <a:prstDash val="solid"/>
          </a:ln>
        </p:spPr>
      </p:sp>
      <p:sp>
        <p:nvSpPr>
          <p:cNvPr id="15" name="Text 12"/>
          <p:cNvSpPr/>
          <p:nvPr/>
        </p:nvSpPr>
        <p:spPr>
          <a:xfrm>
            <a:off x="8138160" y="1920240"/>
            <a:ext cx="3566160" cy="411480"/>
          </a:xfrm>
          <a:prstGeom prst="rect">
            <a:avLst/>
          </a:prstGeom>
          <a:noFill/>
          <a:ln/>
        </p:spPr>
        <p:txBody>
          <a:bodyPr wrap="square" rtlCol="0" anchor="ctr"/>
          <a:lstStyle/>
          <a:p>
            <a:pPr algn="ctr" indent="0" marL="0">
              <a:buNone/>
            </a:pPr>
            <a:r>
              <a:rPr lang="en-US" sz="1800" b="1" dirty="0">
                <a:solidFill>
                  <a:srgbClr val="5B8A6F"/>
                </a:solidFill>
                <a:latin typeface="Georgia" pitchFamily="34" charset="0"/>
                <a:ea typeface="Georgia" pitchFamily="34" charset="-122"/>
                <a:cs typeface="Georgia" pitchFamily="34" charset="-120"/>
              </a:rPr>
              <a:t>FORTSETTE</a:t>
            </a:r>
            <a:endParaRPr lang="en-US" sz="1800" dirty="0"/>
          </a:p>
        </p:txBody>
      </p:sp>
      <p:sp>
        <p:nvSpPr>
          <p:cNvPr id="16" name="Text 13"/>
          <p:cNvSpPr/>
          <p:nvPr/>
        </p:nvSpPr>
        <p:spPr>
          <a:xfrm>
            <a:off x="8138160" y="2331720"/>
            <a:ext cx="3566160" cy="320040"/>
          </a:xfrm>
          <a:prstGeom prst="rect">
            <a:avLst/>
          </a:prstGeom>
          <a:noFill/>
          <a:ln/>
        </p:spPr>
        <p:txBody>
          <a:bodyPr wrap="square" rtlCol="0" anchor="ctr"/>
          <a:lstStyle/>
          <a:p>
            <a:pPr algn="ctr" indent="0" marL="0">
              <a:buNone/>
            </a:pPr>
            <a:r>
              <a:rPr lang="en-US" sz="1100" i="1" dirty="0">
                <a:solidFill>
                  <a:srgbClr val="4A5A75"/>
                </a:solidFill>
                <a:latin typeface="Calibri" pitchFamily="34" charset="0"/>
                <a:ea typeface="Calibri" pitchFamily="34" charset="-122"/>
                <a:cs typeface="Calibri" pitchFamily="34" charset="-120"/>
              </a:rPr>
              <a:t>Viktig — beholdes</a:t>
            </a:r>
            <a:endParaRPr lang="en-US" sz="1100" dirty="0"/>
          </a:p>
        </p:txBody>
      </p:sp>
      <p:sp>
        <p:nvSpPr>
          <p:cNvPr id="17" name="Text 14"/>
          <p:cNvSpPr/>
          <p:nvPr/>
        </p:nvSpPr>
        <p:spPr>
          <a:xfrm>
            <a:off x="8366760" y="2743200"/>
            <a:ext cx="3108960" cy="1188720"/>
          </a:xfrm>
          <a:prstGeom prst="rect">
            <a:avLst/>
          </a:prstGeom>
          <a:noFill/>
          <a:ln/>
        </p:spPr>
        <p:txBody>
          <a:bodyPr wrap="square" rtlCol="0" anchor="t"/>
          <a:lstStyle/>
          <a:p>
            <a:pPr indent="0" marL="0">
              <a:buNone/>
            </a:pPr>
            <a:r>
              <a:rPr lang="en-US" sz="1100" dirty="0">
                <a:solidFill>
                  <a:srgbClr val="15233A"/>
                </a:solidFill>
                <a:latin typeface="Calibri" pitchFamily="34" charset="0"/>
                <a:ea typeface="Calibri" pitchFamily="34" charset="-122"/>
                <a:cs typeface="Calibri" pitchFamily="34" charset="-120"/>
              </a:rPr>
              <a:t>Det som faktisk skaper salg og fornøyde kunder. Får en eier og en standard.</a:t>
            </a:r>
            <a:endParaRPr lang="en-US" sz="1100" dirty="0"/>
          </a:p>
        </p:txBody>
      </p:sp>
      <p:sp>
        <p:nvSpPr>
          <p:cNvPr id="18" name="Shape 15"/>
          <p:cNvSpPr/>
          <p:nvPr/>
        </p:nvSpPr>
        <p:spPr>
          <a:xfrm>
            <a:off x="640080" y="4297680"/>
            <a:ext cx="10972800" cy="1051560"/>
          </a:xfrm>
          <a:prstGeom prst="rect">
            <a:avLst/>
          </a:prstGeom>
          <a:solidFill>
            <a:srgbClr val="FFFFFF"/>
          </a:solidFill>
          <a:ln w="12700">
            <a:solidFill>
              <a:srgbClr val="D4CBB8"/>
            </a:solidFill>
            <a:prstDash val="solid"/>
          </a:ln>
        </p:spPr>
      </p:sp>
      <p:sp>
        <p:nvSpPr>
          <p:cNvPr id="19" name="Text 16"/>
          <p:cNvSpPr/>
          <p:nvPr/>
        </p:nvSpPr>
        <p:spPr>
          <a:xfrm>
            <a:off x="822960" y="4407408"/>
            <a:ext cx="10515600" cy="274320"/>
          </a:xfrm>
          <a:prstGeom prst="rect">
            <a:avLst/>
          </a:prstGeom>
          <a:noFill/>
          <a:ln/>
        </p:spPr>
        <p:txBody>
          <a:bodyPr wrap="square" rtlCol="0" anchor="ctr"/>
          <a:lstStyle/>
          <a:p>
            <a:pPr indent="0" marL="0">
              <a:buNone/>
            </a:pPr>
            <a:r>
              <a:rPr lang="en-US" sz="1100" b="1" spc="300" kern="0" dirty="0">
                <a:solidFill>
                  <a:srgbClr val="C9A961"/>
                </a:solidFill>
                <a:latin typeface="Calibri" pitchFamily="34" charset="0"/>
                <a:ea typeface="Calibri" pitchFamily="34" charset="-122"/>
                <a:cs typeface="Calibri" pitchFamily="34" charset="-120"/>
              </a:rPr>
              <a:t>FOR ALT SOM BEHOLDES:</a:t>
            </a:r>
            <a:endParaRPr lang="en-US" sz="1100" dirty="0"/>
          </a:p>
        </p:txBody>
      </p:sp>
      <p:sp>
        <p:nvSpPr>
          <p:cNvPr id="20" name="Text 17"/>
          <p:cNvSpPr/>
          <p:nvPr/>
        </p:nvSpPr>
        <p:spPr>
          <a:xfrm>
            <a:off x="822960" y="4709160"/>
            <a:ext cx="10515600" cy="548640"/>
          </a:xfrm>
          <a:prstGeom prst="rect">
            <a:avLst/>
          </a:prstGeom>
          <a:noFill/>
          <a:ln/>
        </p:spPr>
        <p:txBody>
          <a:bodyPr wrap="square" rtlCol="0" anchor="ctr"/>
          <a:lstStyle/>
          <a:p>
            <a:pPr indent="0" marL="0">
              <a:buNone/>
            </a:pPr>
            <a:r>
              <a:rPr lang="en-US" sz="1300" dirty="0">
                <a:solidFill>
                  <a:srgbClr val="15233A"/>
                </a:solidFill>
                <a:latin typeface="Calibri" pitchFamily="34" charset="0"/>
                <a:ea typeface="Calibri" pitchFamily="34" charset="-122"/>
                <a:cs typeface="Calibri" pitchFamily="34" charset="-120"/>
              </a:rPr>
              <a:t>Én eier per oppgave (H eller M — «vi deler» er ikke et svar)   ·   Definert støtte   ·   Én setning: «slik ser det bra ut»</a:t>
            </a:r>
            <a:endParaRPr lang="en-US" sz="1300" dirty="0"/>
          </a:p>
        </p:txBody>
      </p:sp>
      <p:sp>
        <p:nvSpPr>
          <p:cNvPr id="21" name="Shape 18"/>
          <p:cNvSpPr/>
          <p:nvPr/>
        </p:nvSpPr>
        <p:spPr>
          <a:xfrm>
            <a:off x="640080" y="5486400"/>
            <a:ext cx="10972800" cy="777240"/>
          </a:xfrm>
          <a:prstGeom prst="rect">
            <a:avLst/>
          </a:prstGeom>
          <a:solidFill>
            <a:srgbClr val="0E2A4A"/>
          </a:solidFill>
          <a:ln/>
        </p:spPr>
      </p:sp>
      <p:sp>
        <p:nvSpPr>
          <p:cNvPr id="22" name="Text 19"/>
          <p:cNvSpPr/>
          <p:nvPr/>
        </p:nvSpPr>
        <p:spPr>
          <a:xfrm>
            <a:off x="822960" y="5577840"/>
            <a:ext cx="10607040" cy="594360"/>
          </a:xfrm>
          <a:prstGeom prst="rect">
            <a:avLst/>
          </a:prstGeom>
          <a:noFill/>
          <a:ln/>
        </p:spPr>
        <p:txBody>
          <a:bodyPr wrap="square" rtlCol="0" anchor="ctr"/>
          <a:lstStyle/>
          <a:p>
            <a:pPr indent="0" marL="0">
              <a:buNone/>
            </a:pPr>
            <a:r>
              <a:rPr lang="en-US" sz="1300" b="1" dirty="0">
                <a:solidFill>
                  <a:srgbClr val="C9A961"/>
                </a:solidFill>
                <a:latin typeface="Calibri" pitchFamily="34" charset="0"/>
                <a:ea typeface="Calibri" pitchFamily="34" charset="-122"/>
                <a:cs typeface="Calibri" pitchFamily="34" charset="-120"/>
              </a:rPr>
              <a:t>Til slutt:  </a:t>
            </a:r>
            <a:pPr indent="0" marL="0">
              <a:buNone/>
            </a:pPr>
            <a:r>
              <a:rPr lang="en-US" sz="1300" dirty="0">
                <a:solidFill>
                  <a:srgbClr val="FFFFFF"/>
                </a:solidFill>
                <a:latin typeface="Calibri" pitchFamily="34" charset="0"/>
                <a:ea typeface="Calibri" pitchFamily="34" charset="-122"/>
                <a:cs typeface="Calibri" pitchFamily="34" charset="-120"/>
              </a:rPr>
              <a:t>velg 3–5 kjerneansvar Henrik måles på — for eksempel befaringer, forhandling og nøkkelkunder. Alt annet flyttes, systematiseres eller kuttes.</a:t>
            </a:r>
            <a:endParaRPr lang="en-US" sz="1300" dirty="0"/>
          </a:p>
        </p:txBody>
      </p:sp>
      <p:sp>
        <p:nvSpPr>
          <p:cNvPr id="23" name="Shape 20"/>
          <p:cNvSpPr/>
          <p:nvPr/>
        </p:nvSpPr>
        <p:spPr>
          <a:xfrm>
            <a:off x="0" y="6675120"/>
            <a:ext cx="12191695" cy="182880"/>
          </a:xfrm>
          <a:prstGeom prst="rect">
            <a:avLst/>
          </a:prstGeom>
          <a:solidFill>
            <a:srgbClr val="C9A961"/>
          </a:solidFill>
          <a:ln/>
        </p:spPr>
      </p:sp>
      <p:sp>
        <p:nvSpPr>
          <p:cNvPr id="24" name="Text 21"/>
          <p:cNvSpPr/>
          <p:nvPr/>
        </p:nvSpPr>
        <p:spPr>
          <a:xfrm>
            <a:off x="457200" y="6446520"/>
            <a:ext cx="7315200" cy="228600"/>
          </a:xfrm>
          <a:prstGeom prst="rect">
            <a:avLst/>
          </a:prstGeom>
          <a:noFill/>
          <a:ln/>
        </p:spPr>
        <p:txBody>
          <a:bodyPr wrap="square" rtlCol="0" anchor="ctr"/>
          <a:lstStyle/>
          <a:p>
            <a:pPr indent="0" marL="0">
              <a:buNone/>
            </a:pPr>
            <a:r>
              <a:rPr lang="en-US" sz="900" dirty="0">
                <a:solidFill>
                  <a:srgbClr val="4A5A75"/>
                </a:solidFill>
                <a:latin typeface="Calibri" pitchFamily="34" charset="0"/>
                <a:ea typeface="Calibri" pitchFamily="34" charset="-122"/>
                <a:cs typeface="Calibri" pitchFamily="34" charset="-120"/>
              </a:rPr>
              <a:t>House of Yachts  |  Mandagsmøte uke 34  |  17. august 2026</a:t>
            </a:r>
            <a:endParaRPr lang="en-US" sz="900" dirty="0"/>
          </a:p>
        </p:txBody>
      </p:sp>
      <p:sp>
        <p:nvSpPr>
          <p:cNvPr id="25" name="Text 22"/>
          <p:cNvSpPr/>
          <p:nvPr/>
        </p:nvSpPr>
        <p:spPr>
          <a:xfrm>
            <a:off x="10789920" y="6446520"/>
            <a:ext cx="914400" cy="228600"/>
          </a:xfrm>
          <a:prstGeom prst="rect">
            <a:avLst/>
          </a:prstGeom>
          <a:noFill/>
          <a:ln/>
        </p:spPr>
        <p:txBody>
          <a:bodyPr wrap="square" rtlCol="0" anchor="ctr"/>
          <a:lstStyle/>
          <a:p>
            <a:pPr algn="r" indent="0" marL="0">
              <a:buNone/>
            </a:pPr>
            <a:r>
              <a:rPr lang="en-US" sz="900" dirty="0">
                <a:solidFill>
                  <a:srgbClr val="4A5A75"/>
                </a:solidFill>
                <a:latin typeface="Calibri" pitchFamily="34" charset="0"/>
                <a:ea typeface="Calibri" pitchFamily="34" charset="-122"/>
                <a:cs typeface="Calibri" pitchFamily="34" charset="-120"/>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B"/>
        </a:solidFill>
      </p:bgPr>
    </p:bg>
    <p:spTree>
      <p:nvGrpSpPr>
        <p:cNvPr id="1" name=""/>
        <p:cNvGrpSpPr/>
        <p:nvPr/>
      </p:nvGrpSpPr>
      <p:grpSpPr>
        <a:xfrm>
          <a:off x="0" y="0"/>
          <a:ext cx="0" cy="0"/>
          <a:chOff x="0" y="0"/>
          <a:chExt cx="0" cy="0"/>
        </a:xfrm>
      </p:grpSpPr>
      <p:sp>
        <p:nvSpPr>
          <p:cNvPr id="3" name="Shape 0"/>
          <p:cNvSpPr/>
          <p:nvPr/>
        </p:nvSpPr>
        <p:spPr>
          <a:xfrm>
            <a:off x="0" y="0"/>
            <a:ext cx="228600" cy="6858000"/>
          </a:xfrm>
          <a:prstGeom prst="rect">
            <a:avLst/>
          </a:prstGeom>
          <a:solidFill>
            <a:srgbClr val="0E2A4A"/>
          </a:solidFill>
          <a:ln/>
        </p:spPr>
      </p:sp>
      <p:sp>
        <p:nvSpPr>
          <p:cNvPr id="4" name="Text 1"/>
          <p:cNvSpPr/>
          <p:nvPr/>
        </p:nvSpPr>
        <p:spPr>
          <a:xfrm>
            <a:off x="640080" y="457200"/>
            <a:ext cx="9144000" cy="365760"/>
          </a:xfrm>
          <a:prstGeom prst="rect">
            <a:avLst/>
          </a:prstGeom>
          <a:noFill/>
          <a:ln/>
        </p:spPr>
        <p:txBody>
          <a:bodyPr wrap="square" rtlCol="0" anchor="ctr"/>
          <a:lstStyle/>
          <a:p>
            <a:pPr indent="0" marL="0">
              <a:buNone/>
            </a:pPr>
            <a:r>
              <a:rPr lang="en-US" sz="1100" b="1" spc="500" kern="0" dirty="0">
                <a:solidFill>
                  <a:srgbClr val="C9A961"/>
                </a:solidFill>
                <a:latin typeface="Calibri" pitchFamily="34" charset="0"/>
                <a:ea typeface="Calibri" pitchFamily="34" charset="-122"/>
                <a:cs typeface="Calibri" pitchFamily="34" charset="-120"/>
              </a:rPr>
              <a:t>WORKSHOP · STEG 3 AV 3  ·  30–40 MIN</a:t>
            </a:r>
            <a:endParaRPr lang="en-US" sz="1100" dirty="0"/>
          </a:p>
        </p:txBody>
      </p:sp>
      <p:sp>
        <p:nvSpPr>
          <p:cNvPr id="5" name="Text 2"/>
          <p:cNvSpPr/>
          <p:nvPr/>
        </p:nvSpPr>
        <p:spPr>
          <a:xfrm>
            <a:off x="640080" y="822960"/>
            <a:ext cx="10972800" cy="731520"/>
          </a:xfrm>
          <a:prstGeom prst="rect">
            <a:avLst/>
          </a:prstGeom>
          <a:noFill/>
          <a:ln/>
        </p:spPr>
        <p:txBody>
          <a:bodyPr wrap="square" rtlCol="0" anchor="ctr"/>
          <a:lstStyle/>
          <a:p>
            <a:pPr indent="0" marL="0">
              <a:buNone/>
            </a:pPr>
            <a:r>
              <a:rPr lang="en-US" sz="3600" i="1" dirty="0">
                <a:solidFill>
                  <a:srgbClr val="15233A"/>
                </a:solidFill>
                <a:latin typeface="Georgia" pitchFamily="34" charset="0"/>
                <a:ea typeface="Georgia" pitchFamily="34" charset="-122"/>
                <a:cs typeface="Georgia" pitchFamily="34" charset="-120"/>
              </a:rPr>
              <a:t>Ny ukesrytme og spilleregler</a:t>
            </a:r>
            <a:endParaRPr lang="en-US" sz="3600" dirty="0"/>
          </a:p>
        </p:txBody>
      </p:sp>
      <p:sp>
        <p:nvSpPr>
          <p:cNvPr id="6" name="Shape 3"/>
          <p:cNvSpPr/>
          <p:nvPr/>
        </p:nvSpPr>
        <p:spPr>
          <a:xfrm>
            <a:off x="640080" y="1828800"/>
            <a:ext cx="10972800" cy="1033272"/>
          </a:xfrm>
          <a:prstGeom prst="rect">
            <a:avLst/>
          </a:prstGeom>
          <a:solidFill>
            <a:srgbClr val="FFFFFF"/>
          </a:solidFill>
          <a:ln w="12700">
            <a:solidFill>
              <a:srgbClr val="D4CBB8"/>
            </a:solidFill>
            <a:prstDash val="solid"/>
          </a:ln>
        </p:spPr>
      </p:sp>
      <p:sp>
        <p:nvSpPr>
          <p:cNvPr id="7" name="Text 4"/>
          <p:cNvSpPr/>
          <p:nvPr/>
        </p:nvSpPr>
        <p:spPr>
          <a:xfrm>
            <a:off x="822960" y="2011680"/>
            <a:ext cx="731520" cy="640080"/>
          </a:xfrm>
          <a:prstGeom prst="rect">
            <a:avLst/>
          </a:prstGeom>
          <a:noFill/>
          <a:ln/>
        </p:spPr>
        <p:txBody>
          <a:bodyPr wrap="square" rtlCol="0" anchor="ctr"/>
          <a:lstStyle/>
          <a:p>
            <a:pPr indent="0" marL="0">
              <a:buNone/>
            </a:pPr>
            <a:r>
              <a:rPr lang="en-US" sz="2800" i="1" dirty="0">
                <a:solidFill>
                  <a:srgbClr val="C9A961"/>
                </a:solidFill>
                <a:latin typeface="Georgia" pitchFamily="34" charset="0"/>
                <a:ea typeface="Georgia" pitchFamily="34" charset="-122"/>
                <a:cs typeface="Georgia" pitchFamily="34" charset="-120"/>
              </a:rPr>
              <a:t>1</a:t>
            </a:r>
            <a:endParaRPr lang="en-US" sz="2800" dirty="0"/>
          </a:p>
        </p:txBody>
      </p:sp>
      <p:sp>
        <p:nvSpPr>
          <p:cNvPr id="8" name="Text 5"/>
          <p:cNvSpPr/>
          <p:nvPr/>
        </p:nvSpPr>
        <p:spPr>
          <a:xfrm>
            <a:off x="1645920" y="1938528"/>
            <a:ext cx="9601200" cy="365760"/>
          </a:xfrm>
          <a:prstGeom prst="rect">
            <a:avLst/>
          </a:prstGeom>
          <a:noFill/>
          <a:ln/>
        </p:spPr>
        <p:txBody>
          <a:bodyPr wrap="square" rtlCol="0" anchor="ctr"/>
          <a:lstStyle/>
          <a:p>
            <a:pPr indent="0" marL="0">
              <a:buNone/>
            </a:pPr>
            <a:r>
              <a:rPr lang="en-US" sz="1600" b="1" dirty="0">
                <a:solidFill>
                  <a:srgbClr val="15233A"/>
                </a:solidFill>
                <a:latin typeface="Calibri" pitchFamily="34" charset="0"/>
                <a:ea typeface="Calibri" pitchFamily="34" charset="-122"/>
                <a:cs typeface="Calibri" pitchFamily="34" charset="-120"/>
              </a:rPr>
              <a:t>Henriks ukeplan</a:t>
            </a:r>
            <a:endParaRPr lang="en-US" sz="1600" dirty="0"/>
          </a:p>
        </p:txBody>
      </p:sp>
      <p:sp>
        <p:nvSpPr>
          <p:cNvPr id="9" name="Text 6"/>
          <p:cNvSpPr/>
          <p:nvPr/>
        </p:nvSpPr>
        <p:spPr>
          <a:xfrm>
            <a:off x="1645920" y="2286000"/>
            <a:ext cx="9692640" cy="548640"/>
          </a:xfrm>
          <a:prstGeom prst="rect">
            <a:avLst/>
          </a:prstGeom>
          <a:noFill/>
          <a:ln/>
        </p:spPr>
        <p:txBody>
          <a:bodyPr wrap="square" rtlCol="0" anchor="ctr"/>
          <a:lstStyle/>
          <a:p>
            <a:pPr indent="0" marL="0">
              <a:buNone/>
            </a:pPr>
            <a:r>
              <a:rPr lang="en-US" sz="1200" dirty="0">
                <a:solidFill>
                  <a:srgbClr val="4A5A75"/>
                </a:solidFill>
                <a:latin typeface="Calibri" pitchFamily="34" charset="0"/>
                <a:ea typeface="Calibri" pitchFamily="34" charset="-122"/>
                <a:cs typeface="Calibri" pitchFamily="34" charset="-120"/>
              </a:rPr>
              <a:t>Faste blokker for befaring, visning, admin og oppfølging — pluss minst 2 × 2 timer uforstyrret fokustid. Legges inn i kalenderen før vi går.</a:t>
            </a:r>
            <a:endParaRPr lang="en-US" sz="1200" dirty="0"/>
          </a:p>
        </p:txBody>
      </p:sp>
      <p:sp>
        <p:nvSpPr>
          <p:cNvPr id="10" name="Shape 7"/>
          <p:cNvSpPr/>
          <p:nvPr/>
        </p:nvSpPr>
        <p:spPr>
          <a:xfrm>
            <a:off x="640080" y="2944368"/>
            <a:ext cx="10972800" cy="1033272"/>
          </a:xfrm>
          <a:prstGeom prst="rect">
            <a:avLst/>
          </a:prstGeom>
          <a:solidFill>
            <a:srgbClr val="FFFFFF"/>
          </a:solidFill>
          <a:ln w="12700">
            <a:solidFill>
              <a:srgbClr val="D4CBB8"/>
            </a:solidFill>
            <a:prstDash val="solid"/>
          </a:ln>
        </p:spPr>
      </p:sp>
      <p:sp>
        <p:nvSpPr>
          <p:cNvPr id="11" name="Text 8"/>
          <p:cNvSpPr/>
          <p:nvPr/>
        </p:nvSpPr>
        <p:spPr>
          <a:xfrm>
            <a:off x="822960" y="3127248"/>
            <a:ext cx="731520" cy="640080"/>
          </a:xfrm>
          <a:prstGeom prst="rect">
            <a:avLst/>
          </a:prstGeom>
          <a:noFill/>
          <a:ln/>
        </p:spPr>
        <p:txBody>
          <a:bodyPr wrap="square" rtlCol="0" anchor="ctr"/>
          <a:lstStyle/>
          <a:p>
            <a:pPr indent="0" marL="0">
              <a:buNone/>
            </a:pPr>
            <a:r>
              <a:rPr lang="en-US" sz="2800" i="1" dirty="0">
                <a:solidFill>
                  <a:srgbClr val="C9A961"/>
                </a:solidFill>
                <a:latin typeface="Georgia" pitchFamily="34" charset="0"/>
                <a:ea typeface="Georgia" pitchFamily="34" charset="-122"/>
                <a:cs typeface="Georgia" pitchFamily="34" charset="-120"/>
              </a:rPr>
              <a:t>2</a:t>
            </a:r>
            <a:endParaRPr lang="en-US" sz="2800" dirty="0"/>
          </a:p>
        </p:txBody>
      </p:sp>
      <p:sp>
        <p:nvSpPr>
          <p:cNvPr id="12" name="Text 9"/>
          <p:cNvSpPr/>
          <p:nvPr/>
        </p:nvSpPr>
        <p:spPr>
          <a:xfrm>
            <a:off x="1645920" y="3054096"/>
            <a:ext cx="9601200" cy="365760"/>
          </a:xfrm>
          <a:prstGeom prst="rect">
            <a:avLst/>
          </a:prstGeom>
          <a:noFill/>
          <a:ln/>
        </p:spPr>
        <p:txBody>
          <a:bodyPr wrap="square" rtlCol="0" anchor="ctr"/>
          <a:lstStyle/>
          <a:p>
            <a:pPr indent="0" marL="0">
              <a:buNone/>
            </a:pPr>
            <a:r>
              <a:rPr lang="en-US" sz="1600" b="1" dirty="0">
                <a:solidFill>
                  <a:srgbClr val="15233A"/>
                </a:solidFill>
                <a:latin typeface="Calibri" pitchFamily="34" charset="0"/>
                <a:ea typeface="Calibri" pitchFamily="34" charset="-122"/>
                <a:cs typeface="Calibri" pitchFamily="34" charset="-120"/>
              </a:rPr>
              <a:t>Fast kommunikasjonsrytme</a:t>
            </a:r>
            <a:endParaRPr lang="en-US" sz="1600" dirty="0"/>
          </a:p>
        </p:txBody>
      </p:sp>
      <p:sp>
        <p:nvSpPr>
          <p:cNvPr id="13" name="Text 10"/>
          <p:cNvSpPr/>
          <p:nvPr/>
        </p:nvSpPr>
        <p:spPr>
          <a:xfrm>
            <a:off x="1645920" y="3401568"/>
            <a:ext cx="9692640" cy="548640"/>
          </a:xfrm>
          <a:prstGeom prst="rect">
            <a:avLst/>
          </a:prstGeom>
          <a:noFill/>
          <a:ln/>
        </p:spPr>
        <p:txBody>
          <a:bodyPr wrap="square" rtlCol="0" anchor="ctr"/>
          <a:lstStyle/>
          <a:p>
            <a:pPr indent="0" marL="0">
              <a:buNone/>
            </a:pPr>
            <a:r>
              <a:rPr lang="en-US" sz="1200" dirty="0">
                <a:solidFill>
                  <a:srgbClr val="4A5A75"/>
                </a:solidFill>
                <a:latin typeface="Calibri" pitchFamily="34" charset="0"/>
                <a:ea typeface="Calibri" pitchFamily="34" charset="-122"/>
                <a:cs typeface="Calibri" pitchFamily="34" charset="-120"/>
              </a:rPr>
              <a:t>15 minutter stå-opp hver morgen: status, hindringer, fordeling. 45–60 minutter planlegging hver mandag.</a:t>
            </a:r>
            <a:endParaRPr lang="en-US" sz="1200" dirty="0"/>
          </a:p>
        </p:txBody>
      </p:sp>
      <p:sp>
        <p:nvSpPr>
          <p:cNvPr id="14" name="Shape 11"/>
          <p:cNvSpPr/>
          <p:nvPr/>
        </p:nvSpPr>
        <p:spPr>
          <a:xfrm>
            <a:off x="640080" y="4059936"/>
            <a:ext cx="10972800" cy="1033272"/>
          </a:xfrm>
          <a:prstGeom prst="rect">
            <a:avLst/>
          </a:prstGeom>
          <a:solidFill>
            <a:srgbClr val="FFFFFF"/>
          </a:solidFill>
          <a:ln w="12700">
            <a:solidFill>
              <a:srgbClr val="D4CBB8"/>
            </a:solidFill>
            <a:prstDash val="solid"/>
          </a:ln>
        </p:spPr>
      </p:sp>
      <p:sp>
        <p:nvSpPr>
          <p:cNvPr id="15" name="Text 12"/>
          <p:cNvSpPr/>
          <p:nvPr/>
        </p:nvSpPr>
        <p:spPr>
          <a:xfrm>
            <a:off x="822960" y="4242816"/>
            <a:ext cx="731520" cy="640080"/>
          </a:xfrm>
          <a:prstGeom prst="rect">
            <a:avLst/>
          </a:prstGeom>
          <a:noFill/>
          <a:ln/>
        </p:spPr>
        <p:txBody>
          <a:bodyPr wrap="square" rtlCol="0" anchor="ctr"/>
          <a:lstStyle/>
          <a:p>
            <a:pPr indent="0" marL="0">
              <a:buNone/>
            </a:pPr>
            <a:r>
              <a:rPr lang="en-US" sz="2800" i="1" dirty="0">
                <a:solidFill>
                  <a:srgbClr val="C9A961"/>
                </a:solidFill>
                <a:latin typeface="Georgia" pitchFamily="34" charset="0"/>
                <a:ea typeface="Georgia" pitchFamily="34" charset="-122"/>
                <a:cs typeface="Georgia" pitchFamily="34" charset="-120"/>
              </a:rPr>
              <a:t>3</a:t>
            </a:r>
            <a:endParaRPr lang="en-US" sz="2800" dirty="0"/>
          </a:p>
        </p:txBody>
      </p:sp>
      <p:sp>
        <p:nvSpPr>
          <p:cNvPr id="16" name="Text 13"/>
          <p:cNvSpPr/>
          <p:nvPr/>
        </p:nvSpPr>
        <p:spPr>
          <a:xfrm>
            <a:off x="1645920" y="4169664"/>
            <a:ext cx="9601200" cy="365760"/>
          </a:xfrm>
          <a:prstGeom prst="rect">
            <a:avLst/>
          </a:prstGeom>
          <a:noFill/>
          <a:ln/>
        </p:spPr>
        <p:txBody>
          <a:bodyPr wrap="square" rtlCol="0" anchor="ctr"/>
          <a:lstStyle/>
          <a:p>
            <a:pPr indent="0" marL="0">
              <a:buNone/>
            </a:pPr>
            <a:r>
              <a:rPr lang="en-US" sz="1600" b="1" dirty="0">
                <a:solidFill>
                  <a:srgbClr val="15233A"/>
                </a:solidFill>
                <a:latin typeface="Calibri" pitchFamily="34" charset="0"/>
                <a:ea typeface="Calibri" pitchFamily="34" charset="-122"/>
                <a:cs typeface="Calibri" pitchFamily="34" charset="-120"/>
              </a:rPr>
              <a:t>Én felles innboks</a:t>
            </a:r>
            <a:endParaRPr lang="en-US" sz="1600" dirty="0"/>
          </a:p>
        </p:txBody>
      </p:sp>
      <p:sp>
        <p:nvSpPr>
          <p:cNvPr id="17" name="Text 14"/>
          <p:cNvSpPr/>
          <p:nvPr/>
        </p:nvSpPr>
        <p:spPr>
          <a:xfrm>
            <a:off x="1645920" y="4517136"/>
            <a:ext cx="9692640" cy="548640"/>
          </a:xfrm>
          <a:prstGeom prst="rect">
            <a:avLst/>
          </a:prstGeom>
          <a:noFill/>
          <a:ln/>
        </p:spPr>
        <p:txBody>
          <a:bodyPr wrap="square" rtlCol="0" anchor="ctr"/>
          <a:lstStyle/>
          <a:p>
            <a:pPr indent="0" marL="0">
              <a:buNone/>
            </a:pPr>
            <a:r>
              <a:rPr lang="en-US" sz="1200" dirty="0">
                <a:solidFill>
                  <a:srgbClr val="4A5A75"/>
                </a:solidFill>
                <a:latin typeface="Calibri" pitchFamily="34" charset="0"/>
                <a:ea typeface="Calibri" pitchFamily="34" charset="-122"/>
                <a:cs typeface="Calibri" pitchFamily="34" charset="-120"/>
              </a:rPr>
              <a:t>Alt nytt inn ett sted — ikke muntlig i forbifarten. Ingen «har du to minutter?» som standard; alt via innboksen eller møtene, med mindre det er akutt.</a:t>
            </a:r>
            <a:endParaRPr lang="en-US" sz="1200" dirty="0"/>
          </a:p>
        </p:txBody>
      </p:sp>
      <p:sp>
        <p:nvSpPr>
          <p:cNvPr id="18" name="Shape 15"/>
          <p:cNvSpPr/>
          <p:nvPr/>
        </p:nvSpPr>
        <p:spPr>
          <a:xfrm>
            <a:off x="640080" y="5175504"/>
            <a:ext cx="10972800" cy="1033272"/>
          </a:xfrm>
          <a:prstGeom prst="rect">
            <a:avLst/>
          </a:prstGeom>
          <a:solidFill>
            <a:srgbClr val="FFFFFF"/>
          </a:solidFill>
          <a:ln w="12700">
            <a:solidFill>
              <a:srgbClr val="D4CBB8"/>
            </a:solidFill>
            <a:prstDash val="solid"/>
          </a:ln>
        </p:spPr>
      </p:sp>
      <p:sp>
        <p:nvSpPr>
          <p:cNvPr id="19" name="Text 16"/>
          <p:cNvSpPr/>
          <p:nvPr/>
        </p:nvSpPr>
        <p:spPr>
          <a:xfrm>
            <a:off x="822960" y="5358384"/>
            <a:ext cx="731520" cy="640080"/>
          </a:xfrm>
          <a:prstGeom prst="rect">
            <a:avLst/>
          </a:prstGeom>
          <a:noFill/>
          <a:ln/>
        </p:spPr>
        <p:txBody>
          <a:bodyPr wrap="square" rtlCol="0" anchor="ctr"/>
          <a:lstStyle/>
          <a:p>
            <a:pPr indent="0" marL="0">
              <a:buNone/>
            </a:pPr>
            <a:r>
              <a:rPr lang="en-US" sz="2800" i="1" dirty="0">
                <a:solidFill>
                  <a:srgbClr val="C9A961"/>
                </a:solidFill>
                <a:latin typeface="Georgia" pitchFamily="34" charset="0"/>
                <a:ea typeface="Georgia" pitchFamily="34" charset="-122"/>
                <a:cs typeface="Georgia" pitchFamily="34" charset="-120"/>
              </a:rPr>
              <a:t>4</a:t>
            </a:r>
            <a:endParaRPr lang="en-US" sz="2800" dirty="0"/>
          </a:p>
        </p:txBody>
      </p:sp>
      <p:sp>
        <p:nvSpPr>
          <p:cNvPr id="20" name="Text 17"/>
          <p:cNvSpPr/>
          <p:nvPr/>
        </p:nvSpPr>
        <p:spPr>
          <a:xfrm>
            <a:off x="1645920" y="5285232"/>
            <a:ext cx="9601200" cy="365760"/>
          </a:xfrm>
          <a:prstGeom prst="rect">
            <a:avLst/>
          </a:prstGeom>
          <a:noFill/>
          <a:ln/>
        </p:spPr>
        <p:txBody>
          <a:bodyPr wrap="square" rtlCol="0" anchor="ctr"/>
          <a:lstStyle/>
          <a:p>
            <a:pPr indent="0" marL="0">
              <a:buNone/>
            </a:pPr>
            <a:r>
              <a:rPr lang="en-US" sz="1600" b="1" dirty="0">
                <a:solidFill>
                  <a:srgbClr val="15233A"/>
                </a:solidFill>
                <a:latin typeface="Calibri" pitchFamily="34" charset="0"/>
                <a:ea typeface="Calibri" pitchFamily="34" charset="-122"/>
                <a:cs typeface="Calibri" pitchFamily="34" charset="-120"/>
              </a:rPr>
              <a:t>Grense for samtidige saker</a:t>
            </a:r>
            <a:endParaRPr lang="en-US" sz="1600" dirty="0"/>
          </a:p>
        </p:txBody>
      </p:sp>
      <p:sp>
        <p:nvSpPr>
          <p:cNvPr id="21" name="Text 18"/>
          <p:cNvSpPr/>
          <p:nvPr/>
        </p:nvSpPr>
        <p:spPr>
          <a:xfrm>
            <a:off x="1645920" y="5632704"/>
            <a:ext cx="9692640" cy="548640"/>
          </a:xfrm>
          <a:prstGeom prst="rect">
            <a:avLst/>
          </a:prstGeom>
          <a:noFill/>
          <a:ln/>
        </p:spPr>
        <p:txBody>
          <a:bodyPr wrap="square" rtlCol="0" anchor="ctr"/>
          <a:lstStyle/>
          <a:p>
            <a:pPr indent="0" marL="0">
              <a:buNone/>
            </a:pPr>
            <a:r>
              <a:rPr lang="en-US" sz="1200" dirty="0">
                <a:solidFill>
                  <a:srgbClr val="4A5A75"/>
                </a:solidFill>
                <a:latin typeface="Calibri" pitchFamily="34" charset="0"/>
                <a:ea typeface="Calibri" pitchFamily="34" charset="-122"/>
                <a:cs typeface="Calibri" pitchFamily="34" charset="-120"/>
              </a:rPr>
              <a:t>Henrik setter et tak: maks antall aktive saker samtidig. Resten står i kø — synlig, men ikke i hodet.</a:t>
            </a:r>
            <a:endParaRPr lang="en-US" sz="1200" dirty="0"/>
          </a:p>
        </p:txBody>
      </p:sp>
      <p:sp>
        <p:nvSpPr>
          <p:cNvPr id="22" name="Shape 19"/>
          <p:cNvSpPr/>
          <p:nvPr/>
        </p:nvSpPr>
        <p:spPr>
          <a:xfrm>
            <a:off x="0" y="6675120"/>
            <a:ext cx="12191695" cy="182880"/>
          </a:xfrm>
          <a:prstGeom prst="rect">
            <a:avLst/>
          </a:prstGeom>
          <a:solidFill>
            <a:srgbClr val="C9A961"/>
          </a:solidFill>
          <a:ln/>
        </p:spPr>
      </p:sp>
      <p:sp>
        <p:nvSpPr>
          <p:cNvPr id="23" name="Text 20"/>
          <p:cNvSpPr/>
          <p:nvPr/>
        </p:nvSpPr>
        <p:spPr>
          <a:xfrm>
            <a:off x="457200" y="6446520"/>
            <a:ext cx="7315200" cy="228600"/>
          </a:xfrm>
          <a:prstGeom prst="rect">
            <a:avLst/>
          </a:prstGeom>
          <a:noFill/>
          <a:ln/>
        </p:spPr>
        <p:txBody>
          <a:bodyPr wrap="square" rtlCol="0" anchor="ctr"/>
          <a:lstStyle/>
          <a:p>
            <a:pPr indent="0" marL="0">
              <a:buNone/>
            </a:pPr>
            <a:r>
              <a:rPr lang="en-US" sz="900" dirty="0">
                <a:solidFill>
                  <a:srgbClr val="4A5A75"/>
                </a:solidFill>
                <a:latin typeface="Calibri" pitchFamily="34" charset="0"/>
                <a:ea typeface="Calibri" pitchFamily="34" charset="-122"/>
                <a:cs typeface="Calibri" pitchFamily="34" charset="-120"/>
              </a:rPr>
              <a:t>House of Yachts  |  Mandagsmøte uke 34  |  17. august 2026</a:t>
            </a:r>
            <a:endParaRPr lang="en-US" sz="900" dirty="0"/>
          </a:p>
        </p:txBody>
      </p:sp>
      <p:sp>
        <p:nvSpPr>
          <p:cNvPr id="24" name="Text 21"/>
          <p:cNvSpPr/>
          <p:nvPr/>
        </p:nvSpPr>
        <p:spPr>
          <a:xfrm>
            <a:off x="10789920" y="6446520"/>
            <a:ext cx="914400" cy="228600"/>
          </a:xfrm>
          <a:prstGeom prst="rect">
            <a:avLst/>
          </a:prstGeom>
          <a:noFill/>
          <a:ln/>
        </p:spPr>
        <p:txBody>
          <a:bodyPr wrap="square" rtlCol="0" anchor="ctr"/>
          <a:lstStyle/>
          <a:p>
            <a:pPr algn="r" indent="0" marL="0">
              <a:buNone/>
            </a:pPr>
            <a:r>
              <a:rPr lang="en-US" sz="900" dirty="0">
                <a:solidFill>
                  <a:srgbClr val="4A5A75"/>
                </a:solidFill>
                <a:latin typeface="Calibri" pitchFamily="34" charset="0"/>
                <a:ea typeface="Calibri" pitchFamily="34" charset="-122"/>
                <a:cs typeface="Calibri"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B"/>
        </a:solidFill>
      </p:bgPr>
    </p:bg>
    <p:spTree>
      <p:nvGrpSpPr>
        <p:cNvPr id="1" name=""/>
        <p:cNvGrpSpPr/>
        <p:nvPr/>
      </p:nvGrpSpPr>
      <p:grpSpPr>
        <a:xfrm>
          <a:off x="0" y="0"/>
          <a:ext cx="0" cy="0"/>
          <a:chOff x="0" y="0"/>
          <a:chExt cx="0" cy="0"/>
        </a:xfrm>
      </p:grpSpPr>
      <p:sp>
        <p:nvSpPr>
          <p:cNvPr id="3" name="Shape 0"/>
          <p:cNvSpPr/>
          <p:nvPr/>
        </p:nvSpPr>
        <p:spPr>
          <a:xfrm>
            <a:off x="0" y="0"/>
            <a:ext cx="228600" cy="6858000"/>
          </a:xfrm>
          <a:prstGeom prst="rect">
            <a:avLst/>
          </a:prstGeom>
          <a:solidFill>
            <a:srgbClr val="0E2A4A"/>
          </a:solidFill>
          <a:ln/>
        </p:spPr>
      </p:sp>
      <p:sp>
        <p:nvSpPr>
          <p:cNvPr id="4" name="Text 1"/>
          <p:cNvSpPr/>
          <p:nvPr/>
        </p:nvSpPr>
        <p:spPr>
          <a:xfrm>
            <a:off x="640080" y="457200"/>
            <a:ext cx="9144000" cy="365760"/>
          </a:xfrm>
          <a:prstGeom prst="rect">
            <a:avLst/>
          </a:prstGeom>
          <a:noFill/>
          <a:ln/>
        </p:spPr>
        <p:txBody>
          <a:bodyPr wrap="square" rtlCol="0" anchor="ctr"/>
          <a:lstStyle/>
          <a:p>
            <a:pPr indent="0" marL="0">
              <a:buNone/>
            </a:pPr>
            <a:r>
              <a:rPr lang="en-US" sz="1100" b="1" spc="500" kern="0" dirty="0">
                <a:solidFill>
                  <a:srgbClr val="C9A961"/>
                </a:solidFill>
                <a:latin typeface="Calibri" pitchFamily="34" charset="0"/>
                <a:ea typeface="Calibri" pitchFamily="34" charset="-122"/>
                <a:cs typeface="Calibri" pitchFamily="34" charset="-120"/>
              </a:rPr>
              <a:t>WORKSHOP · OPPFØLGING</a:t>
            </a:r>
            <a:endParaRPr lang="en-US" sz="1100" dirty="0"/>
          </a:p>
        </p:txBody>
      </p:sp>
      <p:sp>
        <p:nvSpPr>
          <p:cNvPr id="5" name="Text 2"/>
          <p:cNvSpPr/>
          <p:nvPr/>
        </p:nvSpPr>
        <p:spPr>
          <a:xfrm>
            <a:off x="640080" y="822960"/>
            <a:ext cx="10972800" cy="731520"/>
          </a:xfrm>
          <a:prstGeom prst="rect">
            <a:avLst/>
          </a:prstGeom>
          <a:noFill/>
          <a:ln/>
        </p:spPr>
        <p:txBody>
          <a:bodyPr wrap="square" rtlCol="0" anchor="ctr"/>
          <a:lstStyle/>
          <a:p>
            <a:pPr indent="0" marL="0">
              <a:buNone/>
            </a:pPr>
            <a:r>
              <a:rPr lang="en-US" sz="3600" i="1" dirty="0">
                <a:solidFill>
                  <a:srgbClr val="15233A"/>
                </a:solidFill>
                <a:latin typeface="Georgia" pitchFamily="34" charset="0"/>
                <a:ea typeface="Georgia" pitchFamily="34" charset="-122"/>
                <a:cs typeface="Georgia" pitchFamily="34" charset="-120"/>
              </a:rPr>
              <a:t>Etter workshoppen</a:t>
            </a:r>
            <a:endParaRPr lang="en-US" sz="3600" dirty="0"/>
          </a:p>
        </p:txBody>
      </p:sp>
      <p:sp>
        <p:nvSpPr>
          <p:cNvPr id="6" name="Text 3"/>
          <p:cNvSpPr/>
          <p:nvPr/>
        </p:nvSpPr>
        <p:spPr>
          <a:xfrm>
            <a:off x="640080" y="1828800"/>
            <a:ext cx="10972800" cy="320040"/>
          </a:xfrm>
          <a:prstGeom prst="rect">
            <a:avLst/>
          </a:prstGeom>
          <a:noFill/>
          <a:ln/>
        </p:spPr>
        <p:txBody>
          <a:bodyPr wrap="square" rtlCol="0" anchor="ctr"/>
          <a:lstStyle/>
          <a:p>
            <a:pPr indent="0" marL="0">
              <a:buNone/>
            </a:pPr>
            <a:r>
              <a:rPr lang="en-US" sz="1100" b="1" spc="400" kern="0" dirty="0">
                <a:solidFill>
                  <a:srgbClr val="C9A961"/>
                </a:solidFill>
                <a:latin typeface="Calibri" pitchFamily="34" charset="0"/>
                <a:ea typeface="Calibri" pitchFamily="34" charset="-122"/>
                <a:cs typeface="Calibri" pitchFamily="34" charset="-120"/>
              </a:rPr>
              <a:t>DETTE DOKUMENTERES</a:t>
            </a:r>
            <a:endParaRPr lang="en-US" sz="1100" dirty="0"/>
          </a:p>
        </p:txBody>
      </p:sp>
      <p:sp>
        <p:nvSpPr>
          <p:cNvPr id="7" name="Shape 4"/>
          <p:cNvSpPr/>
          <p:nvPr/>
        </p:nvSpPr>
        <p:spPr>
          <a:xfrm>
            <a:off x="640080" y="2240280"/>
            <a:ext cx="10972800" cy="777240"/>
          </a:xfrm>
          <a:prstGeom prst="rect">
            <a:avLst/>
          </a:prstGeom>
          <a:solidFill>
            <a:srgbClr val="FFFFFF"/>
          </a:solidFill>
          <a:ln w="12700">
            <a:solidFill>
              <a:srgbClr val="D4CBB8"/>
            </a:solidFill>
            <a:prstDash val="solid"/>
          </a:ln>
        </p:spPr>
      </p:sp>
      <p:sp>
        <p:nvSpPr>
          <p:cNvPr id="8" name="Text 5"/>
          <p:cNvSpPr/>
          <p:nvPr/>
        </p:nvSpPr>
        <p:spPr>
          <a:xfrm>
            <a:off x="822960" y="2331720"/>
            <a:ext cx="3657600" cy="548640"/>
          </a:xfrm>
          <a:prstGeom prst="rect">
            <a:avLst/>
          </a:prstGeom>
          <a:noFill/>
          <a:ln/>
        </p:spPr>
        <p:txBody>
          <a:bodyPr wrap="square" rtlCol="0" anchor="ctr"/>
          <a:lstStyle/>
          <a:p>
            <a:pPr indent="0" marL="0">
              <a:buNone/>
            </a:pPr>
            <a:r>
              <a:rPr lang="en-US" sz="1500" b="1" dirty="0">
                <a:solidFill>
                  <a:srgbClr val="15233A"/>
                </a:solidFill>
                <a:latin typeface="Calibri" pitchFamily="34" charset="0"/>
                <a:ea typeface="Calibri" pitchFamily="34" charset="-122"/>
                <a:cs typeface="Calibri" pitchFamily="34" charset="-120"/>
              </a:rPr>
              <a:t>Rolle- og ansvarsark</a:t>
            </a:r>
            <a:endParaRPr lang="en-US" sz="1500" dirty="0"/>
          </a:p>
        </p:txBody>
      </p:sp>
      <p:sp>
        <p:nvSpPr>
          <p:cNvPr id="9" name="Text 6"/>
          <p:cNvSpPr/>
          <p:nvPr/>
        </p:nvSpPr>
        <p:spPr>
          <a:xfrm>
            <a:off x="4572000" y="2331720"/>
            <a:ext cx="6858000" cy="548640"/>
          </a:xfrm>
          <a:prstGeom prst="rect">
            <a:avLst/>
          </a:prstGeom>
          <a:noFill/>
          <a:ln/>
        </p:spPr>
        <p:txBody>
          <a:bodyPr wrap="square" rtlCol="0" anchor="ctr"/>
          <a:lstStyle/>
          <a:p>
            <a:pPr indent="0" marL="0">
              <a:buNone/>
            </a:pPr>
            <a:r>
              <a:rPr lang="en-US" sz="1200" dirty="0">
                <a:solidFill>
                  <a:srgbClr val="4A5A75"/>
                </a:solidFill>
                <a:latin typeface="Calibri" pitchFamily="34" charset="0"/>
                <a:ea typeface="Calibri" pitchFamily="34" charset="-122"/>
                <a:cs typeface="Calibri" pitchFamily="34" charset="-120"/>
              </a:rPr>
              <a:t>Én side: hvem eier hva, hvem støtter, hva er standarden</a:t>
            </a:r>
            <a:endParaRPr lang="en-US" sz="1200" dirty="0"/>
          </a:p>
        </p:txBody>
      </p:sp>
      <p:sp>
        <p:nvSpPr>
          <p:cNvPr id="10" name="Shape 7"/>
          <p:cNvSpPr/>
          <p:nvPr/>
        </p:nvSpPr>
        <p:spPr>
          <a:xfrm>
            <a:off x="640080" y="3108960"/>
            <a:ext cx="10972800" cy="777240"/>
          </a:xfrm>
          <a:prstGeom prst="rect">
            <a:avLst/>
          </a:prstGeom>
          <a:solidFill>
            <a:srgbClr val="FFFFFF"/>
          </a:solidFill>
          <a:ln w="12700">
            <a:solidFill>
              <a:srgbClr val="D4CBB8"/>
            </a:solidFill>
            <a:prstDash val="solid"/>
          </a:ln>
        </p:spPr>
      </p:sp>
      <p:sp>
        <p:nvSpPr>
          <p:cNvPr id="11" name="Text 8"/>
          <p:cNvSpPr/>
          <p:nvPr/>
        </p:nvSpPr>
        <p:spPr>
          <a:xfrm>
            <a:off x="822960" y="3200400"/>
            <a:ext cx="3657600" cy="548640"/>
          </a:xfrm>
          <a:prstGeom prst="rect">
            <a:avLst/>
          </a:prstGeom>
          <a:noFill/>
          <a:ln/>
        </p:spPr>
        <p:txBody>
          <a:bodyPr wrap="square" rtlCol="0" anchor="ctr"/>
          <a:lstStyle/>
          <a:p>
            <a:pPr indent="0" marL="0">
              <a:buNone/>
            </a:pPr>
            <a:r>
              <a:rPr lang="en-US" sz="1500" b="1" dirty="0">
                <a:solidFill>
                  <a:srgbClr val="15233A"/>
                </a:solidFill>
                <a:latin typeface="Calibri" pitchFamily="34" charset="0"/>
                <a:ea typeface="Calibri" pitchFamily="34" charset="-122"/>
                <a:cs typeface="Calibri" pitchFamily="34" charset="-120"/>
              </a:rPr>
              <a:t>Henriks ukeplan</a:t>
            </a:r>
            <a:endParaRPr lang="en-US" sz="1500" dirty="0"/>
          </a:p>
        </p:txBody>
      </p:sp>
      <p:sp>
        <p:nvSpPr>
          <p:cNvPr id="12" name="Text 9"/>
          <p:cNvSpPr/>
          <p:nvPr/>
        </p:nvSpPr>
        <p:spPr>
          <a:xfrm>
            <a:off x="4572000" y="3200400"/>
            <a:ext cx="6858000" cy="548640"/>
          </a:xfrm>
          <a:prstGeom prst="rect">
            <a:avLst/>
          </a:prstGeom>
          <a:noFill/>
          <a:ln/>
        </p:spPr>
        <p:txBody>
          <a:bodyPr wrap="square" rtlCol="0" anchor="ctr"/>
          <a:lstStyle/>
          <a:p>
            <a:pPr indent="0" marL="0">
              <a:buNone/>
            </a:pPr>
            <a:r>
              <a:rPr lang="en-US" sz="1200" dirty="0">
                <a:solidFill>
                  <a:srgbClr val="4A5A75"/>
                </a:solidFill>
                <a:latin typeface="Calibri" pitchFamily="34" charset="0"/>
                <a:ea typeface="Calibri" pitchFamily="34" charset="-122"/>
                <a:cs typeface="Calibri" pitchFamily="34" charset="-120"/>
              </a:rPr>
              <a:t>Rett inn i kalenderen — blokker og fokustid</a:t>
            </a:r>
            <a:endParaRPr lang="en-US" sz="1200" dirty="0"/>
          </a:p>
        </p:txBody>
      </p:sp>
      <p:sp>
        <p:nvSpPr>
          <p:cNvPr id="13" name="Shape 10"/>
          <p:cNvSpPr/>
          <p:nvPr/>
        </p:nvSpPr>
        <p:spPr>
          <a:xfrm>
            <a:off x="640080" y="3977640"/>
            <a:ext cx="10972800" cy="777240"/>
          </a:xfrm>
          <a:prstGeom prst="rect">
            <a:avLst/>
          </a:prstGeom>
          <a:solidFill>
            <a:srgbClr val="FFFFFF"/>
          </a:solidFill>
          <a:ln w="12700">
            <a:solidFill>
              <a:srgbClr val="D4CBB8"/>
            </a:solidFill>
            <a:prstDash val="solid"/>
          </a:ln>
        </p:spPr>
      </p:sp>
      <p:sp>
        <p:nvSpPr>
          <p:cNvPr id="14" name="Text 11"/>
          <p:cNvSpPr/>
          <p:nvPr/>
        </p:nvSpPr>
        <p:spPr>
          <a:xfrm>
            <a:off x="822960" y="4069080"/>
            <a:ext cx="3657600" cy="548640"/>
          </a:xfrm>
          <a:prstGeom prst="rect">
            <a:avLst/>
          </a:prstGeom>
          <a:noFill/>
          <a:ln/>
        </p:spPr>
        <p:txBody>
          <a:bodyPr wrap="square" rtlCol="0" anchor="ctr"/>
          <a:lstStyle/>
          <a:p>
            <a:pPr indent="0" marL="0">
              <a:buNone/>
            </a:pPr>
            <a:r>
              <a:rPr lang="en-US" sz="1500" b="1" dirty="0">
                <a:solidFill>
                  <a:srgbClr val="15233A"/>
                </a:solidFill>
                <a:latin typeface="Calibri" pitchFamily="34" charset="0"/>
                <a:ea typeface="Calibri" pitchFamily="34" charset="-122"/>
                <a:cs typeface="Calibri" pitchFamily="34" charset="-120"/>
              </a:rPr>
              <a:t>Slutte-med-listen</a:t>
            </a:r>
            <a:endParaRPr lang="en-US" sz="1500" dirty="0"/>
          </a:p>
        </p:txBody>
      </p:sp>
      <p:sp>
        <p:nvSpPr>
          <p:cNvPr id="15" name="Text 12"/>
          <p:cNvSpPr/>
          <p:nvPr/>
        </p:nvSpPr>
        <p:spPr>
          <a:xfrm>
            <a:off x="4572000" y="4069080"/>
            <a:ext cx="6858000" cy="548640"/>
          </a:xfrm>
          <a:prstGeom prst="rect">
            <a:avLst/>
          </a:prstGeom>
          <a:noFill/>
          <a:ln/>
        </p:spPr>
        <p:txBody>
          <a:bodyPr wrap="square" rtlCol="0" anchor="ctr"/>
          <a:lstStyle/>
          <a:p>
            <a:pPr indent="0" marL="0">
              <a:buNone/>
            </a:pPr>
            <a:r>
              <a:rPr lang="en-US" sz="1200" dirty="0">
                <a:solidFill>
                  <a:srgbClr val="4A5A75"/>
                </a:solidFill>
                <a:latin typeface="Calibri" pitchFamily="34" charset="0"/>
                <a:ea typeface="Calibri" pitchFamily="34" charset="-122"/>
                <a:cs typeface="Calibri" pitchFamily="34" charset="-120"/>
              </a:rPr>
              <a:t>Alt dere har besluttet å stoppe — like viktig som resten</a:t>
            </a:r>
            <a:endParaRPr lang="en-US" sz="1200" dirty="0"/>
          </a:p>
        </p:txBody>
      </p:sp>
      <p:sp>
        <p:nvSpPr>
          <p:cNvPr id="16" name="Shape 13"/>
          <p:cNvSpPr/>
          <p:nvPr/>
        </p:nvSpPr>
        <p:spPr>
          <a:xfrm>
            <a:off x="640080" y="5029200"/>
            <a:ext cx="10972800" cy="1188720"/>
          </a:xfrm>
          <a:prstGeom prst="rect">
            <a:avLst/>
          </a:prstGeom>
          <a:solidFill>
            <a:srgbClr val="0E2A4A"/>
          </a:solidFill>
          <a:ln w="12700">
            <a:solidFill>
              <a:srgbClr val="C9A961"/>
            </a:solidFill>
            <a:prstDash val="solid"/>
          </a:ln>
        </p:spPr>
      </p:sp>
      <p:sp>
        <p:nvSpPr>
          <p:cNvPr id="17" name="Text 14"/>
          <p:cNvSpPr/>
          <p:nvPr/>
        </p:nvSpPr>
        <p:spPr>
          <a:xfrm>
            <a:off x="822960" y="5166360"/>
            <a:ext cx="10515600" cy="274320"/>
          </a:xfrm>
          <a:prstGeom prst="rect">
            <a:avLst/>
          </a:prstGeom>
          <a:noFill/>
          <a:ln/>
        </p:spPr>
        <p:txBody>
          <a:bodyPr wrap="square" rtlCol="0" anchor="ctr"/>
          <a:lstStyle/>
          <a:p>
            <a:pPr indent="0" marL="0">
              <a:buNone/>
            </a:pPr>
            <a:r>
              <a:rPr lang="en-US" sz="1100" b="1" spc="400" kern="0" dirty="0">
                <a:solidFill>
                  <a:srgbClr val="C9A961"/>
                </a:solidFill>
                <a:latin typeface="Calibri" pitchFamily="34" charset="0"/>
                <a:ea typeface="Calibri" pitchFamily="34" charset="-122"/>
                <a:cs typeface="Calibri" pitchFamily="34" charset="-120"/>
              </a:rPr>
              <a:t>AVTALEN</a:t>
            </a:r>
            <a:endParaRPr lang="en-US" sz="1100" dirty="0"/>
          </a:p>
        </p:txBody>
      </p:sp>
      <p:sp>
        <p:nvSpPr>
          <p:cNvPr id="18" name="Text 15"/>
          <p:cNvSpPr/>
          <p:nvPr/>
        </p:nvSpPr>
        <p:spPr>
          <a:xfrm>
            <a:off x="822960" y="5486400"/>
            <a:ext cx="10515600" cy="640080"/>
          </a:xfrm>
          <a:prstGeom prst="rect">
            <a:avLst/>
          </a:prstGeom>
          <a:noFill/>
          <a:ln/>
        </p:spPr>
        <p:txBody>
          <a:bodyPr wrap="square" rtlCol="0" anchor="t"/>
          <a:lstStyle/>
          <a:p>
            <a:pPr indent="0" marL="0">
              <a:buNone/>
            </a:pPr>
            <a:r>
              <a:rPr lang="en-US" sz="1500" i="1" dirty="0">
                <a:solidFill>
                  <a:srgbClr val="FFFFFF"/>
                </a:solidFill>
                <a:latin typeface="Georgia" pitchFamily="34" charset="0"/>
                <a:ea typeface="Georgia" pitchFamily="34" charset="-122"/>
                <a:cs typeface="Georgia" pitchFamily="34" charset="-120"/>
              </a:rPr>
              <a:t>Vi tester systemet i 30 dager uten å endre på det. Midt i september evaluerer vi sammen: hva funker, hva justeres.</a:t>
            </a:r>
            <a:endParaRPr lang="en-US" sz="1500" dirty="0"/>
          </a:p>
        </p:txBody>
      </p:sp>
      <p:sp>
        <p:nvSpPr>
          <p:cNvPr id="19" name="Shape 16"/>
          <p:cNvSpPr/>
          <p:nvPr/>
        </p:nvSpPr>
        <p:spPr>
          <a:xfrm>
            <a:off x="0" y="6675120"/>
            <a:ext cx="12191695" cy="182880"/>
          </a:xfrm>
          <a:prstGeom prst="rect">
            <a:avLst/>
          </a:prstGeom>
          <a:solidFill>
            <a:srgbClr val="C9A961"/>
          </a:solidFill>
          <a:ln/>
        </p:spPr>
      </p:sp>
      <p:sp>
        <p:nvSpPr>
          <p:cNvPr id="20" name="Text 17"/>
          <p:cNvSpPr/>
          <p:nvPr/>
        </p:nvSpPr>
        <p:spPr>
          <a:xfrm>
            <a:off x="457200" y="6446520"/>
            <a:ext cx="7315200" cy="228600"/>
          </a:xfrm>
          <a:prstGeom prst="rect">
            <a:avLst/>
          </a:prstGeom>
          <a:noFill/>
          <a:ln/>
        </p:spPr>
        <p:txBody>
          <a:bodyPr wrap="square" rtlCol="0" anchor="ctr"/>
          <a:lstStyle/>
          <a:p>
            <a:pPr indent="0" marL="0">
              <a:buNone/>
            </a:pPr>
            <a:r>
              <a:rPr lang="en-US" sz="900" dirty="0">
                <a:solidFill>
                  <a:srgbClr val="4A5A75"/>
                </a:solidFill>
                <a:latin typeface="Calibri" pitchFamily="34" charset="0"/>
                <a:ea typeface="Calibri" pitchFamily="34" charset="-122"/>
                <a:cs typeface="Calibri" pitchFamily="34" charset="-120"/>
              </a:rPr>
              <a:t>House of Yachts  |  Mandagsmøte uke 34  |  17. august 2026</a:t>
            </a:r>
            <a:endParaRPr lang="en-US" sz="900" dirty="0"/>
          </a:p>
        </p:txBody>
      </p:sp>
      <p:sp>
        <p:nvSpPr>
          <p:cNvPr id="21" name="Text 18"/>
          <p:cNvSpPr/>
          <p:nvPr/>
        </p:nvSpPr>
        <p:spPr>
          <a:xfrm>
            <a:off x="10789920" y="6446520"/>
            <a:ext cx="914400" cy="228600"/>
          </a:xfrm>
          <a:prstGeom prst="rect">
            <a:avLst/>
          </a:prstGeom>
          <a:noFill/>
          <a:ln/>
        </p:spPr>
        <p:txBody>
          <a:bodyPr wrap="square" rtlCol="0" anchor="ctr"/>
          <a:lstStyle/>
          <a:p>
            <a:pPr algn="r" indent="0" marL="0">
              <a:buNone/>
            </a:pPr>
            <a:r>
              <a:rPr lang="en-US" sz="900" dirty="0">
                <a:solidFill>
                  <a:srgbClr val="4A5A75"/>
                </a:solidFill>
                <a:latin typeface="Calibri" pitchFamily="34" charset="0"/>
                <a:ea typeface="Calibri" pitchFamily="34" charset="-122"/>
                <a:cs typeface="Calibri" pitchFamily="34" charset="-120"/>
              </a:rPr>
              <a:t>11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2A4A"/>
        </a:solidFill>
      </p:bgPr>
    </p:bg>
    <p:spTree>
      <p:nvGrpSpPr>
        <p:cNvPr id="1" name=""/>
        <p:cNvGrpSpPr/>
        <p:nvPr/>
      </p:nvGrpSpPr>
      <p:grpSpPr>
        <a:xfrm>
          <a:off x="0" y="0"/>
          <a:ext cx="0" cy="0"/>
          <a:chOff x="0" y="0"/>
          <a:chExt cx="0" cy="0"/>
        </a:xfrm>
      </p:grpSpPr>
      <p:sp>
        <p:nvSpPr>
          <p:cNvPr id="3" name="Shape 0"/>
          <p:cNvSpPr/>
          <p:nvPr/>
        </p:nvSpPr>
        <p:spPr>
          <a:xfrm>
            <a:off x="0" y="0"/>
            <a:ext cx="12191695" cy="137160"/>
          </a:xfrm>
          <a:prstGeom prst="rect">
            <a:avLst/>
          </a:prstGeom>
          <a:solidFill>
            <a:srgbClr val="C9A961"/>
          </a:solidFill>
          <a:ln/>
        </p:spPr>
      </p:sp>
      <p:sp>
        <p:nvSpPr>
          <p:cNvPr id="4" name="Text 1"/>
          <p:cNvSpPr/>
          <p:nvPr/>
        </p:nvSpPr>
        <p:spPr>
          <a:xfrm>
            <a:off x="640080" y="457200"/>
            <a:ext cx="7315200" cy="365760"/>
          </a:xfrm>
          <a:prstGeom prst="rect">
            <a:avLst/>
          </a:prstGeom>
          <a:noFill/>
          <a:ln/>
        </p:spPr>
        <p:txBody>
          <a:bodyPr wrap="square" rtlCol="0" anchor="ctr"/>
          <a:lstStyle/>
          <a:p>
            <a:pPr indent="0" marL="0">
              <a:buNone/>
            </a:pPr>
            <a:r>
              <a:rPr lang="en-US" sz="1100" b="1" spc="800" kern="0" dirty="0">
                <a:solidFill>
                  <a:srgbClr val="C9A961"/>
                </a:solidFill>
                <a:latin typeface="Calibri" pitchFamily="34" charset="0"/>
                <a:ea typeface="Calibri" pitchFamily="34" charset="-122"/>
                <a:cs typeface="Calibri" pitchFamily="34" charset="-120"/>
              </a:rPr>
              <a:t>DIVERSE</a:t>
            </a:r>
            <a:endParaRPr lang="en-US" sz="1100" dirty="0"/>
          </a:p>
        </p:txBody>
      </p:sp>
      <p:sp>
        <p:nvSpPr>
          <p:cNvPr id="5" name="Text 2"/>
          <p:cNvSpPr/>
          <p:nvPr/>
        </p:nvSpPr>
        <p:spPr>
          <a:xfrm>
            <a:off x="640080" y="822960"/>
            <a:ext cx="10972800" cy="731520"/>
          </a:xfrm>
          <a:prstGeom prst="rect">
            <a:avLst/>
          </a:prstGeom>
          <a:noFill/>
          <a:ln/>
        </p:spPr>
        <p:txBody>
          <a:bodyPr wrap="square" rtlCol="0" anchor="ctr"/>
          <a:lstStyle/>
          <a:p>
            <a:pPr indent="0" marL="0">
              <a:buNone/>
            </a:pPr>
            <a:r>
              <a:rPr lang="en-US" sz="4000" i="1" dirty="0">
                <a:solidFill>
                  <a:srgbClr val="FFFFFF"/>
                </a:solidFill>
                <a:latin typeface="Georgia" pitchFamily="34" charset="0"/>
                <a:ea typeface="Georgia" pitchFamily="34" charset="-122"/>
                <a:cs typeface="Georgia" pitchFamily="34" charset="-120"/>
              </a:rPr>
              <a:t>Til diskusjon</a:t>
            </a:r>
            <a:endParaRPr lang="en-US" sz="4000" dirty="0"/>
          </a:p>
        </p:txBody>
      </p:sp>
      <p:sp>
        <p:nvSpPr>
          <p:cNvPr id="6" name="Text 3"/>
          <p:cNvSpPr/>
          <p:nvPr/>
        </p:nvSpPr>
        <p:spPr>
          <a:xfrm>
            <a:off x="640080" y="1828800"/>
            <a:ext cx="10972800" cy="365760"/>
          </a:xfrm>
          <a:prstGeom prst="rect">
            <a:avLst/>
          </a:prstGeom>
          <a:noFill/>
          <a:ln/>
        </p:spPr>
        <p:txBody>
          <a:bodyPr wrap="square"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Saker fra teamet — fylles ut i møtet.</a:t>
            </a:r>
            <a:endParaRPr lang="en-US" sz="1400" dirty="0"/>
          </a:p>
        </p:txBody>
      </p:sp>
      <p:sp>
        <p:nvSpPr>
          <p:cNvPr id="7" name="Shape 4"/>
          <p:cNvSpPr/>
          <p:nvPr/>
        </p:nvSpPr>
        <p:spPr>
          <a:xfrm>
            <a:off x="640080" y="2468880"/>
            <a:ext cx="10972800" cy="777240"/>
          </a:xfrm>
          <a:prstGeom prst="rect">
            <a:avLst/>
          </a:prstGeom>
          <a:ln w="12700">
            <a:solidFill>
              <a:srgbClr val="2A4670"/>
            </a:solidFill>
            <a:prstDash val="dash"/>
          </a:ln>
        </p:spPr>
      </p:sp>
      <p:sp>
        <p:nvSpPr>
          <p:cNvPr id="8" name="Text 5"/>
          <p:cNvSpPr/>
          <p:nvPr/>
        </p:nvSpPr>
        <p:spPr>
          <a:xfrm>
            <a:off x="822960" y="2606040"/>
            <a:ext cx="731520" cy="548640"/>
          </a:xfrm>
          <a:prstGeom prst="rect">
            <a:avLst/>
          </a:prstGeom>
          <a:noFill/>
          <a:ln/>
        </p:spPr>
        <p:txBody>
          <a:bodyPr wrap="square" rtlCol="0" anchor="ctr"/>
          <a:lstStyle/>
          <a:p>
            <a:pPr indent="0" marL="0">
              <a:buNone/>
            </a:pPr>
            <a:r>
              <a:rPr lang="en-US" sz="2400" i="1" dirty="0">
                <a:solidFill>
                  <a:srgbClr val="2A4670"/>
                </a:solidFill>
                <a:latin typeface="Georgia" pitchFamily="34" charset="0"/>
                <a:ea typeface="Georgia" pitchFamily="34" charset="-122"/>
                <a:cs typeface="Georgia" pitchFamily="34" charset="-120"/>
              </a:rPr>
              <a:t>01</a:t>
            </a:r>
            <a:endParaRPr lang="en-US" sz="2400" dirty="0"/>
          </a:p>
        </p:txBody>
      </p:sp>
      <p:sp>
        <p:nvSpPr>
          <p:cNvPr id="9" name="Shape 6"/>
          <p:cNvSpPr/>
          <p:nvPr/>
        </p:nvSpPr>
        <p:spPr>
          <a:xfrm>
            <a:off x="640080" y="3383280"/>
            <a:ext cx="10972800" cy="777240"/>
          </a:xfrm>
          <a:prstGeom prst="rect">
            <a:avLst/>
          </a:prstGeom>
          <a:ln w="12700">
            <a:solidFill>
              <a:srgbClr val="2A4670"/>
            </a:solidFill>
            <a:prstDash val="dash"/>
          </a:ln>
        </p:spPr>
      </p:sp>
      <p:sp>
        <p:nvSpPr>
          <p:cNvPr id="10" name="Text 7"/>
          <p:cNvSpPr/>
          <p:nvPr/>
        </p:nvSpPr>
        <p:spPr>
          <a:xfrm>
            <a:off x="822960" y="3520440"/>
            <a:ext cx="731520" cy="548640"/>
          </a:xfrm>
          <a:prstGeom prst="rect">
            <a:avLst/>
          </a:prstGeom>
          <a:noFill/>
          <a:ln/>
        </p:spPr>
        <p:txBody>
          <a:bodyPr wrap="square" rtlCol="0" anchor="ctr"/>
          <a:lstStyle/>
          <a:p>
            <a:pPr indent="0" marL="0">
              <a:buNone/>
            </a:pPr>
            <a:r>
              <a:rPr lang="en-US" sz="2400" i="1" dirty="0">
                <a:solidFill>
                  <a:srgbClr val="2A4670"/>
                </a:solidFill>
                <a:latin typeface="Georgia" pitchFamily="34" charset="0"/>
                <a:ea typeface="Georgia" pitchFamily="34" charset="-122"/>
                <a:cs typeface="Georgia" pitchFamily="34" charset="-120"/>
              </a:rPr>
              <a:t>02</a:t>
            </a:r>
            <a:endParaRPr lang="en-US" sz="2400" dirty="0"/>
          </a:p>
        </p:txBody>
      </p:sp>
      <p:sp>
        <p:nvSpPr>
          <p:cNvPr id="11" name="Shape 8"/>
          <p:cNvSpPr/>
          <p:nvPr/>
        </p:nvSpPr>
        <p:spPr>
          <a:xfrm>
            <a:off x="640080" y="4297680"/>
            <a:ext cx="10972800" cy="777240"/>
          </a:xfrm>
          <a:prstGeom prst="rect">
            <a:avLst/>
          </a:prstGeom>
          <a:ln w="12700">
            <a:solidFill>
              <a:srgbClr val="2A4670"/>
            </a:solidFill>
            <a:prstDash val="dash"/>
          </a:ln>
        </p:spPr>
      </p:sp>
      <p:sp>
        <p:nvSpPr>
          <p:cNvPr id="12" name="Text 9"/>
          <p:cNvSpPr/>
          <p:nvPr/>
        </p:nvSpPr>
        <p:spPr>
          <a:xfrm>
            <a:off x="822960" y="4434840"/>
            <a:ext cx="731520" cy="548640"/>
          </a:xfrm>
          <a:prstGeom prst="rect">
            <a:avLst/>
          </a:prstGeom>
          <a:noFill/>
          <a:ln/>
        </p:spPr>
        <p:txBody>
          <a:bodyPr wrap="square" rtlCol="0" anchor="ctr"/>
          <a:lstStyle/>
          <a:p>
            <a:pPr indent="0" marL="0">
              <a:buNone/>
            </a:pPr>
            <a:r>
              <a:rPr lang="en-US" sz="2400" i="1" dirty="0">
                <a:solidFill>
                  <a:srgbClr val="2A4670"/>
                </a:solidFill>
                <a:latin typeface="Georgia" pitchFamily="34" charset="0"/>
                <a:ea typeface="Georgia" pitchFamily="34" charset="-122"/>
                <a:cs typeface="Georgia" pitchFamily="34" charset="-120"/>
              </a:rPr>
              <a:t>03</a:t>
            </a:r>
            <a:endParaRPr lang="en-US" sz="2400" dirty="0"/>
          </a:p>
        </p:txBody>
      </p:sp>
      <p:sp>
        <p:nvSpPr>
          <p:cNvPr id="13" name="Shape 10"/>
          <p:cNvSpPr/>
          <p:nvPr/>
        </p:nvSpPr>
        <p:spPr>
          <a:xfrm>
            <a:off x="640080" y="5212080"/>
            <a:ext cx="10972800" cy="777240"/>
          </a:xfrm>
          <a:prstGeom prst="rect">
            <a:avLst/>
          </a:prstGeom>
          <a:ln w="12700">
            <a:solidFill>
              <a:srgbClr val="2A4670"/>
            </a:solidFill>
            <a:prstDash val="dash"/>
          </a:ln>
        </p:spPr>
      </p:sp>
      <p:sp>
        <p:nvSpPr>
          <p:cNvPr id="14" name="Text 11"/>
          <p:cNvSpPr/>
          <p:nvPr/>
        </p:nvSpPr>
        <p:spPr>
          <a:xfrm>
            <a:off x="822960" y="5349240"/>
            <a:ext cx="731520" cy="548640"/>
          </a:xfrm>
          <a:prstGeom prst="rect">
            <a:avLst/>
          </a:prstGeom>
          <a:noFill/>
          <a:ln/>
        </p:spPr>
        <p:txBody>
          <a:bodyPr wrap="square" rtlCol="0" anchor="ctr"/>
          <a:lstStyle/>
          <a:p>
            <a:pPr indent="0" marL="0">
              <a:buNone/>
            </a:pPr>
            <a:r>
              <a:rPr lang="en-US" sz="2400" i="1" dirty="0">
                <a:solidFill>
                  <a:srgbClr val="2A4670"/>
                </a:solidFill>
                <a:latin typeface="Georgia" pitchFamily="34" charset="0"/>
                <a:ea typeface="Georgia" pitchFamily="34" charset="-122"/>
                <a:cs typeface="Georgia" pitchFamily="34" charset="-120"/>
              </a:rPr>
              <a:t>04</a:t>
            </a:r>
            <a:endParaRPr lang="en-US" sz="2400" dirty="0"/>
          </a:p>
        </p:txBody>
      </p:sp>
      <p:sp>
        <p:nvSpPr>
          <p:cNvPr id="15" name="Shape 12"/>
          <p:cNvSpPr/>
          <p:nvPr/>
        </p:nvSpPr>
        <p:spPr>
          <a:xfrm>
            <a:off x="0" y="6675120"/>
            <a:ext cx="12191695" cy="182880"/>
          </a:xfrm>
          <a:prstGeom prst="rect">
            <a:avLst/>
          </a:prstGeom>
          <a:solidFill>
            <a:srgbClr val="C9A961"/>
          </a:solidFill>
          <a:ln/>
        </p:spPr>
      </p:sp>
      <p:sp>
        <p:nvSpPr>
          <p:cNvPr id="16" name="Text 13"/>
          <p:cNvSpPr/>
          <p:nvPr/>
        </p:nvSpPr>
        <p:spPr>
          <a:xfrm>
            <a:off x="457200" y="6446520"/>
            <a:ext cx="7315200" cy="228600"/>
          </a:xfrm>
          <a:prstGeom prst="rect">
            <a:avLst/>
          </a:prstGeom>
          <a:noFill/>
          <a:ln/>
        </p:spPr>
        <p:txBody>
          <a:bodyPr wrap="square" rtlCol="0" anchor="ctr"/>
          <a:lstStyle/>
          <a:p>
            <a:pPr indent="0" marL="0">
              <a:buNone/>
            </a:pPr>
            <a:r>
              <a:rPr lang="en-US" sz="900" dirty="0">
                <a:solidFill>
                  <a:srgbClr val="4A5A75"/>
                </a:solidFill>
                <a:latin typeface="Calibri" pitchFamily="34" charset="0"/>
                <a:ea typeface="Calibri" pitchFamily="34" charset="-122"/>
                <a:cs typeface="Calibri" pitchFamily="34" charset="-120"/>
              </a:rPr>
              <a:t>House of Yachts  |  Mandagsmøte uke 34  |  17. august 2026</a:t>
            </a:r>
            <a:endParaRPr lang="en-US" sz="900" dirty="0"/>
          </a:p>
        </p:txBody>
      </p:sp>
      <p:sp>
        <p:nvSpPr>
          <p:cNvPr id="17" name="Text 14"/>
          <p:cNvSpPr/>
          <p:nvPr/>
        </p:nvSpPr>
        <p:spPr>
          <a:xfrm>
            <a:off x="10789920" y="6446520"/>
            <a:ext cx="914400" cy="228600"/>
          </a:xfrm>
          <a:prstGeom prst="rect">
            <a:avLst/>
          </a:prstGeom>
          <a:noFill/>
          <a:ln/>
        </p:spPr>
        <p:txBody>
          <a:bodyPr wrap="square" rtlCol="0" anchor="ctr"/>
          <a:lstStyle/>
          <a:p>
            <a:pPr algn="r" indent="0" marL="0">
              <a:buNone/>
            </a:pPr>
            <a:r>
              <a:rPr lang="en-US" sz="900" dirty="0">
                <a:solidFill>
                  <a:srgbClr val="4A5A75"/>
                </a:solidFill>
                <a:latin typeface="Calibri" pitchFamily="34" charset="0"/>
                <a:ea typeface="Calibri" pitchFamily="34" charset="-122"/>
                <a:cs typeface="Calibri" pitchFamily="34" charset="-120"/>
              </a:rPr>
              <a:t>12 /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Mandagsmøte uke 34 — HoY</dc:title>
  <dc:subject>PptxGenJS Presentation</dc:subject>
  <dc:creator>House of Yachts</dc:creator>
  <cp:lastModifiedBy>House of Yachts</cp:lastModifiedBy>
  <cp:revision>1</cp:revision>
  <dcterms:created xsi:type="dcterms:W3CDTF">2026-08-16T19:04:04Z</dcterms:created>
  <dcterms:modified xsi:type="dcterms:W3CDTF">2026-08-16T19:04:04Z</dcterms:modified>
</cp:coreProperties>
</file>