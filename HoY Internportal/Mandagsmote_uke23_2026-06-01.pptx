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2747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— 1 min
"Velkommen til uke 23. Mai er bak oss og vi tar en kort status etter 5 av 12 måneder."
Nøkkeltall:
• 1,99 MNOK omsetning ex.mva YTD
• 30 salg, 39,5 MNOK salgssum
• +58 % salg og +38 % omsetning vs jan–mai 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30 sek
Les seksjonene høyt. Sett forventning: dette er status etter 5 mnd, ikke kun forrige uke.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WINS — 4 min
"4 salg uke 22, 5,64 MNOK salgssum, 263k inn. Henrik 2, Sindre 1, Daniel 1."
Spør rundt bordet:
• Henrik: Swan 53/55 og Cormate SU23 — noe spesielt fra de prosessene?
• Daniel: Hvordan kom Hydrolift-deal'en i havn?
• Sindre: Goldfish 43 Ocean — størst i 2026 så langt
• Nye oppdrag forrige uke? Befaringer som ble til signering?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 I TALL — 4 min
"Mai ble rekordmåned. 11 salg, 923k omsetning ex.mva — mer enn hele Q1. Drevet av Goldfish 43 Ocean på 7 MNOK alene."
Diskusjon:
• Var mai en topp, eller en ny normal? (Påvirker hva vi forventer av juni)
• Sindre 55 %, Henrik 30 %, Daniel 15 % — hvordan balansere?
• Hvis Goldfish 43 ikke hadde landet hadde mai vært 587k. Fortsatt rekord, men ikke like dramatisk. Ikke baser prognose på enkelt-deals.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vs Q2 + vs 2025 — 3 min
"Q1 832k. Q2 så langt 1,16 MNOK med juni igjen. +39 % vs Q1."
"Mot fjoråret samme periode: 19 salg → 30 (+58 %). 1,44 MNOK → 1,99 MNOK (+38 %)."
Spør:
• Hvilke deals lukkes i juni?
• Noe som har stått stille for lenge?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MEGLER YTD — 3 min
"Sindre 1,0 MNOK = 50 %. Henrik 644k = 32 %. Daniel 342k = 17 %."
Snittsalg per megler:
• Sindre: 11 salg, snitt 91k — topp-segment-deals
• Henrik: 12 salg, snitt 54k
• Daniel: 7 salg, snitt 49k
Konstruktiv samtale, ikke kritikk. Bus-risk om Sindre faller bort.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OUTBOUND (FSBO OUTREACH) — 4 min
"Henrik+Marte teamet leverte 100 calls i mai — Marte tok over outbound. Det forklarer hvorfor Henriks egen logg viser 1."
"Daniel holder 73 i mai. 456 YTD. Sindre 51 (kun feb)."
Spør:
• Henrik: Hvordan fungerer arbeidsdelingen Henrik/Marte?
• Bør vi tracke begge separat eller som ett team-tall?
• Daniel: Hvilke samtaler konverterer best?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 B AKTIVE ANNONSER — 2 min
"Henrik 26 aktive, Sindre 22, Daniel 15. 'I budprosess' = Under Offer / Negotiation / In Contract."
Konvertering ligger jevnt på 32–33 % YTD per megler — det er fint at den er konsistent.
Spør:
• Hvilke av Henriks 20 Live-listings har vi en plan for å lukke i juni–august?
• Daniel: outbound-arbeidet i mai, har det gitt befaringer som blir signert i juni?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MOT BUDSJETT — 5 min
"Pace" = takten du må holde for å treffe målet jevnt. Etter 5 mnd (42 % av året) skal du være 42 % oppfylt.
"Selskapet 1,99 MNOK av 9,15 MNOK = 22 %. Vi er ca 20 pp under pace."
"Sindre 56 % oppfylt — godt over pace. Henrik 17 %, Daniel 10 %."
Diskusjon:
• Er Henrik/Daniels budsjett realistisk for 2026?
• Hvilke konkrete deals i pipen tar dem til 42 %?
• Sommerstrategi: juni–august er båtsesong.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OPPDRAG INN VS BUDSJETT — 3 min
Kilde: oppdragsmodulen — alle 2026-oppdragsnummer (26001 til 26048).
"46 oppdrag inn av 197 mål. 23 % oppfylt etter 5 mnd (pace 42 %)."
"Sindre 16 av 35 = 46 % — over pace. Henrik 19 av 88 = 22 %. Daniel 11 av 74 = 15 %."
Diskusjon:
• Henrik og Daniels budsjett er ambisiøst (88 og 74). Realistisk?
• Konvertering signert oppdrag → solgt: Henrik har 19 oppdrag, 12 salg = 63 %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MÅL OG STATUS — 5 min
UKEMÅL: Fyll inn live i møtet. Spør hver enkelt.
• Outbound denne uka?
• Befaringer planlagt?
• Nye oppdrag forventet?
• Salg som lukkes?
STATUS NETTSIDE — kort orientering:
✓ Wix-migrasjon ferdig (234 båter)
✓ /om-oss-v2 live
✓ /sold med stats-counter
· DNS-cutover venter
· Marte mangler bilde+bio
STATUS INTERNPORTAL — kort orientering:
✓ Finance Cockpit Fase 0
✓ Avspasering-modul i prod
✓ Oppdragsnummer + PowerOffice-sync
· Servicehistorikk-modul klar for deploy
· Finance Cockpit Fase 1 UI under bygging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DIVERSE — 5 min
Saker fra teamet — boksene fylles inn live.
AVSLUTNING:
"Hovedbudskap: Vi er over fjoråret (+58 % salg), men ca 20 pp under budsjett-takten. 46 oppdrag inn av 197. Sindre over pace, Henrik og Daniel under. Fokus juni: konvertere aktive listings til salg, og fortsette tempo på oppdrag inn."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Shape 1"/>
          <p:cNvSpPr/>
          <p:nvPr/>
        </p:nvSpPr>
        <p:spPr>
          <a:xfrm>
            <a:off x="640080" y="2697480"/>
            <a:ext cx="548640" cy="0"/>
          </a:xfrm>
          <a:prstGeom prst="line">
            <a:avLst/>
          </a:prstGeom>
          <a:noFill/>
          <a:ln w="254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5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Mandagsmøte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40080" y="2788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Uke 23  ·  status etter mai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juni 2026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589520" y="4572000"/>
            <a:ext cx="4206240" cy="1463040"/>
          </a:xfrm>
          <a:prstGeom prst="rect">
            <a:avLst/>
          </a:prstGeom>
          <a:solidFill>
            <a:srgbClr val="1B3A66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0" name="Text 7"/>
          <p:cNvSpPr/>
          <p:nvPr/>
        </p:nvSpPr>
        <p:spPr>
          <a:xfrm>
            <a:off x="7680960" y="470916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1,99 MNOK
</a:t>
            </a:r>
            <a:r>
              <a:rPr lang="en-US" sz="1100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omsetning ex.mva  ·  året så langt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salg  ·  39,5 MNOK salgssum  ·  +58 % salg og +38 % omsetning vs jan–mai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Hva vi går gjennom i dag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55448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forrige uke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54480" y="21945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Salg og høydepunkter fra uke 22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254203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1554480" y="25877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i tall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554480" y="290779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Rekordmåneden — drivere og deals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3255264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1554480" y="33009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etter mai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554480" y="362102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vs Q2, omsetning per megler, vs 2025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" y="3968496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1554480" y="401421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Aktivitet og pipeline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554480" y="433425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(med Marte), aktive annonser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468172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1554480" y="47274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budsjett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554480" y="504748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mnd inn — hvor står vi mot 2026-målet?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0080" y="5394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1554480" y="5440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Mål uka + status-orientering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554480" y="57607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Mål per megler, nettside + internportal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5" name="Text 22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  |  Mandagsmøte uke 23  |  1. juni 2026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SEKSJON 01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i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Wins forrige uke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40080" y="1737360"/>
            <a:ext cx="3383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7" name="Text 4"/>
          <p:cNvSpPr/>
          <p:nvPr/>
        </p:nvSpPr>
        <p:spPr>
          <a:xfrm>
            <a:off x="640080" y="17830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640080" y="2697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salg uke 22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737360"/>
            <a:ext cx="3383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0" name="Text 7"/>
          <p:cNvSpPr/>
          <p:nvPr/>
        </p:nvSpPr>
        <p:spPr>
          <a:xfrm>
            <a:off x="4297680" y="17830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B3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5,64 M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4297680" y="2697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salgssum (NOK)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955280" y="1737360"/>
            <a:ext cx="3383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3" name="Text 10"/>
          <p:cNvSpPr/>
          <p:nvPr/>
        </p:nvSpPr>
        <p:spPr>
          <a:xfrm>
            <a:off x="7955280" y="17830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5B8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263 k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7955280" y="2697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omsetning ex.mva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0080" y="33832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SALG SISTE UKE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4206240"/>
            <a:ext cx="10972800" cy="0"/>
          </a:xfrm>
          <a:prstGeom prst="line">
            <a:avLst/>
          </a:prstGeom>
          <a:noFill/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7" name="Text 14"/>
          <p:cNvSpPr/>
          <p:nvPr/>
        </p:nvSpPr>
        <p:spPr>
          <a:xfrm>
            <a:off x="640080" y="3840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27.05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73736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Swan 53/55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85800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Henrik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961120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2 850 000 kr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" y="4617720"/>
            <a:ext cx="10972800" cy="0"/>
          </a:xfrm>
          <a:prstGeom prst="line">
            <a:avLst/>
          </a:prstGeom>
          <a:noFill/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2" name="Text 19"/>
          <p:cNvSpPr/>
          <p:nvPr/>
        </p:nvSpPr>
        <p:spPr>
          <a:xfrm>
            <a:off x="640080" y="4251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27.05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737360" y="4251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Cormate SU23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858000" y="4251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Henrik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961120" y="4251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700 000 kr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" y="5029200"/>
            <a:ext cx="10972800" cy="0"/>
          </a:xfrm>
          <a:prstGeom prst="line">
            <a:avLst/>
          </a:prstGeom>
          <a:noFill/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7" name="Text 24"/>
          <p:cNvSpPr/>
          <p:nvPr/>
        </p:nvSpPr>
        <p:spPr>
          <a:xfrm>
            <a:off x="64008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28.05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737360" y="4663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Windy 27 Solano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85800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Sindre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8961120" y="4663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1 310 000 kr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40080" y="5440680"/>
            <a:ext cx="10972800" cy="0"/>
          </a:xfrm>
          <a:prstGeom prst="line">
            <a:avLst/>
          </a:prstGeom>
          <a:noFill/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2" name="Text 29"/>
          <p:cNvSpPr/>
          <p:nvPr/>
        </p:nvSpPr>
        <p:spPr>
          <a:xfrm>
            <a:off x="640080" y="5074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28.05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737360" y="5074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Hydrolift C-27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858000" y="5074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961120" y="5074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780 000 kr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38" name="Text 35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  |  Mandagsmøte uke 23  |  1. juni 2026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SEKSJON 02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 — rekordmåned i 2026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salg, 923k omsetning ex.mva — over hele Q1 i én måned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2743200" cy="2103120"/>
          </a:xfrm>
          <a:prstGeom prst="rect">
            <a:avLst/>
          </a:prstGeom>
          <a:solidFill>
            <a:srgbClr val="1B3A66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8" name="Text 5"/>
          <p:cNvSpPr/>
          <p:nvPr/>
        </p:nvSpPr>
        <p:spPr>
          <a:xfrm>
            <a:off x="731520" y="23774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1554480" y="3429000"/>
            <a:ext cx="914400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0" name="Text 7"/>
          <p:cNvSpPr/>
          <p:nvPr/>
        </p:nvSpPr>
        <p:spPr>
          <a:xfrm>
            <a:off x="640080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3886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 fra 6 i april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520440" y="2286000"/>
            <a:ext cx="2743200" cy="2103120"/>
          </a:xfrm>
          <a:prstGeom prst="rect">
            <a:avLst/>
          </a:prstGeom>
          <a:solidFill>
            <a:srgbClr val="1B3A66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3" name="Text 10"/>
          <p:cNvSpPr/>
          <p:nvPr/>
        </p:nvSpPr>
        <p:spPr>
          <a:xfrm>
            <a:off x="3611880" y="23774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923 k</a:t>
            </a:r>
            <a:endParaRPr lang="en-US" sz="3600" dirty="0"/>
          </a:p>
        </p:txBody>
      </p:sp>
      <p:sp>
        <p:nvSpPr>
          <p:cNvPr id="14" name="Shape 11"/>
          <p:cNvSpPr/>
          <p:nvPr/>
        </p:nvSpPr>
        <p:spPr>
          <a:xfrm>
            <a:off x="4434840" y="3429000"/>
            <a:ext cx="914400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5" name="Text 12"/>
          <p:cNvSpPr/>
          <p:nvPr/>
        </p:nvSpPr>
        <p:spPr>
          <a:xfrm>
            <a:off x="3520440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omsetning ex.mva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520440" y="3886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+290 % vs april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00800" y="2286000"/>
            <a:ext cx="2743200" cy="2103120"/>
          </a:xfrm>
          <a:prstGeom prst="rect">
            <a:avLst/>
          </a:prstGeom>
          <a:solidFill>
            <a:srgbClr val="1B3A66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8" name="Text 15"/>
          <p:cNvSpPr/>
          <p:nvPr/>
        </p:nvSpPr>
        <p:spPr>
          <a:xfrm>
            <a:off x="6492240" y="23774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17,8 M</a:t>
            </a:r>
            <a:endParaRPr lang="en-US" sz="3600" dirty="0"/>
          </a:p>
        </p:txBody>
      </p:sp>
      <p:sp>
        <p:nvSpPr>
          <p:cNvPr id="19" name="Shape 16"/>
          <p:cNvSpPr/>
          <p:nvPr/>
        </p:nvSpPr>
        <p:spPr>
          <a:xfrm>
            <a:off x="7315200" y="3429000"/>
            <a:ext cx="914400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0" name="Text 17"/>
          <p:cNvSpPr/>
          <p:nvPr/>
        </p:nvSpPr>
        <p:spPr>
          <a:xfrm>
            <a:off x="6400800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salgssum (NOK)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00800" y="3886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største mnd 2026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9281160" y="2286000"/>
            <a:ext cx="2743200" cy="2103120"/>
          </a:xfrm>
          <a:prstGeom prst="rect">
            <a:avLst/>
          </a:prstGeom>
          <a:solidFill>
            <a:srgbClr val="1B3A66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3" name="Text 20"/>
          <p:cNvSpPr/>
          <p:nvPr/>
        </p:nvSpPr>
        <p:spPr>
          <a:xfrm>
            <a:off x="9372600" y="23774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7,0 M</a:t>
            </a:r>
            <a:endParaRPr lang="en-US" sz="3600" dirty="0"/>
          </a:p>
        </p:txBody>
      </p:sp>
      <p:sp>
        <p:nvSpPr>
          <p:cNvPr id="24" name="Shape 21"/>
          <p:cNvSpPr/>
          <p:nvPr/>
        </p:nvSpPr>
        <p:spPr>
          <a:xfrm>
            <a:off x="10195560" y="3429000"/>
            <a:ext cx="914400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5" name="Text 22"/>
          <p:cNvSpPr/>
          <p:nvPr/>
        </p:nvSpPr>
        <p:spPr>
          <a:xfrm>
            <a:off x="9281160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Goldfish 43 Ocean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281160" y="3886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Sindre — toppdeal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40080" y="4617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FORDELING I MAI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4008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Sindre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210312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salg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566160" y="5029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510 880 kr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669280" y="5138928"/>
            <a:ext cx="5486400" cy="16459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32" name="Shape 29"/>
          <p:cNvSpPr/>
          <p:nvPr/>
        </p:nvSpPr>
        <p:spPr>
          <a:xfrm>
            <a:off x="5669280" y="5138928"/>
            <a:ext cx="3017520" cy="164592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33" name="Text 30"/>
          <p:cNvSpPr/>
          <p:nvPr/>
        </p:nvSpPr>
        <p:spPr>
          <a:xfrm>
            <a:off x="11247120" y="5029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40080" y="5440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Henrik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2103120" y="5440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salg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3566160" y="5440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278 160 kr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5669280" y="5550408"/>
            <a:ext cx="5486400" cy="16459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38" name="Shape 35"/>
          <p:cNvSpPr/>
          <p:nvPr/>
        </p:nvSpPr>
        <p:spPr>
          <a:xfrm>
            <a:off x="5669280" y="5550408"/>
            <a:ext cx="1645920" cy="164592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39" name="Text 36"/>
          <p:cNvSpPr/>
          <p:nvPr/>
        </p:nvSpPr>
        <p:spPr>
          <a:xfrm>
            <a:off x="11247120" y="54406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40080" y="5852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2103120" y="5852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salg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3566160" y="5852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133 840 kr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5669280" y="5961888"/>
            <a:ext cx="5486400" cy="16459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4" name="Shape 41"/>
          <p:cNvSpPr/>
          <p:nvPr/>
        </p:nvSpPr>
        <p:spPr>
          <a:xfrm>
            <a:off x="5669280" y="5961888"/>
            <a:ext cx="822960" cy="164592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5" name="Text 42"/>
          <p:cNvSpPr/>
          <p:nvPr/>
        </p:nvSpPr>
        <p:spPr>
          <a:xfrm>
            <a:off x="11247120" y="58521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7" name="Text 44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  |  Mandagsmøte uke 23  |  1. juni 2026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SEKSJON 03 · STATUS ETTER MAI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 vs Q2 — vi akselererer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5029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7" name="Text 4"/>
          <p:cNvSpPr/>
          <p:nvPr/>
        </p:nvSpPr>
        <p:spPr>
          <a:xfrm>
            <a:off x="82296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286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832 040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640080" y="3154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omsetning ex.mva  ·  13 salg  ·  jan–mar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92240" y="1828800"/>
            <a:ext cx="5029200" cy="1828800"/>
          </a:xfrm>
          <a:prstGeom prst="rect">
            <a:avLst/>
          </a:prstGeom>
          <a:solidFill>
            <a:srgbClr val="0E2A4A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1" name="Text 8"/>
          <p:cNvSpPr/>
          <p:nvPr/>
        </p:nvSpPr>
        <p:spPr>
          <a:xfrm>
            <a:off x="667512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(apr+mai)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92240" y="2286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1 159 280</a:t>
            </a:r>
            <a:endParaRPr lang="en-US" sz="5000" dirty="0"/>
          </a:p>
        </p:txBody>
      </p:sp>
      <p:sp>
        <p:nvSpPr>
          <p:cNvPr id="13" name="Text 10"/>
          <p:cNvSpPr/>
          <p:nvPr/>
        </p:nvSpPr>
        <p:spPr>
          <a:xfrm>
            <a:off x="6492240" y="3154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+39 % vs Q1  ·  17 salg  ·  juni gjenstår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3840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OMSETNING PER MÅNED (NOK ex.mva)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5416623"/>
            <a:ext cx="1645920" cy="252657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6" name="Text 13"/>
          <p:cNvSpPr/>
          <p:nvPr/>
        </p:nvSpPr>
        <p:spPr>
          <a:xfrm>
            <a:off x="640080" y="5096583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170k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5715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816352" y="5450271"/>
            <a:ext cx="1645920" cy="219009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9" name="Text 16"/>
          <p:cNvSpPr/>
          <p:nvPr/>
        </p:nvSpPr>
        <p:spPr>
          <a:xfrm>
            <a:off x="2816352" y="5130231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147k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816352" y="5715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992624" y="4904354"/>
            <a:ext cx="1645920" cy="764926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2" name="Text 19"/>
          <p:cNvSpPr/>
          <p:nvPr/>
        </p:nvSpPr>
        <p:spPr>
          <a:xfrm>
            <a:off x="4992624" y="458431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515k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992624" y="5715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168896" y="5317938"/>
            <a:ext cx="1645920" cy="35134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5" name="Text 22"/>
          <p:cNvSpPr/>
          <p:nvPr/>
        </p:nvSpPr>
        <p:spPr>
          <a:xfrm>
            <a:off x="7168896" y="499789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236k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168896" y="5715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345168" y="4297680"/>
            <a:ext cx="1645920" cy="137160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8" name="Text 25"/>
          <p:cNvSpPr/>
          <p:nvPr/>
        </p:nvSpPr>
        <p:spPr>
          <a:xfrm>
            <a:off x="9345168" y="3977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923k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345168" y="5715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40080" y="6080760"/>
            <a:ext cx="10972800" cy="502920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31" name="Text 28"/>
          <p:cNvSpPr/>
          <p:nvPr/>
        </p:nvSpPr>
        <p:spPr>
          <a:xfrm>
            <a:off x="822960" y="610819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jan–mai 2025:  19 salg → 30 (+58 %)  ·  1 442 k → 1 991 k oms.ex.mva (+38 %)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33" name="Text 30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  |  Mandagsmøte uke 23  |  1. juni 2026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SEKSJON 03 · STATUS ETTER MAI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 megler — året så langt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640080" y="173736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7" name="Shape 4"/>
          <p:cNvSpPr/>
          <p:nvPr/>
        </p:nvSpPr>
        <p:spPr>
          <a:xfrm>
            <a:off x="640080" y="1737360"/>
            <a:ext cx="3657600" cy="50292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8" name="Text 5"/>
          <p:cNvSpPr/>
          <p:nvPr/>
        </p:nvSpPr>
        <p:spPr>
          <a:xfrm>
            <a:off x="640080" y="1783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Sindre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OMSETNING EX.MVA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26974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1005 k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64008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50.5 % av total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097280" y="3931920"/>
            <a:ext cx="2743200" cy="0"/>
          </a:xfrm>
          <a:prstGeom prst="line">
            <a:avLst/>
          </a:prstGeom>
          <a:noFill/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3" name="Text 10"/>
          <p:cNvSpPr/>
          <p:nvPr/>
        </p:nvSpPr>
        <p:spPr>
          <a:xfrm>
            <a:off x="64008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ANTALL SALG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4251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4008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TOPPDEAL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5074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Goldfish 43 Ocean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480560" y="173736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8" name="Shape 15"/>
          <p:cNvSpPr/>
          <p:nvPr/>
        </p:nvSpPr>
        <p:spPr>
          <a:xfrm>
            <a:off x="4480560" y="1737360"/>
            <a:ext cx="3657600" cy="50292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9" name="Text 16"/>
          <p:cNvSpPr/>
          <p:nvPr/>
        </p:nvSpPr>
        <p:spPr>
          <a:xfrm>
            <a:off x="4480560" y="1783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Henrik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448056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OMSETNING EX.MVA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480560" y="26974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644 k</a:t>
            </a:r>
            <a:endParaRPr lang="en-US" sz="4400" dirty="0"/>
          </a:p>
        </p:txBody>
      </p:sp>
      <p:sp>
        <p:nvSpPr>
          <p:cNvPr id="22" name="Text 19"/>
          <p:cNvSpPr/>
          <p:nvPr/>
        </p:nvSpPr>
        <p:spPr>
          <a:xfrm>
            <a:off x="448056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32.3 % av total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937760" y="3931920"/>
            <a:ext cx="2743200" cy="0"/>
          </a:xfrm>
          <a:prstGeom prst="line">
            <a:avLst/>
          </a:prstGeom>
          <a:noFill/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4" name="Text 21"/>
          <p:cNvSpPr/>
          <p:nvPr/>
        </p:nvSpPr>
        <p:spPr>
          <a:xfrm>
            <a:off x="448056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ANTALL SALG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480560" y="4251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448056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TOPPDEAL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480560" y="5074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Swan 53/55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321040" y="173736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9" name="Shape 26"/>
          <p:cNvSpPr/>
          <p:nvPr/>
        </p:nvSpPr>
        <p:spPr>
          <a:xfrm>
            <a:off x="8321040" y="1737360"/>
            <a:ext cx="3657600" cy="50292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30" name="Text 27"/>
          <p:cNvSpPr/>
          <p:nvPr/>
        </p:nvSpPr>
        <p:spPr>
          <a:xfrm>
            <a:off x="8321040" y="1783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Daniel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832104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OMSETNING EX.MVA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321040" y="26974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342 k</a:t>
            </a:r>
            <a:endParaRPr lang="en-US" sz="4400" dirty="0"/>
          </a:p>
        </p:txBody>
      </p:sp>
      <p:sp>
        <p:nvSpPr>
          <p:cNvPr id="33" name="Text 30"/>
          <p:cNvSpPr/>
          <p:nvPr/>
        </p:nvSpPr>
        <p:spPr>
          <a:xfrm>
            <a:off x="832104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17.2 % av total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778240" y="3931920"/>
            <a:ext cx="2743200" cy="0"/>
          </a:xfrm>
          <a:prstGeom prst="line">
            <a:avLst/>
          </a:prstGeom>
          <a:noFill/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5" name="Text 32"/>
          <p:cNvSpPr/>
          <p:nvPr/>
        </p:nvSpPr>
        <p:spPr>
          <a:xfrm>
            <a:off x="832104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ANTALL SALG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8321040" y="4251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800" dirty="0"/>
          </a:p>
        </p:txBody>
      </p:sp>
      <p:sp>
        <p:nvSpPr>
          <p:cNvPr id="37" name="Text 34"/>
          <p:cNvSpPr/>
          <p:nvPr/>
        </p:nvSpPr>
        <p:spPr>
          <a:xfrm>
            <a:off x="832104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TOPPDEAL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8321040" y="5074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 West 370 Fly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40080" y="6126480"/>
            <a:ext cx="10972800" cy="411480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0" name="Text 37"/>
          <p:cNvSpPr/>
          <p:nvPr/>
        </p:nvSpPr>
        <p:spPr>
          <a:xfrm>
            <a:off x="822960" y="614476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Sindre står for halve omsetningen — Henrik og Daniel må opp i tempo for å balansere risiko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2" name="Text 39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  |  Mandagsmøte uke 23  |  1. juni 2026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SEKSJON 04 · AKTIVITET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Outbound (FSBO Outreach)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Kalde samtaler logget i HubSpot. Marte logger på egen bruker for Henriks team.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194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2194560" y="2194560"/>
            <a:ext cx="1554480" cy="41148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9" name="Text 6"/>
          <p:cNvSpPr/>
          <p:nvPr/>
        </p:nvSpPr>
        <p:spPr>
          <a:xfrm>
            <a:off x="2194560" y="2194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749040" y="2194560"/>
            <a:ext cx="1554480" cy="41148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1" name="Text 8"/>
          <p:cNvSpPr/>
          <p:nvPr/>
        </p:nvSpPr>
        <p:spPr>
          <a:xfrm>
            <a:off x="3749040" y="2194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303520" y="2194560"/>
            <a:ext cx="1554480" cy="41148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3" name="Text 10"/>
          <p:cNvSpPr/>
          <p:nvPr/>
        </p:nvSpPr>
        <p:spPr>
          <a:xfrm>
            <a:off x="5303520" y="2194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58000" y="2194560"/>
            <a:ext cx="1554480" cy="41148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5" name="Text 12"/>
          <p:cNvSpPr/>
          <p:nvPr/>
        </p:nvSpPr>
        <p:spPr>
          <a:xfrm>
            <a:off x="6858000" y="2194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412480" y="2194560"/>
            <a:ext cx="1554480" cy="41148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7" name="Text 14"/>
          <p:cNvSpPr/>
          <p:nvPr/>
        </p:nvSpPr>
        <p:spPr>
          <a:xfrm>
            <a:off x="8412480" y="2194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966960" y="2194560"/>
            <a:ext cx="1554480" cy="41148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9" name="Text 16"/>
          <p:cNvSpPr/>
          <p:nvPr/>
        </p:nvSpPr>
        <p:spPr>
          <a:xfrm>
            <a:off x="9966960" y="2194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0080" y="2606040"/>
            <a:ext cx="1088136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1" name="Text 18"/>
          <p:cNvSpPr/>
          <p:nvPr/>
        </p:nvSpPr>
        <p:spPr>
          <a:xfrm>
            <a:off x="822960" y="2606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Sindre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2194560" y="26060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749040" y="26060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303520" y="26060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858000" y="26060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412480" y="26060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9966960" y="26060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40080" y="3017520"/>
            <a:ext cx="10881360" cy="411480"/>
          </a:xfrm>
          <a:prstGeom prst="rect">
            <a:avLst/>
          </a:prstGeom>
          <a:solidFill>
            <a:srgbClr val="F0EBDD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9" name="Text 26"/>
          <p:cNvSpPr/>
          <p:nvPr/>
        </p:nvSpPr>
        <p:spPr>
          <a:xfrm>
            <a:off x="822960" y="30175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Henrik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2194560" y="30175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749040" y="30175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303520" y="30175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858000" y="30175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412480" y="30175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9966960" y="30175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135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640080" y="3429000"/>
            <a:ext cx="1088136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37" name="Text 34"/>
          <p:cNvSpPr/>
          <p:nvPr/>
        </p:nvSpPr>
        <p:spPr>
          <a:xfrm>
            <a:off x="822960" y="3429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2194560" y="34290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3749040" y="34290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5303520" y="34290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6858000" y="34290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8412480" y="34290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9966960" y="34290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640080" y="3840480"/>
            <a:ext cx="10881360" cy="411480"/>
          </a:xfrm>
          <a:prstGeom prst="rect">
            <a:avLst/>
          </a:prstGeom>
          <a:solidFill>
            <a:srgbClr val="E8E0CB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5" name="Text 42"/>
          <p:cNvSpPr/>
          <p:nvPr/>
        </p:nvSpPr>
        <p:spPr>
          <a:xfrm>
            <a:off x="822960" y="38404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Henrik + Marte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2194560" y="3840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3749040" y="3840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5303520" y="3840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6858000" y="3840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8412480" y="3840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9966960" y="3840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234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640080" y="4251960"/>
            <a:ext cx="1088136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53" name="Text 50"/>
          <p:cNvSpPr/>
          <p:nvPr/>
        </p:nvSpPr>
        <p:spPr>
          <a:xfrm>
            <a:off x="822960" y="4251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</a:t>
            </a:r>
            <a:endParaRPr lang="en-US" sz="1300" dirty="0"/>
          </a:p>
        </p:txBody>
      </p:sp>
      <p:sp>
        <p:nvSpPr>
          <p:cNvPr id="54" name="Text 51"/>
          <p:cNvSpPr/>
          <p:nvPr/>
        </p:nvSpPr>
        <p:spPr>
          <a:xfrm>
            <a:off x="2194560" y="42519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</a:t>
            </a:r>
            <a:endParaRPr lang="en-US" sz="1300" dirty="0"/>
          </a:p>
        </p:txBody>
      </p:sp>
      <p:sp>
        <p:nvSpPr>
          <p:cNvPr id="55" name="Text 52"/>
          <p:cNvSpPr/>
          <p:nvPr/>
        </p:nvSpPr>
        <p:spPr>
          <a:xfrm>
            <a:off x="3749040" y="42519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</a:t>
            </a:r>
            <a:endParaRPr lang="en-US" sz="1300" dirty="0"/>
          </a:p>
        </p:txBody>
      </p:sp>
      <p:sp>
        <p:nvSpPr>
          <p:cNvPr id="56" name="Text 53"/>
          <p:cNvSpPr/>
          <p:nvPr/>
        </p:nvSpPr>
        <p:spPr>
          <a:xfrm>
            <a:off x="5303520" y="42519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300" dirty="0"/>
          </a:p>
        </p:txBody>
      </p:sp>
      <p:sp>
        <p:nvSpPr>
          <p:cNvPr id="57" name="Text 54"/>
          <p:cNvSpPr/>
          <p:nvPr/>
        </p:nvSpPr>
        <p:spPr>
          <a:xfrm>
            <a:off x="6858000" y="42519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300" dirty="0"/>
          </a:p>
        </p:txBody>
      </p:sp>
      <p:sp>
        <p:nvSpPr>
          <p:cNvPr id="58" name="Text 55"/>
          <p:cNvSpPr/>
          <p:nvPr/>
        </p:nvSpPr>
        <p:spPr>
          <a:xfrm>
            <a:off x="8412480" y="42519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300" dirty="0"/>
          </a:p>
        </p:txBody>
      </p:sp>
      <p:sp>
        <p:nvSpPr>
          <p:cNvPr id="59" name="Text 56"/>
          <p:cNvSpPr/>
          <p:nvPr/>
        </p:nvSpPr>
        <p:spPr>
          <a:xfrm>
            <a:off x="9966960" y="42519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456</a:t>
            </a:r>
            <a:endParaRPr lang="en-US" sz="1300" dirty="0"/>
          </a:p>
        </p:txBody>
      </p:sp>
      <p:sp>
        <p:nvSpPr>
          <p:cNvPr id="60" name="Shape 57"/>
          <p:cNvSpPr/>
          <p:nvPr/>
        </p:nvSpPr>
        <p:spPr>
          <a:xfrm>
            <a:off x="640080" y="5029200"/>
            <a:ext cx="53949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5B8A6F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61" name="Text 58"/>
          <p:cNvSpPr/>
          <p:nvPr/>
        </p:nvSpPr>
        <p:spPr>
          <a:xfrm>
            <a:off x="822960" y="5120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5B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HENRIK + MARTE</a:t>
            </a:r>
            <a:endParaRPr lang="en-US" sz="1100" dirty="0"/>
          </a:p>
        </p:txBody>
      </p:sp>
      <p:sp>
        <p:nvSpPr>
          <p:cNvPr id="62" name="Text 59"/>
          <p:cNvSpPr/>
          <p:nvPr/>
        </p:nvSpPr>
        <p:spPr>
          <a:xfrm>
            <a:off x="822960" y="53949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Teamet leverte 100 calls i mai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822960" y="58064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Henrik 1 + Marte 99. Marte tok over outbound for teamet i mai.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6217920" y="5029200"/>
            <a:ext cx="53035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5B8A6F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65" name="Text 62"/>
          <p:cNvSpPr/>
          <p:nvPr/>
        </p:nvSpPr>
        <p:spPr>
          <a:xfrm>
            <a:off x="6400800" y="5120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5B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</a:t>
            </a:r>
            <a:endParaRPr lang="en-US" sz="1100" dirty="0"/>
          </a:p>
        </p:txBody>
      </p:sp>
      <p:sp>
        <p:nvSpPr>
          <p:cNvPr id="66" name="Text 63"/>
          <p:cNvSpPr/>
          <p:nvPr/>
        </p:nvSpPr>
        <p:spPr>
          <a:xfrm>
            <a:off x="6400800" y="53949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Holder takt — 456 calls YTD</a:t>
            </a:r>
            <a:endParaRPr lang="en-US" sz="1600" dirty="0"/>
          </a:p>
        </p:txBody>
      </p:sp>
      <p:sp>
        <p:nvSpPr>
          <p:cNvPr id="67" name="Text 64"/>
          <p:cNvSpPr/>
          <p:nvPr/>
        </p:nvSpPr>
        <p:spPr>
          <a:xfrm>
            <a:off x="6400800" y="58064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73 (vs apr 56). Korrelerer med 3 salg i mai etter null i jan–feb.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69" name="Text 66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  |  Mandagsmøte uke 23  |  1. juni 2026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SEKSJON 04 · AKTIVITET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B — aktive annonser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 som er ute på markedet akkurat nå (HubSpot Listing/Sale-pipeline)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19456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8" name="Shape 5"/>
          <p:cNvSpPr/>
          <p:nvPr/>
        </p:nvSpPr>
        <p:spPr>
          <a:xfrm>
            <a:off x="640080" y="2194560"/>
            <a:ext cx="3657600" cy="50292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9" name="Text 6"/>
          <p:cNvSpPr/>
          <p:nvPr/>
        </p:nvSpPr>
        <p:spPr>
          <a:xfrm>
            <a:off x="640080" y="2240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Sindre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4008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 PIPELINE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31089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6000" dirty="0"/>
          </a:p>
        </p:txBody>
      </p:sp>
      <p:sp>
        <p:nvSpPr>
          <p:cNvPr id="12" name="Shape 9"/>
          <p:cNvSpPr/>
          <p:nvPr/>
        </p:nvSpPr>
        <p:spPr>
          <a:xfrm>
            <a:off x="1097280" y="4114800"/>
            <a:ext cx="2743200" cy="0"/>
          </a:xfrm>
          <a:prstGeom prst="line">
            <a:avLst/>
          </a:prstGeom>
          <a:noFill/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3" name="Text 10"/>
          <p:cNvSpPr/>
          <p:nvPr/>
        </p:nvSpPr>
        <p:spPr>
          <a:xfrm>
            <a:off x="640080" y="4206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</a:t>
            </a: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+ </a:t>
            </a: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</a:t>
            </a: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budprosess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40080" y="4937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Lukket i 2026: 11  ·  konv. 33%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480560" y="219456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6" name="Shape 13"/>
          <p:cNvSpPr/>
          <p:nvPr/>
        </p:nvSpPr>
        <p:spPr>
          <a:xfrm>
            <a:off x="4480560" y="2194560"/>
            <a:ext cx="3657600" cy="50292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7" name="Text 14"/>
          <p:cNvSpPr/>
          <p:nvPr/>
        </p:nvSpPr>
        <p:spPr>
          <a:xfrm>
            <a:off x="4480560" y="2240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Henrik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48056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 PIPELINE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480560" y="31089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6000" dirty="0"/>
          </a:p>
        </p:txBody>
      </p:sp>
      <p:sp>
        <p:nvSpPr>
          <p:cNvPr id="20" name="Shape 17"/>
          <p:cNvSpPr/>
          <p:nvPr/>
        </p:nvSpPr>
        <p:spPr>
          <a:xfrm>
            <a:off x="4937760" y="4114800"/>
            <a:ext cx="2743200" cy="0"/>
          </a:xfrm>
          <a:prstGeom prst="line">
            <a:avLst/>
          </a:prstGeom>
          <a:noFill/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1" name="Text 18"/>
          <p:cNvSpPr/>
          <p:nvPr/>
        </p:nvSpPr>
        <p:spPr>
          <a:xfrm>
            <a:off x="4480560" y="4206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</a:t>
            </a: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+ </a:t>
            </a: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</a:t>
            </a: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budprosess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480560" y="4937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Lukket i 2026: 12  ·  konv. 32%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321040" y="219456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4" name="Shape 21"/>
          <p:cNvSpPr/>
          <p:nvPr/>
        </p:nvSpPr>
        <p:spPr>
          <a:xfrm>
            <a:off x="8321040" y="2194560"/>
            <a:ext cx="3657600" cy="50292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5" name="Text 22"/>
          <p:cNvSpPr/>
          <p:nvPr/>
        </p:nvSpPr>
        <p:spPr>
          <a:xfrm>
            <a:off x="8321040" y="2240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Daniel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832104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 PIPELINE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321040" y="31089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6000" dirty="0"/>
          </a:p>
        </p:txBody>
      </p:sp>
      <p:sp>
        <p:nvSpPr>
          <p:cNvPr id="28" name="Shape 25"/>
          <p:cNvSpPr/>
          <p:nvPr/>
        </p:nvSpPr>
        <p:spPr>
          <a:xfrm>
            <a:off x="8778240" y="4114800"/>
            <a:ext cx="2743200" cy="0"/>
          </a:xfrm>
          <a:prstGeom prst="line">
            <a:avLst/>
          </a:prstGeom>
          <a:noFill/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9" name="Text 26"/>
          <p:cNvSpPr/>
          <p:nvPr/>
        </p:nvSpPr>
        <p:spPr>
          <a:xfrm>
            <a:off x="8321040" y="4206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</a:t>
            </a: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+ </a:t>
            </a: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</a:t>
            </a: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budprosess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8321040" y="4937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Lukket i 2026: 7  ·  konv. 32%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32" name="Text 29"/>
          <p:cNvSpPr/>
          <p:nvPr/>
        </p:nvSpPr>
        <p:spPr>
          <a:xfrm>
            <a:off x="822960" y="57881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budprosess" = stages Under Offer, Negotiation eller In Contract. Henrik har størst aktiv pipe (26), Daniel minst (15).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34" name="Text 31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  |  Mandagsmøte uke 23  |  1. juni 2026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SEKSJON 05 · MOT BUDSJETT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 mot budsjett 2026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 fra salgsbudsjett HoY 2026 — 5 av 12 måneder bak oss (42 % av året)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solidFill>
            <a:srgbClr val="0E2A4A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HoY totalt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560320" y="22860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1991 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560320" y="26060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honorar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40480" y="2286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9.15 M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840480" y="2606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Årsmål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303520" y="22860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/ 164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303520" y="26060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Salg ytd / mål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766560" y="2487168"/>
            <a:ext cx="4023360" cy="320040"/>
          </a:xfrm>
          <a:prstGeom prst="rect">
            <a:avLst/>
          </a:prstGeom>
          <a:solidFill>
            <a:srgbClr val="2A4670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6" name="Shape 13"/>
          <p:cNvSpPr/>
          <p:nvPr/>
        </p:nvSpPr>
        <p:spPr>
          <a:xfrm>
            <a:off x="6766560" y="2487168"/>
            <a:ext cx="875606" cy="32004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7" name="Shape 14"/>
          <p:cNvSpPr/>
          <p:nvPr/>
        </p:nvSpPr>
        <p:spPr>
          <a:xfrm>
            <a:off x="8456371" y="2395728"/>
            <a:ext cx="0" cy="50292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8" name="Text 15"/>
          <p:cNvSpPr/>
          <p:nvPr/>
        </p:nvSpPr>
        <p:spPr>
          <a:xfrm>
            <a:off x="7816291" y="290779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42 % pace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835640" y="24414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22 %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40080" y="3182112"/>
            <a:ext cx="10972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1" name="Text 18"/>
          <p:cNvSpPr/>
          <p:nvPr/>
        </p:nvSpPr>
        <p:spPr>
          <a:xfrm>
            <a:off x="822960" y="32735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Sindre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560320" y="32735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1005 k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2560320" y="35935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honorar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840480" y="32735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1.80 M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840480" y="35935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Årsmål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303520" y="32735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/ 24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303520" y="35935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Salg ytd / mål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766560" y="3474720"/>
            <a:ext cx="4023360" cy="320040"/>
          </a:xfrm>
          <a:prstGeom prst="rect">
            <a:avLst/>
          </a:prstGeom>
          <a:solidFill>
            <a:srgbClr val="EBE5D2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9" name="Shape 26"/>
          <p:cNvSpPr/>
          <p:nvPr/>
        </p:nvSpPr>
        <p:spPr>
          <a:xfrm>
            <a:off x="6766560" y="3474720"/>
            <a:ext cx="2247091" cy="32004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30" name="Shape 27"/>
          <p:cNvSpPr/>
          <p:nvPr/>
        </p:nvSpPr>
        <p:spPr>
          <a:xfrm>
            <a:off x="8456371" y="3383280"/>
            <a:ext cx="0" cy="50292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1" name="Text 28"/>
          <p:cNvSpPr/>
          <p:nvPr/>
        </p:nvSpPr>
        <p:spPr>
          <a:xfrm>
            <a:off x="7816291" y="389534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42 % pace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0835640" y="3429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56 %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40080" y="4169664"/>
            <a:ext cx="10972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4" name="Text 31"/>
          <p:cNvSpPr/>
          <p:nvPr/>
        </p:nvSpPr>
        <p:spPr>
          <a:xfrm>
            <a:off x="822960" y="426110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Henrik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2560320" y="426110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644 k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2560320" y="4581144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honorar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3840480" y="426110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3.85 M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3840480" y="458114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Årsmål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5303520" y="426110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/ 70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5303520" y="4581144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Salg ytd / mål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6766560" y="4462272"/>
            <a:ext cx="4023360" cy="320040"/>
          </a:xfrm>
          <a:prstGeom prst="rect">
            <a:avLst/>
          </a:prstGeom>
          <a:solidFill>
            <a:srgbClr val="EBE5D2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2" name="Shape 39"/>
          <p:cNvSpPr/>
          <p:nvPr/>
        </p:nvSpPr>
        <p:spPr>
          <a:xfrm>
            <a:off x="6766560" y="4462272"/>
            <a:ext cx="672580" cy="32004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3" name="Shape 40"/>
          <p:cNvSpPr/>
          <p:nvPr/>
        </p:nvSpPr>
        <p:spPr>
          <a:xfrm>
            <a:off x="8456371" y="4370832"/>
            <a:ext cx="0" cy="50292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44" name="Text 41"/>
          <p:cNvSpPr/>
          <p:nvPr/>
        </p:nvSpPr>
        <p:spPr>
          <a:xfrm>
            <a:off x="7816291" y="4882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42 % pace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10835640" y="441655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17 %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640080" y="5157216"/>
            <a:ext cx="10972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47" name="Text 44"/>
          <p:cNvSpPr/>
          <p:nvPr/>
        </p:nvSpPr>
        <p:spPr>
          <a:xfrm>
            <a:off x="822960" y="52486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Daniel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2560320" y="524865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342 k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2560320" y="5568696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honorar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3840480" y="524865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3.50 M</a:t>
            </a:r>
            <a:endParaRPr lang="en-US" sz="1400" dirty="0"/>
          </a:p>
        </p:txBody>
      </p:sp>
      <p:sp>
        <p:nvSpPr>
          <p:cNvPr id="51" name="Text 48"/>
          <p:cNvSpPr/>
          <p:nvPr/>
        </p:nvSpPr>
        <p:spPr>
          <a:xfrm>
            <a:off x="3840480" y="556869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Årsmål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5303520" y="524865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/ 70</a:t>
            </a:r>
            <a:endParaRPr lang="en-US" sz="1400" dirty="0"/>
          </a:p>
        </p:txBody>
      </p:sp>
      <p:sp>
        <p:nvSpPr>
          <p:cNvPr id="53" name="Text 50"/>
          <p:cNvSpPr/>
          <p:nvPr/>
        </p:nvSpPr>
        <p:spPr>
          <a:xfrm>
            <a:off x="5303520" y="5568696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Salg ytd / mål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6766560" y="5449824"/>
            <a:ext cx="4023360" cy="320040"/>
          </a:xfrm>
          <a:prstGeom prst="rect">
            <a:avLst/>
          </a:prstGeom>
          <a:solidFill>
            <a:srgbClr val="EBE5D2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55" name="Shape 52"/>
          <p:cNvSpPr/>
          <p:nvPr/>
        </p:nvSpPr>
        <p:spPr>
          <a:xfrm>
            <a:off x="6766560" y="5449824"/>
            <a:ext cx="393600" cy="32004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56" name="Shape 53"/>
          <p:cNvSpPr/>
          <p:nvPr/>
        </p:nvSpPr>
        <p:spPr>
          <a:xfrm>
            <a:off x="8456371" y="5358384"/>
            <a:ext cx="0" cy="50292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57" name="Text 54"/>
          <p:cNvSpPr/>
          <p:nvPr/>
        </p:nvSpPr>
        <p:spPr>
          <a:xfrm>
            <a:off x="7816291" y="587044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42 % pace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10835640" y="540410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10 %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640080" y="6080760"/>
            <a:ext cx="10972800" cy="411480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60" name="Text 57"/>
          <p:cNvSpPr/>
          <p:nvPr/>
        </p:nvSpPr>
        <p:spPr>
          <a:xfrm>
            <a:off x="822960" y="609904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Sindre 56 % oppfylt allerede.  Henrik på 17 % vs 42 %-pace.  Daniel 10 % — krever sterkt andre halvår.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62" name="Text 59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  |  Mandagsmøte uke 23  |  1. juni 2026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SEKSJON 05 · MOT BUDSJETT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Oppdrag inn vs budsjett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Kilde: oppdragsmodulen — antall tildelte 2026-oppdragsnummer per megler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194560"/>
            <a:ext cx="10972800" cy="868680"/>
          </a:xfrm>
          <a:prstGeom prst="rect">
            <a:avLst/>
          </a:prstGeom>
          <a:solidFill>
            <a:srgbClr val="1B3A66"/>
          </a:solidFill>
          <a:ln w="254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HoY totalt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108960" y="22860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108960" y="2697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206240" y="235915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197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206240" y="26974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Årsmål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0" y="2487168"/>
            <a:ext cx="4754880" cy="320040"/>
          </a:xfrm>
          <a:prstGeom prst="rect">
            <a:avLst/>
          </a:prstGeom>
          <a:solidFill>
            <a:srgbClr val="2A4670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4" name="Shape 11"/>
          <p:cNvSpPr/>
          <p:nvPr/>
        </p:nvSpPr>
        <p:spPr>
          <a:xfrm>
            <a:off x="5486400" y="2487168"/>
            <a:ext cx="1110277" cy="32004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5" name="Shape 12"/>
          <p:cNvSpPr/>
          <p:nvPr/>
        </p:nvSpPr>
        <p:spPr>
          <a:xfrm>
            <a:off x="7483450" y="2395728"/>
            <a:ext cx="0" cy="50292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6" name="Text 13"/>
          <p:cNvSpPr/>
          <p:nvPr/>
        </p:nvSpPr>
        <p:spPr>
          <a:xfrm>
            <a:off x="10332720" y="244144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23 %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0080" y="3136392"/>
            <a:ext cx="10972800" cy="868680"/>
          </a:xfrm>
          <a:prstGeom prst="rect">
            <a:avLst/>
          </a:prstGeom>
          <a:solidFill>
            <a:srgbClr val="1B3A66"/>
          </a:solidFill>
          <a:ln w="12700">
            <a:solidFill>
              <a:srgbClr val="2A467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8" name="Text 15"/>
          <p:cNvSpPr/>
          <p:nvPr/>
        </p:nvSpPr>
        <p:spPr>
          <a:xfrm>
            <a:off x="822960" y="32278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Sindre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108960" y="322783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3108960" y="363931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206240" y="330098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35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4206240" y="363931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Årsmål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486400" y="3429000"/>
            <a:ext cx="4754880" cy="320040"/>
          </a:xfrm>
          <a:prstGeom prst="rect">
            <a:avLst/>
          </a:prstGeom>
          <a:solidFill>
            <a:srgbClr val="2A4670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4" name="Shape 21"/>
          <p:cNvSpPr/>
          <p:nvPr/>
        </p:nvSpPr>
        <p:spPr>
          <a:xfrm>
            <a:off x="5486400" y="3429000"/>
            <a:ext cx="2173659" cy="32004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5" name="Shape 22"/>
          <p:cNvSpPr/>
          <p:nvPr/>
        </p:nvSpPr>
        <p:spPr>
          <a:xfrm>
            <a:off x="7483450" y="3337560"/>
            <a:ext cx="0" cy="50292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6" name="Text 23"/>
          <p:cNvSpPr/>
          <p:nvPr/>
        </p:nvSpPr>
        <p:spPr>
          <a:xfrm>
            <a:off x="10332720" y="33832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46 %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40080" y="4078224"/>
            <a:ext cx="10972800" cy="868680"/>
          </a:xfrm>
          <a:prstGeom prst="rect">
            <a:avLst/>
          </a:prstGeom>
          <a:solidFill>
            <a:srgbClr val="1B3A66"/>
          </a:solidFill>
          <a:ln w="12700">
            <a:solidFill>
              <a:srgbClr val="2A467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8" name="Text 25"/>
          <p:cNvSpPr/>
          <p:nvPr/>
        </p:nvSpPr>
        <p:spPr>
          <a:xfrm>
            <a:off x="822960" y="416966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Henrik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3108960" y="4169664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3000" dirty="0"/>
          </a:p>
        </p:txBody>
      </p:sp>
      <p:sp>
        <p:nvSpPr>
          <p:cNvPr id="30" name="Text 27"/>
          <p:cNvSpPr/>
          <p:nvPr/>
        </p:nvSpPr>
        <p:spPr>
          <a:xfrm>
            <a:off x="3108960" y="458114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206240" y="424281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88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4206240" y="458114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Årsmål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486400" y="4370832"/>
            <a:ext cx="4754880" cy="320040"/>
          </a:xfrm>
          <a:prstGeom prst="rect">
            <a:avLst/>
          </a:prstGeom>
          <a:solidFill>
            <a:srgbClr val="2A4670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34" name="Shape 31"/>
          <p:cNvSpPr/>
          <p:nvPr/>
        </p:nvSpPr>
        <p:spPr>
          <a:xfrm>
            <a:off x="5486400" y="4370832"/>
            <a:ext cx="1026622" cy="32004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35" name="Shape 32"/>
          <p:cNvSpPr/>
          <p:nvPr/>
        </p:nvSpPr>
        <p:spPr>
          <a:xfrm>
            <a:off x="7483450" y="4279392"/>
            <a:ext cx="0" cy="50292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6" name="Text 33"/>
          <p:cNvSpPr/>
          <p:nvPr/>
        </p:nvSpPr>
        <p:spPr>
          <a:xfrm>
            <a:off x="10332720" y="432511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22 %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40080" y="5020056"/>
            <a:ext cx="10972800" cy="868680"/>
          </a:xfrm>
          <a:prstGeom prst="rect">
            <a:avLst/>
          </a:prstGeom>
          <a:solidFill>
            <a:srgbClr val="1B3A66"/>
          </a:solidFill>
          <a:ln w="12700">
            <a:solidFill>
              <a:srgbClr val="2A467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8" name="Text 35"/>
          <p:cNvSpPr/>
          <p:nvPr/>
        </p:nvSpPr>
        <p:spPr>
          <a:xfrm>
            <a:off x="822960" y="511149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Daniel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3108960" y="5111496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000" dirty="0"/>
          </a:p>
        </p:txBody>
      </p:sp>
      <p:sp>
        <p:nvSpPr>
          <p:cNvPr id="40" name="Text 37"/>
          <p:cNvSpPr/>
          <p:nvPr/>
        </p:nvSpPr>
        <p:spPr>
          <a:xfrm>
            <a:off x="3108960" y="552297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4206240" y="51846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74</a:t>
            </a:r>
            <a:endParaRPr lang="en-US" sz="2000" dirty="0"/>
          </a:p>
        </p:txBody>
      </p:sp>
      <p:sp>
        <p:nvSpPr>
          <p:cNvPr id="42" name="Text 39"/>
          <p:cNvSpPr/>
          <p:nvPr/>
        </p:nvSpPr>
        <p:spPr>
          <a:xfrm>
            <a:off x="4206240" y="552297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Årsmål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5486400" y="5312664"/>
            <a:ext cx="4754880" cy="320040"/>
          </a:xfrm>
          <a:prstGeom prst="rect">
            <a:avLst/>
          </a:prstGeom>
          <a:solidFill>
            <a:srgbClr val="2A4670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4" name="Shape 41"/>
          <p:cNvSpPr/>
          <p:nvPr/>
        </p:nvSpPr>
        <p:spPr>
          <a:xfrm>
            <a:off x="5486400" y="5312664"/>
            <a:ext cx="706806" cy="32004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5" name="Shape 42"/>
          <p:cNvSpPr/>
          <p:nvPr/>
        </p:nvSpPr>
        <p:spPr>
          <a:xfrm>
            <a:off x="7483450" y="5221224"/>
            <a:ext cx="0" cy="50292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46" name="Text 43"/>
          <p:cNvSpPr/>
          <p:nvPr/>
        </p:nvSpPr>
        <p:spPr>
          <a:xfrm>
            <a:off x="10332720" y="526694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15 %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48" name="Text 45"/>
          <p:cNvSpPr/>
          <p:nvPr/>
        </p:nvSpPr>
        <p:spPr>
          <a:xfrm>
            <a:off x="822960" y="59893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oppdrag inn av 197 mål (23 %) — Sindre er over takten (46 %), Henrik og Daniel under (22 % og 15 %).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50" name="Text 47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  |  Mandagsmøte uke 23  |  1. juni 2026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SEKSJON 06 · UKE 23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Mål og status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UKEMÅL PER MEGLER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1645920" cy="4572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8" name="Text 5"/>
          <p:cNvSpPr/>
          <p:nvPr/>
        </p:nvSpPr>
        <p:spPr>
          <a:xfrm>
            <a:off x="640080" y="2148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Megler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286000" y="2148840"/>
            <a:ext cx="2194560" cy="4572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0" name="Text 7"/>
          <p:cNvSpPr/>
          <p:nvPr/>
        </p:nvSpPr>
        <p:spPr>
          <a:xfrm>
            <a:off x="2286000" y="2148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80560" y="2148840"/>
            <a:ext cx="2194560" cy="4572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2" name="Text 9"/>
          <p:cNvSpPr/>
          <p:nvPr/>
        </p:nvSpPr>
        <p:spPr>
          <a:xfrm>
            <a:off x="4480560" y="2148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Befaringer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675120" y="2148840"/>
            <a:ext cx="2286000" cy="4572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4" name="Text 11"/>
          <p:cNvSpPr/>
          <p:nvPr/>
        </p:nvSpPr>
        <p:spPr>
          <a:xfrm>
            <a:off x="667512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Nye oppdrag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961120" y="2148840"/>
            <a:ext cx="1371600" cy="4572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6" name="Text 13"/>
          <p:cNvSpPr/>
          <p:nvPr/>
        </p:nvSpPr>
        <p:spPr>
          <a:xfrm>
            <a:off x="896112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Salg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" y="2606040"/>
            <a:ext cx="103327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8" name="Text 15"/>
          <p:cNvSpPr/>
          <p:nvPr/>
        </p:nvSpPr>
        <p:spPr>
          <a:xfrm>
            <a:off x="64008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Sindre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286000" y="2606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480560" y="2606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675120" y="2606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961120" y="2606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40080" y="3063240"/>
            <a:ext cx="10332720" cy="457200"/>
          </a:xfrm>
          <a:prstGeom prst="rect">
            <a:avLst/>
          </a:prstGeom>
          <a:solidFill>
            <a:srgbClr val="F0EBDD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4" name="Text 21"/>
          <p:cNvSpPr/>
          <p:nvPr/>
        </p:nvSpPr>
        <p:spPr>
          <a:xfrm>
            <a:off x="640080" y="3063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Henrik + Marte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2286000" y="3063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480560" y="3063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675120" y="3063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961120" y="3063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40080" y="3520440"/>
            <a:ext cx="103327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30" name="Text 27"/>
          <p:cNvSpPr/>
          <p:nvPr/>
        </p:nvSpPr>
        <p:spPr>
          <a:xfrm>
            <a:off x="640080" y="3520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2286000" y="3520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480560" y="3520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675120" y="3520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961120" y="3520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40080" y="4114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Fylles inn i møtet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40080" y="4572000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7" name="Text 34"/>
          <p:cNvSpPr/>
          <p:nvPr/>
        </p:nvSpPr>
        <p:spPr>
          <a:xfrm>
            <a:off x="822960" y="4663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— NETTSIDE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822960" y="4983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houseofyachts.no flytter til HubSpot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822960" y="544068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Wix-migrasjon: 234 båter overført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/om-oss-v2 live (7 seksjoner)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/sold med stats-counter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DNS-cutover venter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Marte mangler bilde + bio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217920" y="4572000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41" name="Text 38"/>
          <p:cNvSpPr/>
          <p:nvPr/>
        </p:nvSpPr>
        <p:spPr>
          <a:xfrm>
            <a:off x="6400800" y="4663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— INTERNPORTAL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6400800" y="4983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 oppdateringer fra plattformen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6400800" y="544068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 err="1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Annonsegenerator</a:t>
            </a:r>
            <a:r>
              <a:rPr lang="en-US" sz="11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v2. (</a:t>
            </a:r>
            <a:r>
              <a:rPr lang="en-US" sz="1100" dirty="0" err="1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skriver</a:t>
            </a:r>
            <a:r>
              <a:rPr lang="en-US" sz="11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direkte</a:t>
            </a:r>
            <a:r>
              <a:rPr lang="en-US" sz="11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</a:t>
            </a:r>
            <a:r>
              <a:rPr lang="en-US" sz="11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prospect, </a:t>
            </a:r>
            <a:r>
              <a:rPr lang="en-US" sz="1100" dirty="0" err="1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maskinglæringsmodul</a:t>
            </a:r>
            <a:r>
              <a:rPr lang="en-US" sz="11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osv</a:t>
            </a:r>
            <a:r>
              <a:rPr lang="en-US" sz="11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Avspasering-modul i prod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Oppdragsnummer + PowerOffice-sync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Servicehistorikk-modul klar for deploy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BackOffice v1 UI under bygging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5" name="Text 42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  |  Mandagsmøte uke 23  |  1. juni 2026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Til diskusjon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Saker fra teamet — fylles ut i møtet.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468880"/>
            <a:ext cx="10972800" cy="777240"/>
          </a:xfrm>
          <a:prstGeom prst="rect">
            <a:avLst/>
          </a:prstGeom>
          <a:ln w="12700">
            <a:solidFill>
              <a:srgbClr val="2A4670"/>
            </a:solidFill>
            <a:prstDash val="dash"/>
          </a:ln>
        </p:spPr>
        <p:txBody>
          <a:bodyPr/>
          <a:lstStyle/>
          <a:p>
            <a:endParaRPr lang="en-NO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2A46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72800" cy="777240"/>
          </a:xfrm>
          <a:prstGeom prst="rect">
            <a:avLst/>
          </a:prstGeom>
          <a:ln w="12700">
            <a:solidFill>
              <a:srgbClr val="2A4670"/>
            </a:solidFill>
            <a:prstDash val="dash"/>
          </a:ln>
        </p:spPr>
        <p:txBody>
          <a:bodyPr/>
          <a:lstStyle/>
          <a:p>
            <a:endParaRPr lang="en-NO"/>
          </a:p>
        </p:txBody>
      </p:sp>
      <p:sp>
        <p:nvSpPr>
          <p:cNvPr id="10" name="Text 7"/>
          <p:cNvSpPr/>
          <p:nvPr/>
        </p:nvSpPr>
        <p:spPr>
          <a:xfrm>
            <a:off x="822960" y="35204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2A46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640080" y="4297680"/>
            <a:ext cx="10972800" cy="777240"/>
          </a:xfrm>
          <a:prstGeom prst="rect">
            <a:avLst/>
          </a:prstGeom>
          <a:ln w="12700">
            <a:solidFill>
              <a:srgbClr val="2A4670"/>
            </a:solidFill>
            <a:prstDash val="dash"/>
          </a:ln>
        </p:spPr>
        <p:txBody>
          <a:bodyPr/>
          <a:lstStyle/>
          <a:p>
            <a:endParaRPr lang="en-NO"/>
          </a:p>
        </p:txBody>
      </p:sp>
      <p:sp>
        <p:nvSpPr>
          <p:cNvPr id="12" name="Text 9"/>
          <p:cNvSpPr/>
          <p:nvPr/>
        </p:nvSpPr>
        <p:spPr>
          <a:xfrm>
            <a:off x="822960" y="44348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2A46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640080" y="5212080"/>
            <a:ext cx="10972800" cy="777240"/>
          </a:xfrm>
          <a:prstGeom prst="rect">
            <a:avLst/>
          </a:prstGeom>
          <a:ln w="12700">
            <a:solidFill>
              <a:srgbClr val="2A4670"/>
            </a:solidFill>
            <a:prstDash val="dash"/>
          </a:ln>
        </p:spPr>
        <p:txBody>
          <a:bodyPr/>
          <a:lstStyle/>
          <a:p>
            <a:endParaRPr lang="en-NO"/>
          </a:p>
        </p:txBody>
      </p:sp>
      <p:sp>
        <p:nvSpPr>
          <p:cNvPr id="14" name="Text 11"/>
          <p:cNvSpPr/>
          <p:nvPr/>
        </p:nvSpPr>
        <p:spPr>
          <a:xfrm>
            <a:off x="822960" y="53492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2A46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6" name="Text 13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  |  Mandagsmøte uke 23  |  1. juni 2026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2205</Words>
  <Application>Microsoft Macintosh PowerPoint</Application>
  <PresentationFormat>Widescreen</PresentationFormat>
  <Paragraphs>354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Mandagsmøte uke 23 — HoY</dc:title>
  <dc:subject>PptxGenJS Presentation</dc:subject>
  <dc:creator>House of Yachts</dc:creator>
  <cp:lastModifiedBy>Sindre Jacobsen</cp:lastModifiedBy>
  <cp:revision>2</cp:revision>
  <dcterms:created xsi:type="dcterms:W3CDTF">2026-06-01T07:11:51Z</dcterms:created>
  <dcterms:modified xsi:type="dcterms:W3CDTF">2026-06-01T07:15:55Z</dcterms:modified>
</cp:coreProperties>
</file>